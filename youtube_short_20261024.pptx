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5486400" cy="975664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1.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1.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png"/><Relationship Id="rId4" Type="http://schemas.openxmlformats.org/officeDocument/2006/relationships/image" Target="../media/image1.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png"/><Relationship Id="rId4" Type="http://schemas.openxmlformats.org/officeDocument/2006/relationships/image" Target="../media/image1.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image" Target="../media/image11.png"/><Relationship Id="rId4" Type="http://schemas.openxmlformats.org/officeDocument/2006/relationships/image" Target="../media/image1.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00" cy="9756648"/>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5486400" cy="1828800"/>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371600"/>
            <a:ext cx="5486400" cy="1371600"/>
          </a:xfrm>
          <a:prstGeom prst="rect">
            <a:avLst/>
          </a:prstGeom>
          <a:noFill/>
        </p:spPr>
        <p:txBody>
          <a:bodyPr wrap="square">
            <a:spAutoFit/>
          </a:bodyPr>
          <a:lstStyle/>
          <a:p>
            <a:pPr algn="ctr"/>
            <a:r>
              <a:rPr sz="7200" b="1">
                <a:solidFill>
                  <a:srgbClr val="FFFFFF"/>
                </a:solidFill>
                <a:latin typeface="Arial"/>
              </a:rPr>
              <a:t>▶</a:t>
            </a:r>
          </a:p>
        </p:txBody>
      </p:sp>
      <p:sp>
        <p:nvSpPr>
          <p:cNvPr id="5" name="TextBox 4"/>
          <p:cNvSpPr txBox="1"/>
          <p:nvPr/>
        </p:nvSpPr>
        <p:spPr>
          <a:xfrm>
            <a:off x="182880" y="3291840"/>
            <a:ext cx="5120640" cy="1463040"/>
          </a:xfrm>
          <a:prstGeom prst="rect">
            <a:avLst/>
          </a:prstGeom>
          <a:noFill/>
        </p:spPr>
        <p:txBody>
          <a:bodyPr wrap="square">
            <a:spAutoFit/>
          </a:bodyPr>
          <a:lstStyle/>
          <a:p>
            <a:pPr algn="ctr"/>
            <a:r>
              <a:rPr sz="3200" b="1">
                <a:solidFill>
                  <a:srgbClr val="FFFFFF"/>
                </a:solidFill>
                <a:latin typeface="Arial"/>
              </a:rPr>
              <a:t>YouTube
急上昇ランキング</a:t>
            </a:r>
          </a:p>
        </p:txBody>
      </p:sp>
      <p:sp>
        <p:nvSpPr>
          <p:cNvPr id="6" name="TextBox 5"/>
          <p:cNvSpPr txBox="1"/>
          <p:nvPr/>
        </p:nvSpPr>
        <p:spPr>
          <a:xfrm>
            <a:off x="182880" y="4846320"/>
            <a:ext cx="5120640" cy="731520"/>
          </a:xfrm>
          <a:prstGeom prst="rect">
            <a:avLst/>
          </a:prstGeom>
          <a:noFill/>
        </p:spPr>
        <p:txBody>
          <a:bodyPr wrap="square">
            <a:spAutoFit/>
          </a:bodyPr>
          <a:lstStyle/>
          <a:p>
            <a:pPr algn="ctr"/>
            <a:r>
              <a:rPr sz="4800" b="1">
                <a:solidFill>
                  <a:srgbClr val="FFD700"/>
                </a:solidFill>
                <a:latin typeface="Arial"/>
              </a:rPr>
              <a:t>TOP 5</a:t>
            </a:r>
          </a:p>
        </p:txBody>
      </p:sp>
      <p:sp>
        <p:nvSpPr>
          <p:cNvPr id="7" name="TextBox 6"/>
          <p:cNvSpPr txBox="1"/>
          <p:nvPr/>
        </p:nvSpPr>
        <p:spPr>
          <a:xfrm>
            <a:off x="182880" y="5669280"/>
            <a:ext cx="5120640" cy="457200"/>
          </a:xfrm>
          <a:prstGeom prst="rect">
            <a:avLst/>
          </a:prstGeom>
          <a:noFill/>
        </p:spPr>
        <p:txBody>
          <a:bodyPr wrap="square">
            <a:spAutoFit/>
          </a:bodyPr>
          <a:lstStyle/>
          <a:p>
            <a:pPr algn="ctr"/>
            <a:r>
              <a:rPr sz="1800" b="0">
                <a:solidFill>
                  <a:srgbClr val="AAAAAA"/>
                </a:solidFill>
                <a:latin typeface="Arial"/>
              </a:rPr>
              <a:t>2026年10月24日</a:t>
            </a:r>
          </a:p>
        </p:txBody>
      </p:sp>
      <p:sp>
        <p:nvSpPr>
          <p:cNvPr id="8" name="TextBox 7"/>
          <p:cNvSpPr txBox="1"/>
          <p:nvPr/>
        </p:nvSpPr>
        <p:spPr>
          <a:xfrm>
            <a:off x="182880" y="6858000"/>
            <a:ext cx="5120640" cy="914400"/>
          </a:xfrm>
          <a:prstGeom prst="rect">
            <a:avLst/>
          </a:prstGeom>
          <a:noFill/>
        </p:spPr>
        <p:txBody>
          <a:bodyPr wrap="square">
            <a:spAutoFit/>
          </a:bodyPr>
          <a:lstStyle/>
          <a:p>
            <a:pPr algn="ctr"/>
            <a:r>
              <a:rPr sz="1800" b="1">
                <a:solidFill>
                  <a:srgbClr val="4EC9B0"/>
                </a:solidFill>
                <a:latin typeface="Arial"/>
              </a:rPr>
              <a:t>ずんだもんと一緒に見ていくのだ！</a:t>
            </a:r>
          </a:p>
        </p:txBody>
      </p:sp>
      <p:pic>
        <p:nvPicPr>
          <p:cNvPr id="9" name="Picture 8" descr="zundamon-an.gif"/>
          <p:cNvPicPr>
            <a:picLocks noChangeAspect="1"/>
          </p:cNvPicPr>
          <p:nvPr/>
        </p:nvPicPr>
        <p:blipFill>
          <a:blip r:embed="rId2"/>
          <a:stretch>
            <a:fillRect/>
          </a:stretch>
        </p:blipFill>
        <p:spPr>
          <a:xfrm>
            <a:off x="3429000" y="7699248"/>
            <a:ext cx="2011680" cy="20116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00" cy="9756648"/>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74320"/>
            <a:ext cx="5486400" cy="1371600"/>
          </a:xfrm>
          <a:prstGeom prst="rect">
            <a:avLst/>
          </a:prstGeom>
          <a:noFill/>
        </p:spPr>
        <p:txBody>
          <a:bodyPr wrap="square">
            <a:spAutoFit/>
          </a:bodyPr>
          <a:lstStyle/>
          <a:p>
            <a:pPr algn="ctr"/>
            <a:r>
              <a:rPr sz="8000" b="1">
                <a:solidFill>
                  <a:srgbClr val="FFFFFF"/>
                </a:solidFill>
                <a:latin typeface="Arial"/>
              </a:rPr>
              <a:t>#5</a:t>
            </a:r>
          </a:p>
        </p:txBody>
      </p:sp>
      <p:pic>
        <p:nvPicPr>
          <p:cNvPr id="4" name="Picture 3" descr="image.jpg"/>
          <p:cNvPicPr>
            <a:picLocks noChangeAspect="1"/>
          </p:cNvPicPr>
          <p:nvPr/>
        </p:nvPicPr>
        <p:blipFill>
          <a:blip r:embed="rId2"/>
          <a:stretch>
            <a:fillRect/>
          </a:stretch>
        </p:blipFill>
        <p:spPr>
          <a:xfrm>
            <a:off x="182880" y="1737360"/>
            <a:ext cx="5120640" cy="2880360"/>
          </a:xfrm>
          <a:prstGeom prst="rect">
            <a:avLst/>
          </a:prstGeom>
        </p:spPr>
      </p:pic>
      <p:sp>
        <p:nvSpPr>
          <p:cNvPr id="5" name="TextBox 4"/>
          <p:cNvSpPr txBox="1"/>
          <p:nvPr/>
        </p:nvSpPr>
        <p:spPr>
          <a:xfrm>
            <a:off x="182880" y="4754880"/>
            <a:ext cx="5120640" cy="1645920"/>
          </a:xfrm>
          <a:prstGeom prst="rect">
            <a:avLst/>
          </a:prstGeom>
          <a:noFill/>
        </p:spPr>
        <p:txBody>
          <a:bodyPr wrap="square">
            <a:spAutoFit/>
          </a:bodyPr>
          <a:lstStyle/>
          <a:p>
            <a:pPr algn="ctr"/>
            <a:r>
              <a:rPr sz="2000" b="1">
                <a:solidFill>
                  <a:srgbClr val="FFFFFF"/>
                </a:solidFill>
                <a:latin typeface="Arial"/>
              </a:rPr>
              <a:t>メイキング予告「フェス・ゴジラⅡ 東京消失」／　Teaser Trailer M…</a:t>
            </a:r>
          </a:p>
        </p:txBody>
      </p:sp>
      <p:sp>
        <p:nvSpPr>
          <p:cNvPr id="6" name="TextBox 5"/>
          <p:cNvSpPr txBox="1"/>
          <p:nvPr/>
        </p:nvSpPr>
        <p:spPr>
          <a:xfrm>
            <a:off x="182880" y="6492240"/>
            <a:ext cx="5120640" cy="457200"/>
          </a:xfrm>
          <a:prstGeom prst="rect">
            <a:avLst/>
          </a:prstGeom>
          <a:noFill/>
        </p:spPr>
        <p:txBody>
          <a:bodyPr wrap="square">
            <a:spAutoFit/>
          </a:bodyPr>
          <a:lstStyle/>
          <a:p>
            <a:pPr algn="ctr"/>
            <a:r>
              <a:rPr sz="1500" b="0">
                <a:solidFill>
                  <a:srgbClr val="AAAAAA"/>
                </a:solidFill>
                <a:latin typeface="Arial"/>
              </a:rPr>
              <a:t>📺 Godzilla Channel ゴジラ（東宝特撮）チャンネル</a:t>
            </a:r>
          </a:p>
        </p:txBody>
      </p:sp>
      <p:sp>
        <p:nvSpPr>
          <p:cNvPr id="7" name="TextBox 6"/>
          <p:cNvSpPr txBox="1"/>
          <p:nvPr/>
        </p:nvSpPr>
        <p:spPr>
          <a:xfrm>
            <a:off x="182880" y="6995160"/>
            <a:ext cx="5120640" cy="457200"/>
          </a:xfrm>
          <a:prstGeom prst="rect">
            <a:avLst/>
          </a:prstGeom>
          <a:noFill/>
        </p:spPr>
        <p:txBody>
          <a:bodyPr wrap="square">
            <a:spAutoFit/>
          </a:bodyPr>
          <a:lstStyle/>
          <a:p>
            <a:pPr algn="ctr"/>
            <a:r>
              <a:rPr sz="1800" b="1">
                <a:solidFill>
                  <a:srgbClr val="FFFFFF"/>
                </a:solidFill>
                <a:latin typeface="Arial"/>
              </a:rPr>
              <a:t>👁 35万回　👍 8,110</a:t>
            </a:r>
          </a:p>
        </p:txBody>
      </p:sp>
      <p:pic>
        <p:nvPicPr>
          <p:cNvPr id="8" name="Picture 7" descr="image.png"/>
          <p:cNvPicPr>
            <a:picLocks noChangeAspect="1"/>
          </p:cNvPicPr>
          <p:nvPr/>
        </p:nvPicPr>
        <p:blipFill>
          <a:blip r:embed="rId3"/>
          <a:stretch>
            <a:fillRect/>
          </a:stretch>
        </p:blipFill>
        <p:spPr>
          <a:xfrm>
            <a:off x="91440" y="8046720"/>
            <a:ext cx="1280160" cy="1280160"/>
          </a:xfrm>
          <a:prstGeom prst="rect">
            <a:avLst/>
          </a:prstGeom>
        </p:spPr>
      </p:pic>
      <p:sp>
        <p:nvSpPr>
          <p:cNvPr id="9" name="TextBox 8"/>
          <p:cNvSpPr txBox="1"/>
          <p:nvPr/>
        </p:nvSpPr>
        <p:spPr>
          <a:xfrm>
            <a:off x="1463040" y="8321040"/>
            <a:ext cx="3840480" cy="365760"/>
          </a:xfrm>
          <a:prstGeom prst="rect">
            <a:avLst/>
          </a:prstGeom>
          <a:noFill/>
        </p:spPr>
        <p:txBody>
          <a:bodyPr wrap="square">
            <a:spAutoFit/>
          </a:bodyPr>
          <a:lstStyle/>
          <a:p>
            <a:pPr algn="l"/>
            <a:r>
              <a:rPr sz="1200" b="0">
                <a:solidFill>
                  <a:srgbClr val="AAAAAA"/>
                </a:solidFill>
                <a:latin typeface="Arial"/>
              </a:rPr>
              <a:t>▲ QRコードで視聴</a:t>
            </a:r>
          </a:p>
        </p:txBody>
      </p:sp>
      <p:pic>
        <p:nvPicPr>
          <p:cNvPr id="10" name="Picture 9" descr="zundamon-an.gif"/>
          <p:cNvPicPr>
            <a:picLocks noChangeAspect="1"/>
          </p:cNvPicPr>
          <p:nvPr/>
        </p:nvPicPr>
        <p:blipFill>
          <a:blip r:embed="rId4"/>
          <a:stretch>
            <a:fillRect/>
          </a:stretch>
        </p:blipFill>
        <p:spPr>
          <a:xfrm>
            <a:off x="3429000" y="7699248"/>
            <a:ext cx="2011680" cy="20116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00" cy="9756648"/>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74320"/>
            <a:ext cx="5486400" cy="1371600"/>
          </a:xfrm>
          <a:prstGeom prst="rect">
            <a:avLst/>
          </a:prstGeom>
          <a:noFill/>
        </p:spPr>
        <p:txBody>
          <a:bodyPr wrap="square">
            <a:spAutoFit/>
          </a:bodyPr>
          <a:lstStyle/>
          <a:p>
            <a:pPr algn="ctr"/>
            <a:r>
              <a:rPr sz="8000" b="1">
                <a:solidFill>
                  <a:srgbClr val="FFFFFF"/>
                </a:solidFill>
                <a:latin typeface="Arial"/>
              </a:rPr>
              <a:t>#4</a:t>
            </a:r>
          </a:p>
        </p:txBody>
      </p:sp>
      <p:pic>
        <p:nvPicPr>
          <p:cNvPr id="4" name="Picture 3" descr="image.jpg"/>
          <p:cNvPicPr>
            <a:picLocks noChangeAspect="1"/>
          </p:cNvPicPr>
          <p:nvPr/>
        </p:nvPicPr>
        <p:blipFill>
          <a:blip r:embed="rId2"/>
          <a:stretch>
            <a:fillRect/>
          </a:stretch>
        </p:blipFill>
        <p:spPr>
          <a:xfrm>
            <a:off x="182880" y="1737360"/>
            <a:ext cx="5120640" cy="2880360"/>
          </a:xfrm>
          <a:prstGeom prst="rect">
            <a:avLst/>
          </a:prstGeom>
        </p:spPr>
      </p:pic>
      <p:sp>
        <p:nvSpPr>
          <p:cNvPr id="5" name="TextBox 4"/>
          <p:cNvSpPr txBox="1"/>
          <p:nvPr/>
        </p:nvSpPr>
        <p:spPr>
          <a:xfrm>
            <a:off x="182880" y="4754880"/>
            <a:ext cx="5120640" cy="1645920"/>
          </a:xfrm>
          <a:prstGeom prst="rect">
            <a:avLst/>
          </a:prstGeom>
          <a:noFill/>
        </p:spPr>
        <p:txBody>
          <a:bodyPr wrap="square">
            <a:spAutoFit/>
          </a:bodyPr>
          <a:lstStyle/>
          <a:p>
            <a:pPr algn="ctr"/>
            <a:r>
              <a:rPr sz="2000" b="1">
                <a:solidFill>
                  <a:srgbClr val="FFFFFF"/>
                </a:solidFill>
                <a:latin typeface="Arial"/>
              </a:rPr>
              <a:t>Mrs. GREEN APPLE「シンデレラ」Official Music Vi…</a:t>
            </a:r>
          </a:p>
        </p:txBody>
      </p:sp>
      <p:sp>
        <p:nvSpPr>
          <p:cNvPr id="6" name="TextBox 5"/>
          <p:cNvSpPr txBox="1"/>
          <p:nvPr/>
        </p:nvSpPr>
        <p:spPr>
          <a:xfrm>
            <a:off x="182880" y="6492240"/>
            <a:ext cx="5120640" cy="457200"/>
          </a:xfrm>
          <a:prstGeom prst="rect">
            <a:avLst/>
          </a:prstGeom>
          <a:noFill/>
        </p:spPr>
        <p:txBody>
          <a:bodyPr wrap="square">
            <a:spAutoFit/>
          </a:bodyPr>
          <a:lstStyle/>
          <a:p>
            <a:pPr algn="ctr"/>
            <a:r>
              <a:rPr sz="1500" b="0">
                <a:solidFill>
                  <a:srgbClr val="AAAAAA"/>
                </a:solidFill>
                <a:latin typeface="Arial"/>
              </a:rPr>
              <a:t>📺 Mrs. GREEN APPLE</a:t>
            </a:r>
          </a:p>
        </p:txBody>
      </p:sp>
      <p:sp>
        <p:nvSpPr>
          <p:cNvPr id="7" name="TextBox 6"/>
          <p:cNvSpPr txBox="1"/>
          <p:nvPr/>
        </p:nvSpPr>
        <p:spPr>
          <a:xfrm>
            <a:off x="182880" y="6995160"/>
            <a:ext cx="5120640" cy="457200"/>
          </a:xfrm>
          <a:prstGeom prst="rect">
            <a:avLst/>
          </a:prstGeom>
          <a:noFill/>
        </p:spPr>
        <p:txBody>
          <a:bodyPr wrap="square">
            <a:spAutoFit/>
          </a:bodyPr>
          <a:lstStyle/>
          <a:p>
            <a:pPr algn="ctr"/>
            <a:r>
              <a:rPr sz="1800" b="1">
                <a:solidFill>
                  <a:srgbClr val="FFFFFF"/>
                </a:solidFill>
                <a:latin typeface="Arial"/>
              </a:rPr>
              <a:t>👁 191万回　👍 5万</a:t>
            </a:r>
          </a:p>
        </p:txBody>
      </p:sp>
      <p:pic>
        <p:nvPicPr>
          <p:cNvPr id="8" name="Picture 7" descr="image.png"/>
          <p:cNvPicPr>
            <a:picLocks noChangeAspect="1"/>
          </p:cNvPicPr>
          <p:nvPr/>
        </p:nvPicPr>
        <p:blipFill>
          <a:blip r:embed="rId3"/>
          <a:stretch>
            <a:fillRect/>
          </a:stretch>
        </p:blipFill>
        <p:spPr>
          <a:xfrm>
            <a:off x="91440" y="8046720"/>
            <a:ext cx="1280160" cy="1280160"/>
          </a:xfrm>
          <a:prstGeom prst="rect">
            <a:avLst/>
          </a:prstGeom>
        </p:spPr>
      </p:pic>
      <p:sp>
        <p:nvSpPr>
          <p:cNvPr id="9" name="TextBox 8"/>
          <p:cNvSpPr txBox="1"/>
          <p:nvPr/>
        </p:nvSpPr>
        <p:spPr>
          <a:xfrm>
            <a:off x="1463040" y="8321040"/>
            <a:ext cx="3840480" cy="365760"/>
          </a:xfrm>
          <a:prstGeom prst="rect">
            <a:avLst/>
          </a:prstGeom>
          <a:noFill/>
        </p:spPr>
        <p:txBody>
          <a:bodyPr wrap="square">
            <a:spAutoFit/>
          </a:bodyPr>
          <a:lstStyle/>
          <a:p>
            <a:pPr algn="l"/>
            <a:r>
              <a:rPr sz="1200" b="0">
                <a:solidFill>
                  <a:srgbClr val="AAAAAA"/>
                </a:solidFill>
                <a:latin typeface="Arial"/>
              </a:rPr>
              <a:t>▲ QRコードで視聴</a:t>
            </a:r>
          </a:p>
        </p:txBody>
      </p:sp>
      <p:pic>
        <p:nvPicPr>
          <p:cNvPr id="10" name="Picture 9" descr="zundamon-an.gif"/>
          <p:cNvPicPr>
            <a:picLocks noChangeAspect="1"/>
          </p:cNvPicPr>
          <p:nvPr/>
        </p:nvPicPr>
        <p:blipFill>
          <a:blip r:embed="rId4"/>
          <a:stretch>
            <a:fillRect/>
          </a:stretch>
        </p:blipFill>
        <p:spPr>
          <a:xfrm>
            <a:off x="3429000" y="7699248"/>
            <a:ext cx="2011680" cy="20116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00" cy="9756648"/>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74320"/>
            <a:ext cx="5486400" cy="1371600"/>
          </a:xfrm>
          <a:prstGeom prst="rect">
            <a:avLst/>
          </a:prstGeom>
          <a:noFill/>
        </p:spPr>
        <p:txBody>
          <a:bodyPr wrap="square">
            <a:spAutoFit/>
          </a:bodyPr>
          <a:lstStyle/>
          <a:p>
            <a:pPr algn="ctr"/>
            <a:r>
              <a:rPr sz="8000" b="1">
                <a:solidFill>
                  <a:srgbClr val="CD7F32"/>
                </a:solidFill>
                <a:latin typeface="Arial"/>
              </a:rPr>
              <a:t>#3</a:t>
            </a:r>
          </a:p>
        </p:txBody>
      </p:sp>
      <p:pic>
        <p:nvPicPr>
          <p:cNvPr id="4" name="Picture 3" descr="image.jpg"/>
          <p:cNvPicPr>
            <a:picLocks noChangeAspect="1"/>
          </p:cNvPicPr>
          <p:nvPr/>
        </p:nvPicPr>
        <p:blipFill>
          <a:blip r:embed="rId2"/>
          <a:stretch>
            <a:fillRect/>
          </a:stretch>
        </p:blipFill>
        <p:spPr>
          <a:xfrm>
            <a:off x="182880" y="1737360"/>
            <a:ext cx="5120640" cy="2880360"/>
          </a:xfrm>
          <a:prstGeom prst="rect">
            <a:avLst/>
          </a:prstGeom>
        </p:spPr>
      </p:pic>
      <p:sp>
        <p:nvSpPr>
          <p:cNvPr id="5" name="TextBox 4"/>
          <p:cNvSpPr txBox="1"/>
          <p:nvPr/>
        </p:nvSpPr>
        <p:spPr>
          <a:xfrm>
            <a:off x="182880" y="4754880"/>
            <a:ext cx="5120640" cy="1645920"/>
          </a:xfrm>
          <a:prstGeom prst="rect">
            <a:avLst/>
          </a:prstGeom>
          <a:noFill/>
        </p:spPr>
        <p:txBody>
          <a:bodyPr wrap="square">
            <a:spAutoFit/>
          </a:bodyPr>
          <a:lstStyle/>
          <a:p>
            <a:pPr algn="ctr"/>
            <a:r>
              <a:rPr sz="2000" b="1">
                <a:solidFill>
                  <a:srgbClr val="FFFFFF"/>
                </a:solidFill>
                <a:latin typeface="Arial"/>
              </a:rPr>
              <a:t>【マインクラフト】最強のバフと激ヤバのデバフを持ってお宝争奪戦をしてもらいます【…</a:t>
            </a:r>
          </a:p>
        </p:txBody>
      </p:sp>
      <p:sp>
        <p:nvSpPr>
          <p:cNvPr id="6" name="TextBox 5"/>
          <p:cNvSpPr txBox="1"/>
          <p:nvPr/>
        </p:nvSpPr>
        <p:spPr>
          <a:xfrm>
            <a:off x="182880" y="6492240"/>
            <a:ext cx="5120640" cy="457200"/>
          </a:xfrm>
          <a:prstGeom prst="rect">
            <a:avLst/>
          </a:prstGeom>
          <a:noFill/>
        </p:spPr>
        <p:txBody>
          <a:bodyPr wrap="square">
            <a:spAutoFit/>
          </a:bodyPr>
          <a:lstStyle/>
          <a:p>
            <a:pPr algn="ctr"/>
            <a:r>
              <a:rPr sz="1500" b="0">
                <a:solidFill>
                  <a:srgbClr val="AAAAAA"/>
                </a:solidFill>
                <a:latin typeface="Arial"/>
              </a:rPr>
              <a:t>📺 日常組</a:t>
            </a:r>
          </a:p>
        </p:txBody>
      </p:sp>
      <p:sp>
        <p:nvSpPr>
          <p:cNvPr id="7" name="TextBox 6"/>
          <p:cNvSpPr txBox="1"/>
          <p:nvPr/>
        </p:nvSpPr>
        <p:spPr>
          <a:xfrm>
            <a:off x="182880" y="6995160"/>
            <a:ext cx="5120640" cy="457200"/>
          </a:xfrm>
          <a:prstGeom prst="rect">
            <a:avLst/>
          </a:prstGeom>
          <a:noFill/>
        </p:spPr>
        <p:txBody>
          <a:bodyPr wrap="square">
            <a:spAutoFit/>
          </a:bodyPr>
          <a:lstStyle/>
          <a:p>
            <a:pPr algn="ctr"/>
            <a:r>
              <a:rPr sz="1800" b="1">
                <a:solidFill>
                  <a:srgbClr val="CD7F32"/>
                </a:solidFill>
                <a:latin typeface="Arial"/>
              </a:rPr>
              <a:t>👁 78万回　👍 1万</a:t>
            </a:r>
          </a:p>
        </p:txBody>
      </p:sp>
      <p:pic>
        <p:nvPicPr>
          <p:cNvPr id="8" name="Picture 7" descr="image.png"/>
          <p:cNvPicPr>
            <a:picLocks noChangeAspect="1"/>
          </p:cNvPicPr>
          <p:nvPr/>
        </p:nvPicPr>
        <p:blipFill>
          <a:blip r:embed="rId3"/>
          <a:stretch>
            <a:fillRect/>
          </a:stretch>
        </p:blipFill>
        <p:spPr>
          <a:xfrm>
            <a:off x="91440" y="8046720"/>
            <a:ext cx="1280160" cy="1280160"/>
          </a:xfrm>
          <a:prstGeom prst="rect">
            <a:avLst/>
          </a:prstGeom>
        </p:spPr>
      </p:pic>
      <p:sp>
        <p:nvSpPr>
          <p:cNvPr id="9" name="TextBox 8"/>
          <p:cNvSpPr txBox="1"/>
          <p:nvPr/>
        </p:nvSpPr>
        <p:spPr>
          <a:xfrm>
            <a:off x="1463040" y="8321040"/>
            <a:ext cx="3840480" cy="365760"/>
          </a:xfrm>
          <a:prstGeom prst="rect">
            <a:avLst/>
          </a:prstGeom>
          <a:noFill/>
        </p:spPr>
        <p:txBody>
          <a:bodyPr wrap="square">
            <a:spAutoFit/>
          </a:bodyPr>
          <a:lstStyle/>
          <a:p>
            <a:pPr algn="l"/>
            <a:r>
              <a:rPr sz="1200" b="0">
                <a:solidFill>
                  <a:srgbClr val="AAAAAA"/>
                </a:solidFill>
                <a:latin typeface="Arial"/>
              </a:rPr>
              <a:t>▲ QRコードで視聴</a:t>
            </a:r>
          </a:p>
        </p:txBody>
      </p:sp>
      <p:pic>
        <p:nvPicPr>
          <p:cNvPr id="10" name="Picture 9" descr="zundamon-an.gif"/>
          <p:cNvPicPr>
            <a:picLocks noChangeAspect="1"/>
          </p:cNvPicPr>
          <p:nvPr/>
        </p:nvPicPr>
        <p:blipFill>
          <a:blip r:embed="rId4"/>
          <a:stretch>
            <a:fillRect/>
          </a:stretch>
        </p:blipFill>
        <p:spPr>
          <a:xfrm>
            <a:off x="3429000" y="7699248"/>
            <a:ext cx="2011680" cy="20116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00" cy="9756648"/>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74320"/>
            <a:ext cx="5486400" cy="1371600"/>
          </a:xfrm>
          <a:prstGeom prst="rect">
            <a:avLst/>
          </a:prstGeom>
          <a:noFill/>
        </p:spPr>
        <p:txBody>
          <a:bodyPr wrap="square">
            <a:spAutoFit/>
          </a:bodyPr>
          <a:lstStyle/>
          <a:p>
            <a:pPr algn="ctr"/>
            <a:r>
              <a:rPr sz="8000" b="1">
                <a:solidFill>
                  <a:srgbClr val="C0C0C0"/>
                </a:solidFill>
                <a:latin typeface="Arial"/>
              </a:rPr>
              <a:t>#2</a:t>
            </a:r>
          </a:p>
        </p:txBody>
      </p:sp>
      <p:pic>
        <p:nvPicPr>
          <p:cNvPr id="4" name="Picture 3" descr="image.jpg"/>
          <p:cNvPicPr>
            <a:picLocks noChangeAspect="1"/>
          </p:cNvPicPr>
          <p:nvPr/>
        </p:nvPicPr>
        <p:blipFill>
          <a:blip r:embed="rId2"/>
          <a:stretch>
            <a:fillRect/>
          </a:stretch>
        </p:blipFill>
        <p:spPr>
          <a:xfrm>
            <a:off x="182880" y="1737360"/>
            <a:ext cx="5120640" cy="2880360"/>
          </a:xfrm>
          <a:prstGeom prst="rect">
            <a:avLst/>
          </a:prstGeom>
        </p:spPr>
      </p:pic>
      <p:sp>
        <p:nvSpPr>
          <p:cNvPr id="5" name="TextBox 4"/>
          <p:cNvSpPr txBox="1"/>
          <p:nvPr/>
        </p:nvSpPr>
        <p:spPr>
          <a:xfrm>
            <a:off x="182880" y="4754880"/>
            <a:ext cx="5120640" cy="1645920"/>
          </a:xfrm>
          <a:prstGeom prst="rect">
            <a:avLst/>
          </a:prstGeom>
          <a:noFill/>
        </p:spPr>
        <p:txBody>
          <a:bodyPr wrap="square">
            <a:spAutoFit/>
          </a:bodyPr>
          <a:lstStyle/>
          <a:p>
            <a:pPr algn="ctr"/>
            <a:r>
              <a:rPr sz="2000" b="1">
                <a:solidFill>
                  <a:srgbClr val="FFFFFF"/>
                </a:solidFill>
                <a:latin typeface="Arial"/>
              </a:rPr>
              <a:t>孤独なおばあさんは、化物をひろいました　映画『妖怪、化物をひろう』本予告　オダギ…</a:t>
            </a:r>
          </a:p>
        </p:txBody>
      </p:sp>
      <p:sp>
        <p:nvSpPr>
          <p:cNvPr id="6" name="TextBox 5"/>
          <p:cNvSpPr txBox="1"/>
          <p:nvPr/>
        </p:nvSpPr>
        <p:spPr>
          <a:xfrm>
            <a:off x="182880" y="6492240"/>
            <a:ext cx="5120640" cy="457200"/>
          </a:xfrm>
          <a:prstGeom prst="rect">
            <a:avLst/>
          </a:prstGeom>
          <a:noFill/>
        </p:spPr>
        <p:txBody>
          <a:bodyPr wrap="square">
            <a:spAutoFit/>
          </a:bodyPr>
          <a:lstStyle/>
          <a:p>
            <a:pPr algn="ctr"/>
            <a:r>
              <a:rPr sz="1500" b="0">
                <a:solidFill>
                  <a:srgbClr val="AAAAAA"/>
                </a:solidFill>
                <a:latin typeface="Arial"/>
              </a:rPr>
              <a:t>📺 シネマトゥデイ</a:t>
            </a:r>
          </a:p>
        </p:txBody>
      </p:sp>
      <p:sp>
        <p:nvSpPr>
          <p:cNvPr id="7" name="TextBox 6"/>
          <p:cNvSpPr txBox="1"/>
          <p:nvPr/>
        </p:nvSpPr>
        <p:spPr>
          <a:xfrm>
            <a:off x="182880" y="6995160"/>
            <a:ext cx="5120640" cy="457200"/>
          </a:xfrm>
          <a:prstGeom prst="rect">
            <a:avLst/>
          </a:prstGeom>
          <a:noFill/>
        </p:spPr>
        <p:txBody>
          <a:bodyPr wrap="square">
            <a:spAutoFit/>
          </a:bodyPr>
          <a:lstStyle/>
          <a:p>
            <a:pPr algn="ctr"/>
            <a:r>
              <a:rPr sz="1800" b="1">
                <a:solidFill>
                  <a:srgbClr val="C0C0C0"/>
                </a:solidFill>
                <a:latin typeface="Arial"/>
              </a:rPr>
              <a:t>👁 4万回　👍 162</a:t>
            </a:r>
          </a:p>
        </p:txBody>
      </p:sp>
      <p:pic>
        <p:nvPicPr>
          <p:cNvPr id="8" name="Picture 7" descr="image.png"/>
          <p:cNvPicPr>
            <a:picLocks noChangeAspect="1"/>
          </p:cNvPicPr>
          <p:nvPr/>
        </p:nvPicPr>
        <p:blipFill>
          <a:blip r:embed="rId3"/>
          <a:stretch>
            <a:fillRect/>
          </a:stretch>
        </p:blipFill>
        <p:spPr>
          <a:xfrm>
            <a:off x="91440" y="8046720"/>
            <a:ext cx="1280160" cy="1280160"/>
          </a:xfrm>
          <a:prstGeom prst="rect">
            <a:avLst/>
          </a:prstGeom>
        </p:spPr>
      </p:pic>
      <p:sp>
        <p:nvSpPr>
          <p:cNvPr id="9" name="TextBox 8"/>
          <p:cNvSpPr txBox="1"/>
          <p:nvPr/>
        </p:nvSpPr>
        <p:spPr>
          <a:xfrm>
            <a:off x="1463040" y="8321040"/>
            <a:ext cx="3840480" cy="365760"/>
          </a:xfrm>
          <a:prstGeom prst="rect">
            <a:avLst/>
          </a:prstGeom>
          <a:noFill/>
        </p:spPr>
        <p:txBody>
          <a:bodyPr wrap="square">
            <a:spAutoFit/>
          </a:bodyPr>
          <a:lstStyle/>
          <a:p>
            <a:pPr algn="l"/>
            <a:r>
              <a:rPr sz="1200" b="0">
                <a:solidFill>
                  <a:srgbClr val="AAAAAA"/>
                </a:solidFill>
                <a:latin typeface="Arial"/>
              </a:rPr>
              <a:t>▲ QRコードで視聴</a:t>
            </a:r>
          </a:p>
        </p:txBody>
      </p:sp>
      <p:pic>
        <p:nvPicPr>
          <p:cNvPr id="10" name="Picture 9" descr="zundamon-an.gif"/>
          <p:cNvPicPr>
            <a:picLocks noChangeAspect="1"/>
          </p:cNvPicPr>
          <p:nvPr/>
        </p:nvPicPr>
        <p:blipFill>
          <a:blip r:embed="rId4"/>
          <a:stretch>
            <a:fillRect/>
          </a:stretch>
        </p:blipFill>
        <p:spPr>
          <a:xfrm>
            <a:off x="3429000" y="7699248"/>
            <a:ext cx="2011680" cy="20116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00" cy="9756648"/>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0" cy="10972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46920"/>
            <a:ext cx="5486400" cy="10972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74320"/>
            <a:ext cx="5486400" cy="1097280"/>
          </a:xfrm>
          <a:prstGeom prst="rect">
            <a:avLst/>
          </a:prstGeom>
          <a:noFill/>
        </p:spPr>
        <p:txBody>
          <a:bodyPr wrap="square">
            <a:spAutoFit/>
          </a:bodyPr>
          <a:lstStyle/>
          <a:p>
            <a:pPr algn="ctr"/>
            <a:r>
              <a:rPr sz="4400" b="1">
                <a:solidFill>
                  <a:srgbClr val="FFD700"/>
                </a:solidFill>
                <a:latin typeface="Arial"/>
              </a:rPr>
              <a:t>🏆 NO.1 🏆</a:t>
            </a:r>
          </a:p>
        </p:txBody>
      </p:sp>
      <p:pic>
        <p:nvPicPr>
          <p:cNvPr id="6" name="Picture 5" descr="image.jpg"/>
          <p:cNvPicPr>
            <a:picLocks noChangeAspect="1"/>
          </p:cNvPicPr>
          <p:nvPr/>
        </p:nvPicPr>
        <p:blipFill>
          <a:blip r:embed="rId2"/>
          <a:stretch>
            <a:fillRect/>
          </a:stretch>
        </p:blipFill>
        <p:spPr>
          <a:xfrm>
            <a:off x="182880" y="1554480"/>
            <a:ext cx="5120640" cy="2880360"/>
          </a:xfrm>
          <a:prstGeom prst="rect">
            <a:avLst/>
          </a:prstGeom>
        </p:spPr>
      </p:pic>
      <p:sp>
        <p:nvSpPr>
          <p:cNvPr id="7" name="TextBox 6"/>
          <p:cNvSpPr txBox="1"/>
          <p:nvPr/>
        </p:nvSpPr>
        <p:spPr>
          <a:xfrm>
            <a:off x="182880" y="4572000"/>
            <a:ext cx="5120640" cy="1645920"/>
          </a:xfrm>
          <a:prstGeom prst="rect">
            <a:avLst/>
          </a:prstGeom>
          <a:noFill/>
        </p:spPr>
        <p:txBody>
          <a:bodyPr wrap="square">
            <a:spAutoFit/>
          </a:bodyPr>
          <a:lstStyle/>
          <a:p>
            <a:pPr algn="ctr"/>
            <a:r>
              <a:rPr sz="2000" b="1">
                <a:solidFill>
                  <a:srgbClr val="FFFFFF"/>
                </a:solidFill>
                <a:latin typeface="Arial"/>
              </a:rPr>
              <a:t>KEY TO LIT - KEY TERUYA2 ～キテルヤツ～ [Music …</a:t>
            </a:r>
          </a:p>
        </p:txBody>
      </p:sp>
      <p:sp>
        <p:nvSpPr>
          <p:cNvPr id="8" name="TextBox 7"/>
          <p:cNvSpPr txBox="1"/>
          <p:nvPr/>
        </p:nvSpPr>
        <p:spPr>
          <a:xfrm>
            <a:off x="182880" y="6309360"/>
            <a:ext cx="5120640" cy="457200"/>
          </a:xfrm>
          <a:prstGeom prst="rect">
            <a:avLst/>
          </a:prstGeom>
          <a:noFill/>
        </p:spPr>
        <p:txBody>
          <a:bodyPr wrap="square">
            <a:spAutoFit/>
          </a:bodyPr>
          <a:lstStyle/>
          <a:p>
            <a:pPr algn="ctr"/>
            <a:r>
              <a:rPr sz="1500" b="0">
                <a:solidFill>
                  <a:srgbClr val="AAAAAA"/>
                </a:solidFill>
                <a:latin typeface="Arial"/>
              </a:rPr>
              <a:t>📺 KEY TO LIT</a:t>
            </a:r>
          </a:p>
        </p:txBody>
      </p:sp>
      <p:sp>
        <p:nvSpPr>
          <p:cNvPr id="9" name="TextBox 8"/>
          <p:cNvSpPr txBox="1"/>
          <p:nvPr/>
        </p:nvSpPr>
        <p:spPr>
          <a:xfrm>
            <a:off x="182880" y="6812280"/>
            <a:ext cx="5120640" cy="502920"/>
          </a:xfrm>
          <a:prstGeom prst="rect">
            <a:avLst/>
          </a:prstGeom>
          <a:noFill/>
        </p:spPr>
        <p:txBody>
          <a:bodyPr wrap="square">
            <a:spAutoFit/>
          </a:bodyPr>
          <a:lstStyle/>
          <a:p>
            <a:pPr algn="ctr"/>
            <a:r>
              <a:rPr sz="2000" b="1">
                <a:solidFill>
                  <a:srgbClr val="FFD700"/>
                </a:solidFill>
                <a:latin typeface="Arial"/>
              </a:rPr>
              <a:t>👁 77万回　👍 6万</a:t>
            </a:r>
          </a:p>
        </p:txBody>
      </p:sp>
      <p:pic>
        <p:nvPicPr>
          <p:cNvPr id="10" name="Picture 9" descr="image.png"/>
          <p:cNvPicPr>
            <a:picLocks noChangeAspect="1"/>
          </p:cNvPicPr>
          <p:nvPr/>
        </p:nvPicPr>
        <p:blipFill>
          <a:blip r:embed="rId3"/>
          <a:stretch>
            <a:fillRect/>
          </a:stretch>
        </p:blipFill>
        <p:spPr>
          <a:xfrm>
            <a:off x="91440" y="7772400"/>
            <a:ext cx="1645920" cy="1645920"/>
          </a:xfrm>
          <a:prstGeom prst="rect">
            <a:avLst/>
          </a:prstGeom>
        </p:spPr>
      </p:pic>
      <p:sp>
        <p:nvSpPr>
          <p:cNvPr id="11" name="TextBox 10"/>
          <p:cNvSpPr txBox="1"/>
          <p:nvPr/>
        </p:nvSpPr>
        <p:spPr>
          <a:xfrm>
            <a:off x="1828800" y="8321040"/>
            <a:ext cx="3566160" cy="365760"/>
          </a:xfrm>
          <a:prstGeom prst="rect">
            <a:avLst/>
          </a:prstGeom>
          <a:noFill/>
        </p:spPr>
        <p:txBody>
          <a:bodyPr wrap="square">
            <a:spAutoFit/>
          </a:bodyPr>
          <a:lstStyle/>
          <a:p>
            <a:pPr algn="l"/>
            <a:r>
              <a:rPr sz="1200" b="0">
                <a:solidFill>
                  <a:srgbClr val="AAAAAA"/>
                </a:solidFill>
                <a:latin typeface="Arial"/>
              </a:rPr>
              <a:t>▲ QRコードで視聴</a:t>
            </a:r>
          </a:p>
        </p:txBody>
      </p:sp>
      <p:pic>
        <p:nvPicPr>
          <p:cNvPr id="12" name="Picture 11" descr="zundamon-an.gif"/>
          <p:cNvPicPr>
            <a:picLocks noChangeAspect="1"/>
          </p:cNvPicPr>
          <p:nvPr/>
        </p:nvPicPr>
        <p:blipFill>
          <a:blip r:embed="rId4"/>
          <a:stretch>
            <a:fillRect/>
          </a:stretch>
        </p:blipFill>
        <p:spPr>
          <a:xfrm>
            <a:off x="3429000" y="7699248"/>
            <a:ext cx="2011680" cy="20116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00" cy="9756648"/>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828800"/>
            <a:ext cx="5486400" cy="1097280"/>
          </a:xfrm>
          <a:prstGeom prst="rect">
            <a:avLst/>
          </a:prstGeom>
          <a:noFill/>
        </p:spPr>
        <p:txBody>
          <a:bodyPr wrap="square">
            <a:spAutoFit/>
          </a:bodyPr>
          <a:lstStyle/>
          <a:p>
            <a:pPr algn="ctr"/>
            <a:r>
              <a:rPr sz="5200" b="1">
                <a:solidFill>
                  <a:srgbClr val="FFFFFF"/>
                </a:solidFill>
                <a:latin typeface="Arial"/>
              </a:rPr>
              <a:t>以上！</a:t>
            </a:r>
          </a:p>
        </p:txBody>
      </p:sp>
      <p:sp>
        <p:nvSpPr>
          <p:cNvPr id="4" name="TextBox 3"/>
          <p:cNvSpPr txBox="1"/>
          <p:nvPr/>
        </p:nvSpPr>
        <p:spPr>
          <a:xfrm>
            <a:off x="182880" y="3017520"/>
            <a:ext cx="5120640" cy="1828800"/>
          </a:xfrm>
          <a:prstGeom prst="rect">
            <a:avLst/>
          </a:prstGeom>
          <a:noFill/>
        </p:spPr>
        <p:txBody>
          <a:bodyPr wrap="square">
            <a:spAutoFit/>
          </a:bodyPr>
          <a:lstStyle/>
          <a:p>
            <a:pPr algn="ctr"/>
            <a:r>
              <a:rPr sz="3400" b="1">
                <a:solidFill>
                  <a:srgbClr val="FF0000"/>
                </a:solidFill>
                <a:latin typeface="Arial"/>
              </a:rPr>
              <a:t>YouTube急上昇
TOP5でした！</a:t>
            </a:r>
          </a:p>
        </p:txBody>
      </p:sp>
      <p:sp>
        <p:nvSpPr>
          <p:cNvPr id="5" name="TextBox 4"/>
          <p:cNvSpPr txBox="1"/>
          <p:nvPr/>
        </p:nvSpPr>
        <p:spPr>
          <a:xfrm>
            <a:off x="182880" y="5486400"/>
            <a:ext cx="5120640" cy="1828800"/>
          </a:xfrm>
          <a:prstGeom prst="rect">
            <a:avLst/>
          </a:prstGeom>
          <a:noFill/>
        </p:spPr>
        <p:txBody>
          <a:bodyPr wrap="square">
            <a:spAutoFit/>
          </a:bodyPr>
          <a:lstStyle/>
          <a:p>
            <a:pPr algn="ctr"/>
            <a:r>
              <a:rPr sz="2400" b="1">
                <a:solidFill>
                  <a:srgbClr val="4EC9B0"/>
                </a:solidFill>
                <a:latin typeface="Arial"/>
              </a:rPr>
              <a:t>チャンネル登録・
いいね！よろしくなのだ🌿</a:t>
            </a:r>
          </a:p>
        </p:txBody>
      </p:sp>
      <p:sp>
        <p:nvSpPr>
          <p:cNvPr id="6" name="TextBox 5"/>
          <p:cNvSpPr txBox="1"/>
          <p:nvPr/>
        </p:nvSpPr>
        <p:spPr>
          <a:xfrm>
            <a:off x="182880" y="7772400"/>
            <a:ext cx="5120640" cy="731520"/>
          </a:xfrm>
          <a:prstGeom prst="rect">
            <a:avLst/>
          </a:prstGeom>
          <a:noFill/>
        </p:spPr>
        <p:txBody>
          <a:bodyPr wrap="square">
            <a:spAutoFit/>
          </a:bodyPr>
          <a:lstStyle/>
          <a:p>
            <a:pPr algn="ctr"/>
            <a:r>
              <a:rPr sz="2000" b="0">
                <a:solidFill>
                  <a:srgbClr val="AAAAAA"/>
                </a:solidFill>
                <a:latin typeface="Arial"/>
              </a:rPr>
              <a:t>また明日もお楽しみに！</a:t>
            </a:r>
          </a:p>
        </p:txBody>
      </p:sp>
      <p:pic>
        <p:nvPicPr>
          <p:cNvPr id="7" name="Picture 6" descr="zundamon-an.gif"/>
          <p:cNvPicPr>
            <a:picLocks noChangeAspect="1"/>
          </p:cNvPicPr>
          <p:nvPr/>
        </p:nvPicPr>
        <p:blipFill>
          <a:blip r:embed="rId2"/>
          <a:stretch>
            <a:fillRect/>
          </a:stretch>
        </p:blipFill>
        <p:spPr>
          <a:xfrm>
            <a:off x="3429000" y="7699248"/>
            <a:ext cx="2011680" cy="20116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