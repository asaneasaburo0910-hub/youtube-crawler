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hyperlink" Target="https://www.youtube.com/watch?v=84m18TH4LIg" TargetMode="External"/><Relationship Id="rId5" Type="http://schemas.openxmlformats.org/officeDocument/2006/relationships/image" Target="../media/image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hyperlink" Target="https://www.youtube.com/watch?v=3lOsboT-IWU" TargetMode="External"/><Relationship Id="rId5" Type="http://schemas.openxmlformats.org/officeDocument/2006/relationships/image" Target="../media/image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hyperlink" Target="https://www.youtube.com/watch?v=ij3AhzPTsBw" TargetMode="External"/><Relationship Id="rId5"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hyperlink" Target="https://www.youtube.com/watch?v=3C0EOqt7sqA" TargetMode="External"/><Relationship Id="rId5" Type="http://schemas.openxmlformats.org/officeDocument/2006/relationships/image" Target="../media/image1.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png"/><Relationship Id="rId4" Type="http://schemas.openxmlformats.org/officeDocument/2006/relationships/hyperlink" Target="https://www.youtube.com/watch?v=dG4jgfGUt28" TargetMode="External"/><Relationship Id="rId5" Type="http://schemas.openxmlformats.org/officeDocument/2006/relationships/image" Target="../media/image1.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hyperlink" Target="https://www.youtube.com/watch?v=xpruiYFMF_g" TargetMode="External"/><Relationship Id="rId5" Type="http://schemas.openxmlformats.org/officeDocument/2006/relationships/image" Target="../media/image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png"/><Relationship Id="rId4" Type="http://schemas.openxmlformats.org/officeDocument/2006/relationships/hyperlink" Target="https://www.youtube.com/watch?v=jE3IpqDEAMY" TargetMode="External"/><Relationship Id="rId5" Type="http://schemas.openxmlformats.org/officeDocument/2006/relationships/image" Target="../media/image1.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png"/><Relationship Id="rId4" Type="http://schemas.openxmlformats.org/officeDocument/2006/relationships/hyperlink" Target="https://www.youtube.com/watch?v=al6b2aptu7I" TargetMode="External"/><Relationship Id="rId5" Type="http://schemas.openxmlformats.org/officeDocument/2006/relationships/image" Target="../media/image1.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png"/><Relationship Id="rId4" Type="http://schemas.openxmlformats.org/officeDocument/2006/relationships/hyperlink" Target="https://www.youtube.com/watch?v=ArV3RrEElKY" TargetMode="External"/><Relationship Id="rId5" Type="http://schemas.openxmlformats.org/officeDocument/2006/relationships/image" Target="../media/image1.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png"/><Relationship Id="rId4" Type="http://schemas.openxmlformats.org/officeDocument/2006/relationships/hyperlink" Target="https://www.youtube.com/watch?v=GEk4jHwfFTA" TargetMode="External"/><Relationship Id="rId5" Type="http://schemas.openxmlformats.org/officeDocument/2006/relationships/image" Target="../media/image1.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hyperlink" Target="https://www.youtube.com/watch?v=RHUauMcYlX0" TargetMode="External"/><Relationship Id="rId4" Type="http://schemas.openxmlformats.org/officeDocument/2006/relationships/image" Target="../media/image23.png"/><Relationship Id="rId5" Type="http://schemas.openxmlformats.org/officeDocument/2006/relationships/image" Target="../media/image24.jpg"/><Relationship Id="rId6" Type="http://schemas.openxmlformats.org/officeDocument/2006/relationships/hyperlink" Target="https://www.youtube.com/watch?v=fBQOV3jiST0" TargetMode="External"/><Relationship Id="rId7" Type="http://schemas.openxmlformats.org/officeDocument/2006/relationships/image" Target="../media/image25.png"/><Relationship Id="rId8" Type="http://schemas.openxmlformats.org/officeDocument/2006/relationships/image" Target="../media/image26.jpg"/><Relationship Id="rId9" Type="http://schemas.openxmlformats.org/officeDocument/2006/relationships/hyperlink" Target="https://www.youtube.com/watch?v=P8QordVAUyU" TargetMode="External"/><Relationship Id="rId10" Type="http://schemas.openxmlformats.org/officeDocument/2006/relationships/image" Target="../media/image27.png"/><Relationship Id="rId11" Type="http://schemas.openxmlformats.org/officeDocument/2006/relationships/image" Target="../media/image28.jpg"/><Relationship Id="rId12" Type="http://schemas.openxmlformats.org/officeDocument/2006/relationships/hyperlink" Target="https://www.youtube.com/watch?v=yHmPWzkhcZ8" TargetMode="External"/><Relationship Id="rId13" Type="http://schemas.openxmlformats.org/officeDocument/2006/relationships/image" Target="../media/image29.png"/><Relationship Id="rId14" Type="http://schemas.openxmlformats.org/officeDocument/2006/relationships/image" Target="../media/image30.jpg"/><Relationship Id="rId15" Type="http://schemas.openxmlformats.org/officeDocument/2006/relationships/hyperlink" Target="https://www.youtube.com/watch?v=9nXbYZL8V9E" TargetMode="External"/><Relationship Id="rId16"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hyperlink" Target="https://www.youtube.com/watch?v=0cjKg-Z3xak" TargetMode="External"/><Relationship Id="rId4" Type="http://schemas.openxmlformats.org/officeDocument/2006/relationships/image" Target="../media/image33.png"/><Relationship Id="rId5" Type="http://schemas.openxmlformats.org/officeDocument/2006/relationships/image" Target="../media/image34.jpg"/><Relationship Id="rId6" Type="http://schemas.openxmlformats.org/officeDocument/2006/relationships/hyperlink" Target="https://www.youtube.com/watch?v=mhCy0IgobIw" TargetMode="External"/><Relationship Id="rId7" Type="http://schemas.openxmlformats.org/officeDocument/2006/relationships/image" Target="../media/image35.png"/><Relationship Id="rId8" Type="http://schemas.openxmlformats.org/officeDocument/2006/relationships/image" Target="../media/image36.jpg"/><Relationship Id="rId9" Type="http://schemas.openxmlformats.org/officeDocument/2006/relationships/hyperlink" Target="https://www.youtube.com/watch?v=XGbduoPa_-0" TargetMode="External"/><Relationship Id="rId10" Type="http://schemas.openxmlformats.org/officeDocument/2006/relationships/image" Target="../media/image37.png"/><Relationship Id="rId11" Type="http://schemas.openxmlformats.org/officeDocument/2006/relationships/image" Target="../media/image38.jpg"/><Relationship Id="rId12" Type="http://schemas.openxmlformats.org/officeDocument/2006/relationships/hyperlink" Target="https://www.youtube.com/watch?v=1JT-CjiNVok" TargetMode="External"/><Relationship Id="rId13" Type="http://schemas.openxmlformats.org/officeDocument/2006/relationships/image" Target="../media/image39.png"/><Relationship Id="rId14" Type="http://schemas.openxmlformats.org/officeDocument/2006/relationships/image" Target="../media/image40.jpg"/><Relationship Id="rId15" Type="http://schemas.openxmlformats.org/officeDocument/2006/relationships/hyperlink" Target="https://www.youtube.com/watch?v=pgRJnPQHeiQ" TargetMode="External"/><Relationship Id="rId16" Type="http://schemas.openxmlformats.org/officeDocument/2006/relationships/image" Target="../media/image4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hyperlink" Target="https://www.youtube.com/watch?v=OIBODIPC_8Y" TargetMode="External"/><Relationship Id="rId4" Type="http://schemas.openxmlformats.org/officeDocument/2006/relationships/image" Target="../media/image43.png"/><Relationship Id="rId5" Type="http://schemas.openxmlformats.org/officeDocument/2006/relationships/image" Target="../media/image44.jpg"/><Relationship Id="rId6" Type="http://schemas.openxmlformats.org/officeDocument/2006/relationships/hyperlink" Target="https://www.youtube.com/watch?v=5yb2N3pnztU" TargetMode="External"/><Relationship Id="rId7" Type="http://schemas.openxmlformats.org/officeDocument/2006/relationships/image" Target="../media/image45.png"/><Relationship Id="rId8" Type="http://schemas.openxmlformats.org/officeDocument/2006/relationships/image" Target="../media/image46.jpg"/><Relationship Id="rId9" Type="http://schemas.openxmlformats.org/officeDocument/2006/relationships/hyperlink" Target="https://www.youtube.com/watch?v=-NFhRWhkp7I" TargetMode="External"/><Relationship Id="rId10" Type="http://schemas.openxmlformats.org/officeDocument/2006/relationships/image" Target="../media/image47.png"/><Relationship Id="rId11" Type="http://schemas.openxmlformats.org/officeDocument/2006/relationships/image" Target="../media/image48.jpg"/><Relationship Id="rId12" Type="http://schemas.openxmlformats.org/officeDocument/2006/relationships/hyperlink" Target="https://www.youtube.com/watch?v=Z8xvh9B1JZk" TargetMode="External"/><Relationship Id="rId13" Type="http://schemas.openxmlformats.org/officeDocument/2006/relationships/image" Target="../media/image49.png"/><Relationship Id="rId14" Type="http://schemas.openxmlformats.org/officeDocument/2006/relationships/image" Target="../media/image50.jpg"/><Relationship Id="rId15" Type="http://schemas.openxmlformats.org/officeDocument/2006/relationships/hyperlink" Target="https://www.youtube.com/watch?v=ScWlFcYn_FI" TargetMode="External"/><Relationship Id="rId16"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hyperlink" Target="https://www.youtube.com/watch?v=myP46pO9xsU" TargetMode="External"/><Relationship Id="rId4" Type="http://schemas.openxmlformats.org/officeDocument/2006/relationships/image" Target="../media/image53.png"/><Relationship Id="rId5" Type="http://schemas.openxmlformats.org/officeDocument/2006/relationships/image" Target="../media/image54.jpg"/><Relationship Id="rId6" Type="http://schemas.openxmlformats.org/officeDocument/2006/relationships/hyperlink" Target="https://www.youtube.com/watch?v=2a1YM7MCXng" TargetMode="External"/><Relationship Id="rId7" Type="http://schemas.openxmlformats.org/officeDocument/2006/relationships/image" Target="../media/image55.png"/><Relationship Id="rId8" Type="http://schemas.openxmlformats.org/officeDocument/2006/relationships/image" Target="../media/image56.jpg"/><Relationship Id="rId9" Type="http://schemas.openxmlformats.org/officeDocument/2006/relationships/hyperlink" Target="https://www.youtube.com/watch?v=O2MzSLqlLIs" TargetMode="External"/><Relationship Id="rId10" Type="http://schemas.openxmlformats.org/officeDocument/2006/relationships/image" Target="../media/image57.png"/><Relationship Id="rId11" Type="http://schemas.openxmlformats.org/officeDocument/2006/relationships/image" Target="../media/image58.jpg"/><Relationship Id="rId12" Type="http://schemas.openxmlformats.org/officeDocument/2006/relationships/hyperlink" Target="https://www.youtube.com/watch?v=lyZZdUUM_GM" TargetMode="External"/><Relationship Id="rId13" Type="http://schemas.openxmlformats.org/officeDocument/2006/relationships/image" Target="../media/image59.png"/><Relationship Id="rId14" Type="http://schemas.openxmlformats.org/officeDocument/2006/relationships/image" Target="../media/image60.jpg"/><Relationship Id="rId15" Type="http://schemas.openxmlformats.org/officeDocument/2006/relationships/hyperlink" Target="https://www.youtube.com/watch?v=TYHa-sSFa_s" TargetMode="External"/><Relationship Id="rId16" Type="http://schemas.openxmlformats.org/officeDocument/2006/relationships/image" Target="../media/image6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5943600" cy="1280160"/>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901952"/>
            <a:ext cx="5669280" cy="914400"/>
          </a:xfrm>
          <a:prstGeom prst="rect">
            <a:avLst/>
          </a:prstGeom>
          <a:noFill/>
        </p:spPr>
        <p:txBody>
          <a:bodyPr wrap="none">
            <a:spAutoFit/>
          </a:bodyPr>
          <a:lstStyle/>
          <a:p>
            <a:pPr algn="ctr"/>
            <a:r>
              <a:rPr sz="2800" b="1">
                <a:solidFill>
                  <a:srgbClr val="FFFFFF"/>
                </a:solidFill>
                <a:latin typeface="Arial Black"/>
              </a:rPr>
              <a:t>▶  YouTube トレンド ランキング</a:t>
            </a:r>
          </a:p>
        </p:txBody>
      </p:sp>
      <p:sp>
        <p:nvSpPr>
          <p:cNvPr id="5" name="TextBox 4"/>
          <p:cNvSpPr txBox="1"/>
          <p:nvPr/>
        </p:nvSpPr>
        <p:spPr>
          <a:xfrm>
            <a:off x="274320" y="3246120"/>
            <a:ext cx="5669280" cy="548640"/>
          </a:xfrm>
          <a:prstGeom prst="rect">
            <a:avLst/>
          </a:prstGeom>
          <a:noFill/>
        </p:spPr>
        <p:txBody>
          <a:bodyPr wrap="none">
            <a:spAutoFit/>
          </a:bodyPr>
          <a:lstStyle/>
          <a:p>
            <a:pPr algn="ctr"/>
            <a:r>
              <a:rPr sz="1400" b="0">
                <a:solidFill>
                  <a:srgbClr val="AAAAAA"/>
                </a:solidFill>
                <a:latin typeface="Arial"/>
              </a:rPr>
              <a:t>2026年07月20日  ·  急上昇 TOP 10 発表</a:t>
            </a:r>
          </a:p>
        </p:txBody>
      </p:sp>
      <p:pic>
        <p:nvPicPr>
          <p:cNvPr id="6" name="Picture 5" descr="ezgif_com-animated-gif-maker.gif"/>
          <p:cNvPicPr>
            <a:picLocks noChangeAspect="1"/>
          </p:cNvPicPr>
          <p:nvPr/>
        </p:nvPicPr>
        <p:blipFill>
          <a:blip r:embed="rId2"/>
          <a:stretch>
            <a:fillRect/>
          </a:stretch>
        </p:blipFill>
        <p:spPr>
          <a:xfrm>
            <a:off x="6035040" y="45720"/>
            <a:ext cx="3017520" cy="50520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#10</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https://www.youtube.com/watch?v=84m18TH4LIg</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不幸を招くタイプのノームになって家を荒らしたら人間にブチギレられてトイレに流される【どろぼうノーム】</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らっだぁ</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231,792  👍 8,692  💬 235</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52:03  ·  📅 公開11時間前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公開11時間で急上昇入り！　10万再生突破の話題作　いいね率3.7%と好評価</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#9</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https://www.youtube.com/watch?v=3lOsboT-IWU</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SixTONES – マイオンリー</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SixTONES</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6,270,250  👍 66,841  💬 6,876  📈+57.5%</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4:00  ·  📅 公開58時間前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公開2日で急上昇　500万再生超の超バズ動画　前日比+57.5%と急拡散中</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#8</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https://www.youtube.com/watch?v=ij3AhzPTsBw</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【まとめ】椎名の強みを最大限活かす家族ｗｗｗ（VCR RUST）【叶/椎名/にじさんじ切り抜き】</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白瀬</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132,044  👍 1,922  💬 65</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28:10  ·  📅 公開0時間前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公開0時間で急上昇入り！　10万再生突破の話題作</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#7</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https://www.youtube.com/watch?v=3C0EOqt7sqA</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M!LK - You!Joy!Parade! (Official Music Video)</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M!LK</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3,161,466  👍 103,083  💬 10,761  📈+33.6%</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3:47  ·  📅 公開58時間前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公開2日で急上昇　100万再生超の大ヒット　前日比+33.6%で着実に成長</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#6</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https://www.youtube.com/watch?v=dG4jgfGUt28</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会議に遅刻したすみーをクビ判定するのせさん、女子校に迷い込んだ男の子状態になるころんに爆笑、初日からギャンブル場に集結するぶいすぽメンバーに爆笑するひなーのｗｗ【VCR RUST/橘ひなの/ぶいすぽ】</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ぶいすぽ倉庫</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137,236  👍 1,513  💬 12</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27:47  ·  📅 公開0時間前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公開0時間で急上昇入り！　10万再生突破の話題作</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#5</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https://www.youtube.com/watch?v=xpruiYFMF_g</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乃木坂46『命の色』MUSIC VIDEO</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乃木坂46 OFFICIAL YouTube CHANNEL</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171,516  👍 11,561  💬 1,327</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5:39  ·  📅 公開10時間前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公開10時間で急上昇入り！　10万再生突破の話題作　いいね率6.7%と視聴者の支持が非常に高い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FFFFFF"/>
                </a:solidFill>
                <a:latin typeface="Arial Black"/>
              </a:rPr>
              <a:t>#4</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https://www.youtube.com/watch?v=jE3IpqDEAMY</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#007 『ドラゴンクエストスマッシュグロウ』の新情報を「マル」がお届け！「スマグロ マル秘 レポート」</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ドラゴンクエストスマッシュグロウ公式</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FFFFFF"/>
                </a:solidFill>
                <a:latin typeface="Arial"/>
              </a:rPr>
              <a:t>👁 44,616  👍 518  💬 159</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4:40  ·  📅 公開-6時間前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公開-6時間で急上昇入り！　急上昇中の新興コンテンツ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CD7F32"/>
                </a:solidFill>
                <a:latin typeface="Arial Black"/>
              </a:rPr>
              <a:t>#3</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https://www.youtube.com/watch?v=al6b2aptu7I</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STARGLOW / Drivin' My Life -Official Audio-</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STARGLOW Official</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CD7F32"/>
                </a:solidFill>
                <a:latin typeface="Arial"/>
              </a:rPr>
              <a:t>👁 77,401  👍 8,444  💬 691</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2:55  ·  📅 公開5時間前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公開5時間で急上昇入り！　急上昇中の新興コンテンツ　いいね率10.9%と視聴者の支持が非常に高い</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2286000" cy="777240"/>
          </a:xfrm>
          <a:prstGeom prst="rect">
            <a:avLst/>
          </a:prstGeom>
          <a:noFill/>
        </p:spPr>
        <p:txBody>
          <a:bodyPr wrap="none">
            <a:spAutoFit/>
          </a:bodyPr>
          <a:lstStyle/>
          <a:p>
            <a:pPr algn="l"/>
            <a:r>
              <a:rPr sz="4800" b="1">
                <a:solidFill>
                  <a:srgbClr val="C0C0C0"/>
                </a:solidFill>
                <a:latin typeface="Arial Black"/>
              </a:rPr>
              <a:t>#2</a:t>
            </a:r>
          </a:p>
        </p:txBody>
      </p:sp>
      <p:pic>
        <p:nvPicPr>
          <p:cNvPr id="4" name="Picture 3" descr="image.jpg"/>
          <p:cNvPicPr>
            <a:picLocks noChangeAspect="1"/>
          </p:cNvPicPr>
          <p:nvPr/>
        </p:nvPicPr>
        <p:blipFill>
          <a:blip r:embed="rId2"/>
          <a:stretch>
            <a:fillRect/>
          </a:stretch>
        </p:blipFill>
        <p:spPr>
          <a:xfrm>
            <a:off x="274320" y="868680"/>
            <a:ext cx="3474720" cy="1956816"/>
          </a:xfrm>
          <a:prstGeom prst="rect">
            <a:avLst/>
          </a:prstGeom>
        </p:spPr>
      </p:pic>
      <p:pic>
        <p:nvPicPr>
          <p:cNvPr id="5" name="Picture 4" descr="image.png"/>
          <p:cNvPicPr>
            <a:picLocks noChangeAspect="1"/>
          </p:cNvPicPr>
          <p:nvPr/>
        </p:nvPicPr>
        <p:blipFill>
          <a:blip r:embed="rId3"/>
          <a:stretch>
            <a:fillRect/>
          </a:stretch>
        </p:blipFill>
        <p:spPr>
          <a:xfrm>
            <a:off x="274320" y="2926080"/>
            <a:ext cx="914400" cy="914400"/>
          </a:xfrm>
          <a:prstGeom prst="rect">
            <a:avLst/>
          </a:prstGeom>
        </p:spPr>
      </p:pic>
      <p:sp>
        <p:nvSpPr>
          <p:cNvPr id="6" name="TextBox 5"/>
          <p:cNvSpPr txBox="1"/>
          <p:nvPr/>
        </p:nvSpPr>
        <p:spPr>
          <a:xfrm>
            <a:off x="1280160" y="3063240"/>
            <a:ext cx="2560320" cy="320040"/>
          </a:xfrm>
          <a:prstGeom prst="rect">
            <a:avLst/>
          </a:prstGeom>
          <a:noFill/>
        </p:spPr>
        <p:txBody>
          <a:bodyPr wrap="none">
            <a:spAutoFit/>
          </a:bodyPr>
          <a:lstStyle/>
          <a:p>
            <a:pPr algn="l"/>
            <a:r>
              <a:rPr sz="700" b="0">
                <a:solidFill>
                  <a:srgbClr val="AAAAAA"/>
                </a:solidFill>
                <a:latin typeface="Arial"/>
              </a:rPr>
              <a:t>https://www.youtube.com/watch?v=ArV3RrEElKY</a:t>
            </a:r>
          </a:p>
        </p:txBody>
      </p:sp>
      <p:sp>
        <p:nvSpPr>
          <p:cNvPr id="7" name="TextBox 6"/>
          <p:cNvSpPr txBox="1"/>
          <p:nvPr/>
        </p:nvSpPr>
        <p:spPr>
          <a:xfrm>
            <a:off x="3840480" y="777240"/>
            <a:ext cx="2103120" cy="1371600"/>
          </a:xfrm>
          <a:prstGeom prst="rect">
            <a:avLst/>
          </a:prstGeom>
          <a:noFill/>
        </p:spPr>
        <p:txBody>
          <a:bodyPr wrap="square">
            <a:spAutoFit/>
          </a:bodyPr>
          <a:lstStyle/>
          <a:p>
            <a:pPr algn="l"/>
            <a:r>
              <a:rPr sz="1300" b="1" u="sng">
                <a:solidFill>
                  <a:srgbClr val="FFFFFF"/>
                </a:solidFill>
                <a:latin typeface="Arial"/>
                <a:hlinkClick r:id="rId4"/>
              </a:rPr>
              <a:t>大きさバラバラ！ガチかくれんぼ！【マイクラ】</a:t>
            </a:r>
          </a:p>
        </p:txBody>
      </p:sp>
      <p:sp>
        <p:nvSpPr>
          <p:cNvPr id="8" name="TextBox 7"/>
          <p:cNvSpPr txBox="1"/>
          <p:nvPr/>
        </p:nvSpPr>
        <p:spPr>
          <a:xfrm>
            <a:off x="3840480" y="2240280"/>
            <a:ext cx="2103120" cy="292608"/>
          </a:xfrm>
          <a:prstGeom prst="rect">
            <a:avLst/>
          </a:prstGeom>
          <a:noFill/>
        </p:spPr>
        <p:txBody>
          <a:bodyPr wrap="none">
            <a:spAutoFit/>
          </a:bodyPr>
          <a:lstStyle/>
          <a:p>
            <a:pPr algn="l"/>
            <a:r>
              <a:rPr sz="1000" b="0">
                <a:solidFill>
                  <a:srgbClr val="AAAAAA"/>
                </a:solidFill>
                <a:latin typeface="Arial"/>
              </a:rPr>
              <a:t>📺  ドズル社</a:t>
            </a:r>
          </a:p>
        </p:txBody>
      </p:sp>
      <p:sp>
        <p:nvSpPr>
          <p:cNvPr id="9" name="TextBox 8"/>
          <p:cNvSpPr txBox="1"/>
          <p:nvPr/>
        </p:nvSpPr>
        <p:spPr>
          <a:xfrm>
            <a:off x="3840480" y="2578608"/>
            <a:ext cx="2103120" cy="320040"/>
          </a:xfrm>
          <a:prstGeom prst="rect">
            <a:avLst/>
          </a:prstGeom>
          <a:noFill/>
        </p:spPr>
        <p:txBody>
          <a:bodyPr wrap="none">
            <a:spAutoFit/>
          </a:bodyPr>
          <a:lstStyle/>
          <a:p>
            <a:pPr algn="l"/>
            <a:r>
              <a:rPr sz="1000" b="1">
                <a:solidFill>
                  <a:srgbClr val="C0C0C0"/>
                </a:solidFill>
                <a:latin typeface="Arial"/>
              </a:rPr>
              <a:t>👁 310,315  👍 9,057  💬 244</a:t>
            </a:r>
          </a:p>
        </p:txBody>
      </p:sp>
      <p:sp>
        <p:nvSpPr>
          <p:cNvPr id="10" name="TextBox 9"/>
          <p:cNvSpPr txBox="1"/>
          <p:nvPr/>
        </p:nvSpPr>
        <p:spPr>
          <a:xfrm>
            <a:off x="3840480" y="2944368"/>
            <a:ext cx="2103120" cy="292608"/>
          </a:xfrm>
          <a:prstGeom prst="rect">
            <a:avLst/>
          </a:prstGeom>
          <a:noFill/>
        </p:spPr>
        <p:txBody>
          <a:bodyPr wrap="none">
            <a:spAutoFit/>
          </a:bodyPr>
          <a:lstStyle/>
          <a:p>
            <a:pPr algn="l"/>
            <a:r>
              <a:rPr sz="1000" b="0">
                <a:solidFill>
                  <a:srgbClr val="AAAAAA"/>
                </a:solidFill>
                <a:latin typeface="Arial"/>
              </a:rPr>
              <a:t>⏱ 42:21  ·  📅 公開11時間前</a:t>
            </a:r>
          </a:p>
        </p:txBody>
      </p:sp>
      <p:sp>
        <p:nvSpPr>
          <p:cNvPr id="11" name="TextBox 10"/>
          <p:cNvSpPr txBox="1"/>
          <p:nvPr/>
        </p:nvSpPr>
        <p:spPr>
          <a:xfrm>
            <a:off x="274320" y="3931920"/>
            <a:ext cx="5669280" cy="822960"/>
          </a:xfrm>
          <a:prstGeom prst="rect">
            <a:avLst/>
          </a:prstGeom>
          <a:noFill/>
        </p:spPr>
        <p:txBody>
          <a:bodyPr wrap="square">
            <a:spAutoFit/>
          </a:bodyPr>
          <a:lstStyle/>
          <a:p>
            <a:pPr algn="l"/>
            <a:r>
              <a:rPr sz="1000" b="0">
                <a:solidFill>
                  <a:srgbClr val="4EC9B0"/>
                </a:solidFill>
                <a:latin typeface="Arial"/>
              </a:rPr>
              <a:t>💡 公開11時間で急上昇入り！　10万再生突破の話題作　いいね率2.9%と好評価</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808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29200"/>
            <a:ext cx="9144000" cy="10972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09728"/>
            <a:ext cx="9144000" cy="868680"/>
          </a:xfrm>
          <a:prstGeom prst="rect">
            <a:avLst/>
          </a:prstGeom>
          <a:noFill/>
        </p:spPr>
        <p:txBody>
          <a:bodyPr wrap="none">
            <a:spAutoFit/>
          </a:bodyPr>
          <a:lstStyle/>
          <a:p>
            <a:pPr algn="ctr"/>
            <a:r>
              <a:rPr sz="3600" b="1">
                <a:solidFill>
                  <a:srgbClr val="FFD700"/>
                </a:solidFill>
                <a:latin typeface="Arial Black"/>
              </a:rPr>
              <a:t>🏆  NO. 1  🏆</a:t>
            </a:r>
          </a:p>
        </p:txBody>
      </p:sp>
      <p:pic>
        <p:nvPicPr>
          <p:cNvPr id="6" name="Picture 5" descr="image.jpg"/>
          <p:cNvPicPr>
            <a:picLocks noChangeAspect="1"/>
          </p:cNvPicPr>
          <p:nvPr/>
        </p:nvPicPr>
        <p:blipFill>
          <a:blip r:embed="rId2"/>
          <a:stretch>
            <a:fillRect/>
          </a:stretch>
        </p:blipFill>
        <p:spPr>
          <a:xfrm>
            <a:off x="2286000" y="1024128"/>
            <a:ext cx="4572000" cy="2569464"/>
          </a:xfrm>
          <a:prstGeom prst="rect">
            <a:avLst/>
          </a:prstGeom>
        </p:spPr>
      </p:pic>
      <p:pic>
        <p:nvPicPr>
          <p:cNvPr id="7" name="Picture 6" descr="image.png"/>
          <p:cNvPicPr>
            <a:picLocks noChangeAspect="1"/>
          </p:cNvPicPr>
          <p:nvPr/>
        </p:nvPicPr>
        <p:blipFill>
          <a:blip r:embed="rId3"/>
          <a:stretch>
            <a:fillRect/>
          </a:stretch>
        </p:blipFill>
        <p:spPr>
          <a:xfrm>
            <a:off x="91440" y="3639312"/>
            <a:ext cx="1005840" cy="1005840"/>
          </a:xfrm>
          <a:prstGeom prst="rect">
            <a:avLst/>
          </a:prstGeom>
        </p:spPr>
      </p:pic>
      <p:sp>
        <p:nvSpPr>
          <p:cNvPr id="8" name="TextBox 7"/>
          <p:cNvSpPr txBox="1"/>
          <p:nvPr/>
        </p:nvSpPr>
        <p:spPr>
          <a:xfrm>
            <a:off x="274320" y="3657600"/>
            <a:ext cx="7406640" cy="457200"/>
          </a:xfrm>
          <a:prstGeom prst="rect">
            <a:avLst/>
          </a:prstGeom>
          <a:noFill/>
        </p:spPr>
        <p:txBody>
          <a:bodyPr wrap="square">
            <a:spAutoFit/>
          </a:bodyPr>
          <a:lstStyle/>
          <a:p>
            <a:pPr algn="ctr"/>
            <a:r>
              <a:rPr sz="1400" b="1" u="sng">
                <a:solidFill>
                  <a:srgbClr val="FFFFFF"/>
                </a:solidFill>
                <a:latin typeface="Arial"/>
                <a:hlinkClick r:id="rId4"/>
              </a:rPr>
              <a:t>BTS (방탄소년단) ‘NORMAL’ Official MV</a:t>
            </a:r>
          </a:p>
        </p:txBody>
      </p:sp>
      <p:sp>
        <p:nvSpPr>
          <p:cNvPr id="9" name="TextBox 8"/>
          <p:cNvSpPr txBox="1"/>
          <p:nvPr/>
        </p:nvSpPr>
        <p:spPr>
          <a:xfrm>
            <a:off x="274320" y="4160520"/>
            <a:ext cx="7406640" cy="292608"/>
          </a:xfrm>
          <a:prstGeom prst="rect">
            <a:avLst/>
          </a:prstGeom>
          <a:noFill/>
        </p:spPr>
        <p:txBody>
          <a:bodyPr wrap="none">
            <a:spAutoFit/>
          </a:bodyPr>
          <a:lstStyle/>
          <a:p>
            <a:pPr algn="ctr"/>
            <a:r>
              <a:rPr sz="1100" b="0">
                <a:solidFill>
                  <a:srgbClr val="FFD700"/>
                </a:solidFill>
                <a:latin typeface="Arial"/>
              </a:rPr>
              <a:t>👁 4,647,817  👍 875,650  💬 47,855  ⏱ 3:27  📅 公開16時間前</a:t>
            </a:r>
          </a:p>
        </p:txBody>
      </p:sp>
      <p:sp>
        <p:nvSpPr>
          <p:cNvPr id="10" name="TextBox 9"/>
          <p:cNvSpPr txBox="1"/>
          <p:nvPr/>
        </p:nvSpPr>
        <p:spPr>
          <a:xfrm>
            <a:off x="274320" y="4498848"/>
            <a:ext cx="7406640" cy="292608"/>
          </a:xfrm>
          <a:prstGeom prst="rect">
            <a:avLst/>
          </a:prstGeom>
          <a:noFill/>
        </p:spPr>
        <p:txBody>
          <a:bodyPr wrap="square">
            <a:spAutoFit/>
          </a:bodyPr>
          <a:lstStyle/>
          <a:p>
            <a:pPr algn="ctr"/>
            <a:r>
              <a:rPr sz="1000" b="0">
                <a:solidFill>
                  <a:srgbClr val="4EC9B0"/>
                </a:solidFill>
                <a:latin typeface="Arial"/>
              </a:rPr>
              <a:t>💡 公開16時間で急上昇入り！　100万再生超の大ヒット　いいね率18.8%と視聴者の支持が非常に高い</a:t>
            </a:r>
          </a:p>
        </p:txBody>
      </p:sp>
      <p:sp>
        <p:nvSpPr>
          <p:cNvPr id="11" name="TextBox 10"/>
          <p:cNvSpPr txBox="1"/>
          <p:nvPr/>
        </p:nvSpPr>
        <p:spPr>
          <a:xfrm>
            <a:off x="274320" y="4828032"/>
            <a:ext cx="7406640" cy="228600"/>
          </a:xfrm>
          <a:prstGeom prst="rect">
            <a:avLst/>
          </a:prstGeom>
          <a:noFill/>
        </p:spPr>
        <p:txBody>
          <a:bodyPr wrap="none">
            <a:spAutoFit/>
          </a:bodyPr>
          <a:lstStyle/>
          <a:p>
            <a:pPr algn="ctr"/>
            <a:r>
              <a:rPr sz="700" b="0">
                <a:solidFill>
                  <a:srgbClr val="AAAAAA"/>
                </a:solidFill>
                <a:latin typeface="Arial"/>
              </a:rPr>
              <a:t>https://www.youtube.com/watch?v=GEk4jHwfFTA</a:t>
            </a:r>
          </a:p>
        </p:txBody>
      </p:sp>
      <p:pic>
        <p:nvPicPr>
          <p:cNvPr id="12" name="Picture 11" descr="ezgif_com-animated-gif-maker.gif"/>
          <p:cNvPicPr>
            <a:picLocks noChangeAspect="1"/>
          </p:cNvPicPr>
          <p:nvPr/>
        </p:nvPicPr>
        <p:blipFill>
          <a:blip r:embed="rId5"/>
          <a:stretch>
            <a:fillRect/>
          </a:stretch>
        </p:blipFill>
        <p:spPr>
          <a:xfrm>
            <a:off x="6035040" y="45720"/>
            <a:ext cx="3017520" cy="50520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エンタメ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🔴LIVE: 24 HOURS+ Bluey Episodes in HD! ✨ 💙…</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Bluey - Official Channel  👁 22,421,393  👍 56,175  ⏱ 不明  📅 2026-04-02</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https://www.youtube.com/watch?v=RHUauMcYlX0</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いや勝つんかいw　 #おもしろ #エンタメ #ネタ #バズれ #shorts</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やっさん2  👁 19,158,969  👍 157,907  ⏱ 0:10  📅 2025-08-09</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https://www.youtube.com/watch?v=fBQOV3jiST0</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[🔴LIVE]  깔깔티비 💫1박2일💫 화질UP 🔥24시간 무한 스트리밍🔥 ㅣ…</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KBS Entertain: 깔깔티비  👁 18,684,378  👍 10,747  ⏱ 不明  📅 2025-04-07</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https://www.youtube.com/watch?v=P8QordVAUyU</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 LIVE! 24 HOURS Mickey Mouse Full Episode…</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Disney Jr.   👁 14,703,941  👍 22,894  ⏱ 不明  📅 2026-01-09</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https://www.youtube.com/watch?v=yHmPWzkhcZ8</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無反応挑戦　w#おもしろ＃おもしろ動画＃エンタメ#お笑い#バラエティ#テレビ#バズれ…</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ネタ秒  👁 14,609,886  👍 41,707  ⏱ 0:17  📅 2025-09-26</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https://www.youtube.com/watch?v=9nXbYZL8V9E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ゲーム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見たことの無い落ち方をする配信者#葉 #ゲーム実況 #切り抜き #onlyup</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葉ちゅべ  👁 21,294,435  👍 383,067  ⏱ 0:38  📅 2023-07-07</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https://www.youtube.com/watch?v=0cjKg-Z3xak</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感動のダブルスイカ‼️ #スイカゲーム #ゲーム実況 #サワヤンゲームズ</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にこみチャンネル  👁 20,454,427  👍 362,224  ⏱ 0:59  📅 2023-12-22</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https://www.youtube.com/watch?v=mhCy0IgobIw</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全部ひっかかる人【しょぼんのアクション3D】 #ゲーム実況</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タン  👁 19,813,188  👍 389,558  ⏱ 1:00  📅 2023-09-28</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https://www.youtube.com/watch?v=XGbduoPa_-0</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デビルレベルpart9 #switch2 #ゲーム実況 #shorts</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ぐりげんの南極第二拠点  👁 16,603,783  👍 195,170  ⏱ 1:02  📅 2025-08-18</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https://www.youtube.com/watch?v=1JT-CjiNVok</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頭に丸いのをはめまくった結果【 Layer Man 】</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タコボンド  👁 15,393,941  👍 35,031  ⏱ 9:11  📅 2023-02-28</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https://www.youtube.com/watch?v=pgRJnPQHeiQ</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アニメ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YOASOBI「勇者」 Official Music Video／TVアニメ『葬送の…</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YOASOBI  👁 219,202,535  👍 1,220,515  ⏱ 3:24  📅 2023-09-29</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https://www.youtube.com/watch?v=OIBODIPC_8Y</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TVアニメ『呪術廻戦』第2期「渋谷事変」ノンクレジットOPムービー／OPテーマ：Ki…</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TOHO animation チャンネル  👁 161,492,870  👍 0  ⏱ 1:31  📅 2023-09-01</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https://www.youtube.com/watch?v=5yb2N3pnztU</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Mrs. GREEN APPLE「ライラック」MV - TVアニメ『忘却バッテリー』…</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Mrs. GREEN APPLE  👁 55,423,100  👍 182,399  ⏱ 4:53  📅 2024-07-04</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https://www.youtube.com/watch?v=-NFhRWhkp7I</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ピンポン玉チャレンジLv100【アニメ】</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ゆずざくろ  👁 54,299,612  👍 196,091  ⏱ 0:22  📅 2026-06-08</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https://www.youtube.com/watch?v=Z8xvh9B1JZk</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アイナ・ジ・エンド / 革命道中 - On The Way × TVアニメ『ダンダダ…</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アイナ・ジ・エンド Official  👁 47,447,692  👍 194,576  ⏱ 3:22  📅 2025-08-20</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https://www.youtube.com/watch?v=ScWlFcYn_FI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F0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502920"/>
          </a:xfrm>
          <a:prstGeom prst="rect">
            <a:avLst/>
          </a:prstGeom>
          <a:noFill/>
        </p:spPr>
        <p:txBody>
          <a:bodyPr wrap="none">
            <a:spAutoFit/>
          </a:bodyPr>
          <a:lstStyle/>
          <a:p>
            <a:pPr algn="l"/>
            <a:r>
              <a:rPr sz="2200" b="1">
                <a:solidFill>
                  <a:srgbClr val="FFFFFF"/>
                </a:solidFill>
                <a:latin typeface="Arial Black"/>
              </a:rPr>
              <a:t>🍿 映画 人気動画 TOP 5</a:t>
            </a:r>
          </a:p>
        </p:txBody>
      </p:sp>
      <p:sp>
        <p:nvSpPr>
          <p:cNvPr id="4" name="Rectangle 3"/>
          <p:cNvSpPr/>
          <p:nvPr/>
        </p:nvSpPr>
        <p:spPr>
          <a:xfrm>
            <a:off x="274320" y="749808"/>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jpg"/>
          <p:cNvPicPr>
            <a:picLocks noChangeAspect="1"/>
          </p:cNvPicPr>
          <p:nvPr/>
        </p:nvPicPr>
        <p:blipFill>
          <a:blip r:embed="rId2"/>
          <a:stretch>
            <a:fillRect/>
          </a:stretch>
        </p:blipFill>
        <p:spPr>
          <a:xfrm>
            <a:off x="320040" y="749808"/>
            <a:ext cx="1737360" cy="978408"/>
          </a:xfrm>
          <a:prstGeom prst="rect">
            <a:avLst/>
          </a:prstGeom>
        </p:spPr>
      </p:pic>
      <p:sp>
        <p:nvSpPr>
          <p:cNvPr id="6" name="TextBox 5"/>
          <p:cNvSpPr txBox="1"/>
          <p:nvPr/>
        </p:nvSpPr>
        <p:spPr>
          <a:xfrm>
            <a:off x="2194560" y="786384"/>
            <a:ext cx="548640" cy="365760"/>
          </a:xfrm>
          <a:prstGeom prst="rect">
            <a:avLst/>
          </a:prstGeom>
          <a:noFill/>
        </p:spPr>
        <p:txBody>
          <a:bodyPr wrap="none">
            <a:spAutoFit/>
          </a:bodyPr>
          <a:lstStyle/>
          <a:p>
            <a:pPr algn="l"/>
            <a:r>
              <a:rPr sz="1500" b="1">
                <a:solidFill>
                  <a:srgbClr val="FFD700"/>
                </a:solidFill>
                <a:latin typeface="Arial Black"/>
              </a:rPr>
              <a:t>#1</a:t>
            </a:r>
          </a:p>
        </p:txBody>
      </p:sp>
      <p:sp>
        <p:nvSpPr>
          <p:cNvPr id="7" name="TextBox 6"/>
          <p:cNvSpPr txBox="1"/>
          <p:nvPr/>
        </p:nvSpPr>
        <p:spPr>
          <a:xfrm>
            <a:off x="2697480" y="786384"/>
            <a:ext cx="5212080" cy="347472"/>
          </a:xfrm>
          <a:prstGeom prst="rect">
            <a:avLst/>
          </a:prstGeom>
          <a:noFill/>
        </p:spPr>
        <p:txBody>
          <a:bodyPr wrap="square">
            <a:spAutoFit/>
          </a:bodyPr>
          <a:lstStyle/>
          <a:p>
            <a:pPr algn="l"/>
            <a:r>
              <a:rPr sz="1200" b="1" u="sng">
                <a:solidFill>
                  <a:srgbClr val="FFFFFF"/>
                </a:solidFill>
                <a:latin typeface="Arial"/>
                <a:hlinkClick r:id="rId3"/>
              </a:rPr>
              <a:t>ってるワイフ#film #映画レビュー #映画紹介 #映画 #映画解説 #ドラマ #…</a:t>
            </a:r>
          </a:p>
        </p:txBody>
      </p:sp>
      <p:pic>
        <p:nvPicPr>
          <p:cNvPr id="8" name="Picture 7" descr="image.png"/>
          <p:cNvPicPr>
            <a:picLocks noChangeAspect="1"/>
          </p:cNvPicPr>
          <p:nvPr/>
        </p:nvPicPr>
        <p:blipFill>
          <a:blip r:embed="rId4"/>
          <a:stretch>
            <a:fillRect/>
          </a:stretch>
        </p:blipFill>
        <p:spPr>
          <a:xfrm>
            <a:off x="8046720" y="804672"/>
            <a:ext cx="685800" cy="685800"/>
          </a:xfrm>
          <a:prstGeom prst="rect">
            <a:avLst/>
          </a:prstGeom>
        </p:spPr>
      </p:pic>
      <p:sp>
        <p:nvSpPr>
          <p:cNvPr id="9" name="TextBox 8"/>
          <p:cNvSpPr txBox="1"/>
          <p:nvPr/>
        </p:nvSpPr>
        <p:spPr>
          <a:xfrm>
            <a:off x="2697480" y="1207008"/>
            <a:ext cx="5212080" cy="292608"/>
          </a:xfrm>
          <a:prstGeom prst="rect">
            <a:avLst/>
          </a:prstGeom>
          <a:noFill/>
        </p:spPr>
        <p:txBody>
          <a:bodyPr wrap="none">
            <a:spAutoFit/>
          </a:bodyPr>
          <a:lstStyle/>
          <a:p>
            <a:pPr algn="l"/>
            <a:r>
              <a:rPr sz="1000" b="0">
                <a:solidFill>
                  <a:srgbClr val="AAAAAA"/>
                </a:solidFill>
                <a:latin typeface="Arial"/>
              </a:rPr>
              <a:t>📺 slin映画館  👁 7,382,697  👍 106,506  ⏱ 2:59  📅 2025-06-30</a:t>
            </a:r>
          </a:p>
        </p:txBody>
      </p:sp>
      <p:sp>
        <p:nvSpPr>
          <p:cNvPr id="10" name="TextBox 9"/>
          <p:cNvSpPr txBox="1"/>
          <p:nvPr/>
        </p:nvSpPr>
        <p:spPr>
          <a:xfrm>
            <a:off x="2697480" y="1389888"/>
            <a:ext cx="5212080" cy="201168"/>
          </a:xfrm>
          <a:prstGeom prst="rect">
            <a:avLst/>
          </a:prstGeom>
          <a:noFill/>
        </p:spPr>
        <p:txBody>
          <a:bodyPr wrap="none">
            <a:spAutoFit/>
          </a:bodyPr>
          <a:lstStyle/>
          <a:p>
            <a:pPr algn="l"/>
            <a:r>
              <a:rPr sz="700" b="0">
                <a:solidFill>
                  <a:srgbClr val="666666"/>
                </a:solidFill>
                <a:latin typeface="Arial"/>
              </a:rPr>
              <a:t>https://www.youtube.com/watch?v=myP46pO9xsU</a:t>
            </a:r>
          </a:p>
        </p:txBody>
      </p:sp>
      <p:sp>
        <p:nvSpPr>
          <p:cNvPr id="11" name="Rectangle 10"/>
          <p:cNvSpPr/>
          <p:nvPr/>
        </p:nvSpPr>
        <p:spPr>
          <a:xfrm>
            <a:off x="274320" y="1627632"/>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jpg"/>
          <p:cNvPicPr>
            <a:picLocks noChangeAspect="1"/>
          </p:cNvPicPr>
          <p:nvPr/>
        </p:nvPicPr>
        <p:blipFill>
          <a:blip r:embed="rId5"/>
          <a:stretch>
            <a:fillRect/>
          </a:stretch>
        </p:blipFill>
        <p:spPr>
          <a:xfrm>
            <a:off x="320040" y="1627632"/>
            <a:ext cx="1737360" cy="978408"/>
          </a:xfrm>
          <a:prstGeom prst="rect">
            <a:avLst/>
          </a:prstGeom>
        </p:spPr>
      </p:pic>
      <p:sp>
        <p:nvSpPr>
          <p:cNvPr id="13" name="TextBox 12"/>
          <p:cNvSpPr txBox="1"/>
          <p:nvPr/>
        </p:nvSpPr>
        <p:spPr>
          <a:xfrm>
            <a:off x="2194560" y="1664208"/>
            <a:ext cx="548640" cy="365760"/>
          </a:xfrm>
          <a:prstGeom prst="rect">
            <a:avLst/>
          </a:prstGeom>
          <a:noFill/>
        </p:spPr>
        <p:txBody>
          <a:bodyPr wrap="none">
            <a:spAutoFit/>
          </a:bodyPr>
          <a:lstStyle/>
          <a:p>
            <a:pPr algn="l"/>
            <a:r>
              <a:rPr sz="1500" b="1">
                <a:solidFill>
                  <a:srgbClr val="C0C0C0"/>
                </a:solidFill>
                <a:latin typeface="Arial Black"/>
              </a:rPr>
              <a:t>#2</a:t>
            </a:r>
          </a:p>
        </p:txBody>
      </p:sp>
      <p:sp>
        <p:nvSpPr>
          <p:cNvPr id="14" name="TextBox 13"/>
          <p:cNvSpPr txBox="1"/>
          <p:nvPr/>
        </p:nvSpPr>
        <p:spPr>
          <a:xfrm>
            <a:off x="2697480" y="1664208"/>
            <a:ext cx="5212080" cy="347472"/>
          </a:xfrm>
          <a:prstGeom prst="rect">
            <a:avLst/>
          </a:prstGeom>
          <a:noFill/>
        </p:spPr>
        <p:txBody>
          <a:bodyPr wrap="square">
            <a:spAutoFit/>
          </a:bodyPr>
          <a:lstStyle/>
          <a:p>
            <a:pPr algn="l"/>
            <a:r>
              <a:rPr sz="1200" b="1" u="sng">
                <a:solidFill>
                  <a:srgbClr val="FFFFFF"/>
                </a:solidFill>
                <a:latin typeface="Arial"/>
                <a:hlinkClick r:id="rId6"/>
              </a:rPr>
              <a:t>歌舞伎町タワーの日本一高い映画館「109シネマズプレミアム新宿」を正直レビュー！</a:t>
            </a:r>
          </a:p>
        </p:txBody>
      </p:sp>
      <p:pic>
        <p:nvPicPr>
          <p:cNvPr id="15" name="Picture 14" descr="image.png"/>
          <p:cNvPicPr>
            <a:picLocks noChangeAspect="1"/>
          </p:cNvPicPr>
          <p:nvPr/>
        </p:nvPicPr>
        <p:blipFill>
          <a:blip r:embed="rId7"/>
          <a:stretch>
            <a:fillRect/>
          </a:stretch>
        </p:blipFill>
        <p:spPr>
          <a:xfrm>
            <a:off x="8046720" y="1682496"/>
            <a:ext cx="685800" cy="685800"/>
          </a:xfrm>
          <a:prstGeom prst="rect">
            <a:avLst/>
          </a:prstGeom>
        </p:spPr>
      </p:pic>
      <p:sp>
        <p:nvSpPr>
          <p:cNvPr id="16" name="TextBox 15"/>
          <p:cNvSpPr txBox="1"/>
          <p:nvPr/>
        </p:nvSpPr>
        <p:spPr>
          <a:xfrm>
            <a:off x="2697480" y="2084832"/>
            <a:ext cx="5212080" cy="292608"/>
          </a:xfrm>
          <a:prstGeom prst="rect">
            <a:avLst/>
          </a:prstGeom>
          <a:noFill/>
        </p:spPr>
        <p:txBody>
          <a:bodyPr wrap="none">
            <a:spAutoFit/>
          </a:bodyPr>
          <a:lstStyle/>
          <a:p>
            <a:pPr algn="l"/>
            <a:r>
              <a:rPr sz="1000" b="0">
                <a:solidFill>
                  <a:srgbClr val="AAAAAA"/>
                </a:solidFill>
                <a:latin typeface="Arial"/>
              </a:rPr>
              <a:t>📺 正直レビュー 🍰🍛  👁 6,830,497  👍 119,664  ⏱ 1:00  📅 2025-03-15</a:t>
            </a:r>
          </a:p>
        </p:txBody>
      </p:sp>
      <p:sp>
        <p:nvSpPr>
          <p:cNvPr id="17" name="TextBox 16"/>
          <p:cNvSpPr txBox="1"/>
          <p:nvPr/>
        </p:nvSpPr>
        <p:spPr>
          <a:xfrm>
            <a:off x="2697480" y="2267712"/>
            <a:ext cx="5212080" cy="201168"/>
          </a:xfrm>
          <a:prstGeom prst="rect">
            <a:avLst/>
          </a:prstGeom>
          <a:noFill/>
        </p:spPr>
        <p:txBody>
          <a:bodyPr wrap="none">
            <a:spAutoFit/>
          </a:bodyPr>
          <a:lstStyle/>
          <a:p>
            <a:pPr algn="l"/>
            <a:r>
              <a:rPr sz="700" b="0">
                <a:solidFill>
                  <a:srgbClr val="666666"/>
                </a:solidFill>
                <a:latin typeface="Arial"/>
              </a:rPr>
              <a:t>https://www.youtube.com/watch?v=2a1YM7MCXng</a:t>
            </a:r>
          </a:p>
        </p:txBody>
      </p:sp>
      <p:sp>
        <p:nvSpPr>
          <p:cNvPr id="18" name="Rectangle 17"/>
          <p:cNvSpPr/>
          <p:nvPr/>
        </p:nvSpPr>
        <p:spPr>
          <a:xfrm>
            <a:off x="274320" y="2505456"/>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8"/>
          <a:stretch>
            <a:fillRect/>
          </a:stretch>
        </p:blipFill>
        <p:spPr>
          <a:xfrm>
            <a:off x="320040" y="2505456"/>
            <a:ext cx="1737360" cy="978408"/>
          </a:xfrm>
          <a:prstGeom prst="rect">
            <a:avLst/>
          </a:prstGeom>
        </p:spPr>
      </p:pic>
      <p:sp>
        <p:nvSpPr>
          <p:cNvPr id="20" name="TextBox 19"/>
          <p:cNvSpPr txBox="1"/>
          <p:nvPr/>
        </p:nvSpPr>
        <p:spPr>
          <a:xfrm>
            <a:off x="2194560" y="2542032"/>
            <a:ext cx="548640" cy="365760"/>
          </a:xfrm>
          <a:prstGeom prst="rect">
            <a:avLst/>
          </a:prstGeom>
          <a:noFill/>
        </p:spPr>
        <p:txBody>
          <a:bodyPr wrap="none">
            <a:spAutoFit/>
          </a:bodyPr>
          <a:lstStyle/>
          <a:p>
            <a:pPr algn="l"/>
            <a:r>
              <a:rPr sz="1500" b="1">
                <a:solidFill>
                  <a:srgbClr val="CD7F32"/>
                </a:solidFill>
                <a:latin typeface="Arial Black"/>
              </a:rPr>
              <a:t>#3</a:t>
            </a:r>
          </a:p>
        </p:txBody>
      </p:sp>
      <p:sp>
        <p:nvSpPr>
          <p:cNvPr id="21" name="TextBox 20"/>
          <p:cNvSpPr txBox="1"/>
          <p:nvPr/>
        </p:nvSpPr>
        <p:spPr>
          <a:xfrm>
            <a:off x="2697480" y="2542032"/>
            <a:ext cx="5212080" cy="347472"/>
          </a:xfrm>
          <a:prstGeom prst="rect">
            <a:avLst/>
          </a:prstGeom>
          <a:noFill/>
        </p:spPr>
        <p:txBody>
          <a:bodyPr wrap="square">
            <a:spAutoFit/>
          </a:bodyPr>
          <a:lstStyle/>
          <a:p>
            <a:pPr algn="l"/>
            <a:r>
              <a:rPr sz="1200" b="1" u="sng">
                <a:solidFill>
                  <a:srgbClr val="FFFFFF"/>
                </a:solidFill>
                <a:latin typeface="Arial"/>
                <a:hlinkClick r:id="rId9"/>
              </a:rPr>
              <a:t>【残酷】衝撃の妊娠・出産アニメ3選 #shorts #アニメ #紹介 #感想 #an…</a:t>
            </a:r>
          </a:p>
        </p:txBody>
      </p:sp>
      <p:pic>
        <p:nvPicPr>
          <p:cNvPr id="22" name="Picture 21" descr="image.png"/>
          <p:cNvPicPr>
            <a:picLocks noChangeAspect="1"/>
          </p:cNvPicPr>
          <p:nvPr/>
        </p:nvPicPr>
        <p:blipFill>
          <a:blip r:embed="rId10"/>
          <a:stretch>
            <a:fillRect/>
          </a:stretch>
        </p:blipFill>
        <p:spPr>
          <a:xfrm>
            <a:off x="8046720" y="2560320"/>
            <a:ext cx="685800" cy="685800"/>
          </a:xfrm>
          <a:prstGeom prst="rect">
            <a:avLst/>
          </a:prstGeom>
        </p:spPr>
      </p:pic>
      <p:sp>
        <p:nvSpPr>
          <p:cNvPr id="23" name="TextBox 22"/>
          <p:cNvSpPr txBox="1"/>
          <p:nvPr/>
        </p:nvSpPr>
        <p:spPr>
          <a:xfrm>
            <a:off x="2697480" y="2962656"/>
            <a:ext cx="5212080" cy="292608"/>
          </a:xfrm>
          <a:prstGeom prst="rect">
            <a:avLst/>
          </a:prstGeom>
          <a:noFill/>
        </p:spPr>
        <p:txBody>
          <a:bodyPr wrap="none">
            <a:spAutoFit/>
          </a:bodyPr>
          <a:lstStyle/>
          <a:p>
            <a:pPr algn="l"/>
            <a:r>
              <a:rPr sz="1000" b="0">
                <a:solidFill>
                  <a:srgbClr val="AAAAAA"/>
                </a:solidFill>
                <a:latin typeface="Arial"/>
              </a:rPr>
              <a:t>📺 ゆっくりアニメ  👁 6,474,278  👍 95,268  ⏱ 0:47  📅 2025-03-01</a:t>
            </a:r>
          </a:p>
        </p:txBody>
      </p:sp>
      <p:sp>
        <p:nvSpPr>
          <p:cNvPr id="24" name="TextBox 23"/>
          <p:cNvSpPr txBox="1"/>
          <p:nvPr/>
        </p:nvSpPr>
        <p:spPr>
          <a:xfrm>
            <a:off x="2697480" y="3145536"/>
            <a:ext cx="5212080" cy="201168"/>
          </a:xfrm>
          <a:prstGeom prst="rect">
            <a:avLst/>
          </a:prstGeom>
          <a:noFill/>
        </p:spPr>
        <p:txBody>
          <a:bodyPr wrap="none">
            <a:spAutoFit/>
          </a:bodyPr>
          <a:lstStyle/>
          <a:p>
            <a:pPr algn="l"/>
            <a:r>
              <a:rPr sz="700" b="0">
                <a:solidFill>
                  <a:srgbClr val="666666"/>
                </a:solidFill>
                <a:latin typeface="Arial"/>
              </a:rPr>
              <a:t>https://www.youtube.com/watch?v=O2MzSLqlLIs</a:t>
            </a:r>
          </a:p>
        </p:txBody>
      </p:sp>
      <p:sp>
        <p:nvSpPr>
          <p:cNvPr id="25" name="Rectangle 24"/>
          <p:cNvSpPr/>
          <p:nvPr/>
        </p:nvSpPr>
        <p:spPr>
          <a:xfrm>
            <a:off x="274320" y="3383280"/>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jpg"/>
          <p:cNvPicPr>
            <a:picLocks noChangeAspect="1"/>
          </p:cNvPicPr>
          <p:nvPr/>
        </p:nvPicPr>
        <p:blipFill>
          <a:blip r:embed="rId11"/>
          <a:stretch>
            <a:fillRect/>
          </a:stretch>
        </p:blipFill>
        <p:spPr>
          <a:xfrm>
            <a:off x="320040" y="3383280"/>
            <a:ext cx="1737360" cy="978408"/>
          </a:xfrm>
          <a:prstGeom prst="rect">
            <a:avLst/>
          </a:prstGeom>
        </p:spPr>
      </p:pic>
      <p:sp>
        <p:nvSpPr>
          <p:cNvPr id="27" name="TextBox 26"/>
          <p:cNvSpPr txBox="1"/>
          <p:nvPr/>
        </p:nvSpPr>
        <p:spPr>
          <a:xfrm>
            <a:off x="2194560" y="3419856"/>
            <a:ext cx="548640" cy="365760"/>
          </a:xfrm>
          <a:prstGeom prst="rect">
            <a:avLst/>
          </a:prstGeom>
          <a:noFill/>
        </p:spPr>
        <p:txBody>
          <a:bodyPr wrap="none">
            <a:spAutoFit/>
          </a:bodyPr>
          <a:lstStyle/>
          <a:p>
            <a:pPr algn="l"/>
            <a:r>
              <a:rPr sz="1500" b="1">
                <a:solidFill>
                  <a:srgbClr val="AAAAAA"/>
                </a:solidFill>
                <a:latin typeface="Arial Black"/>
              </a:rPr>
              <a:t>#4</a:t>
            </a:r>
          </a:p>
        </p:txBody>
      </p:sp>
      <p:sp>
        <p:nvSpPr>
          <p:cNvPr id="28" name="TextBox 27"/>
          <p:cNvSpPr txBox="1"/>
          <p:nvPr/>
        </p:nvSpPr>
        <p:spPr>
          <a:xfrm>
            <a:off x="2697480" y="3419856"/>
            <a:ext cx="5212080" cy="347472"/>
          </a:xfrm>
          <a:prstGeom prst="rect">
            <a:avLst/>
          </a:prstGeom>
          <a:noFill/>
        </p:spPr>
        <p:txBody>
          <a:bodyPr wrap="square">
            <a:spAutoFit/>
          </a:bodyPr>
          <a:lstStyle/>
          <a:p>
            <a:pPr algn="l"/>
            <a:r>
              <a:rPr sz="1200" b="1" u="sng">
                <a:solidFill>
                  <a:srgbClr val="FFFFFF"/>
                </a:solidFill>
                <a:latin typeface="Arial"/>
                <a:hlinkClick r:id="rId12"/>
              </a:rPr>
              <a:t>シンクロ率100％だった映画『Michael』の裏側</a:t>
            </a:r>
          </a:p>
        </p:txBody>
      </p:sp>
      <p:pic>
        <p:nvPicPr>
          <p:cNvPr id="29" name="Picture 28" descr="image.png"/>
          <p:cNvPicPr>
            <a:picLocks noChangeAspect="1"/>
          </p:cNvPicPr>
          <p:nvPr/>
        </p:nvPicPr>
        <p:blipFill>
          <a:blip r:embed="rId13"/>
          <a:stretch>
            <a:fillRect/>
          </a:stretch>
        </p:blipFill>
        <p:spPr>
          <a:xfrm>
            <a:off x="8046720" y="3438144"/>
            <a:ext cx="685800" cy="685800"/>
          </a:xfrm>
          <a:prstGeom prst="rect">
            <a:avLst/>
          </a:prstGeom>
        </p:spPr>
      </p:pic>
      <p:sp>
        <p:nvSpPr>
          <p:cNvPr id="30" name="TextBox 29"/>
          <p:cNvSpPr txBox="1"/>
          <p:nvPr/>
        </p:nvSpPr>
        <p:spPr>
          <a:xfrm>
            <a:off x="2697480" y="3840480"/>
            <a:ext cx="5212080" cy="292608"/>
          </a:xfrm>
          <a:prstGeom prst="rect">
            <a:avLst/>
          </a:prstGeom>
          <a:noFill/>
        </p:spPr>
        <p:txBody>
          <a:bodyPr wrap="none">
            <a:spAutoFit/>
          </a:bodyPr>
          <a:lstStyle/>
          <a:p>
            <a:pPr algn="l"/>
            <a:r>
              <a:rPr sz="1000" b="0">
                <a:solidFill>
                  <a:srgbClr val="AAAAAA"/>
                </a:solidFill>
                <a:latin typeface="Arial"/>
              </a:rPr>
              <a:t>📺 フィルムチェーン  👁 6,224,411  👍 96,938  ⏱ 0:56  📅 2026-05-18</a:t>
            </a:r>
          </a:p>
        </p:txBody>
      </p:sp>
      <p:sp>
        <p:nvSpPr>
          <p:cNvPr id="31" name="TextBox 30"/>
          <p:cNvSpPr txBox="1"/>
          <p:nvPr/>
        </p:nvSpPr>
        <p:spPr>
          <a:xfrm>
            <a:off x="2697480" y="4023360"/>
            <a:ext cx="5212080" cy="201168"/>
          </a:xfrm>
          <a:prstGeom prst="rect">
            <a:avLst/>
          </a:prstGeom>
          <a:noFill/>
        </p:spPr>
        <p:txBody>
          <a:bodyPr wrap="none">
            <a:spAutoFit/>
          </a:bodyPr>
          <a:lstStyle/>
          <a:p>
            <a:pPr algn="l"/>
            <a:r>
              <a:rPr sz="700" b="0">
                <a:solidFill>
                  <a:srgbClr val="666666"/>
                </a:solidFill>
                <a:latin typeface="Arial"/>
              </a:rPr>
              <a:t>https://www.youtube.com/watch?v=lyZZdUUM_GM</a:t>
            </a:r>
          </a:p>
        </p:txBody>
      </p:sp>
      <p:sp>
        <p:nvSpPr>
          <p:cNvPr id="32" name="Rectangle 31"/>
          <p:cNvSpPr/>
          <p:nvPr/>
        </p:nvSpPr>
        <p:spPr>
          <a:xfrm>
            <a:off x="274320" y="4261104"/>
            <a:ext cx="8595360" cy="804672"/>
          </a:xfrm>
          <a:prstGeom prst="rect">
            <a:avLst/>
          </a:prstGeom>
          <a:solidFill>
            <a:srgbClr val="1E1E1E"/>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jpg"/>
          <p:cNvPicPr>
            <a:picLocks noChangeAspect="1"/>
          </p:cNvPicPr>
          <p:nvPr/>
        </p:nvPicPr>
        <p:blipFill>
          <a:blip r:embed="rId14"/>
          <a:stretch>
            <a:fillRect/>
          </a:stretch>
        </p:blipFill>
        <p:spPr>
          <a:xfrm>
            <a:off x="320040" y="4261104"/>
            <a:ext cx="1737360" cy="978408"/>
          </a:xfrm>
          <a:prstGeom prst="rect">
            <a:avLst/>
          </a:prstGeom>
        </p:spPr>
      </p:pic>
      <p:sp>
        <p:nvSpPr>
          <p:cNvPr id="34" name="TextBox 33"/>
          <p:cNvSpPr txBox="1"/>
          <p:nvPr/>
        </p:nvSpPr>
        <p:spPr>
          <a:xfrm>
            <a:off x="2194560" y="4297680"/>
            <a:ext cx="548640" cy="365760"/>
          </a:xfrm>
          <a:prstGeom prst="rect">
            <a:avLst/>
          </a:prstGeom>
          <a:noFill/>
        </p:spPr>
        <p:txBody>
          <a:bodyPr wrap="none">
            <a:spAutoFit/>
          </a:bodyPr>
          <a:lstStyle/>
          <a:p>
            <a:pPr algn="l"/>
            <a:r>
              <a:rPr sz="1500" b="1">
                <a:solidFill>
                  <a:srgbClr val="AAAAAA"/>
                </a:solidFill>
                <a:latin typeface="Arial Black"/>
              </a:rPr>
              <a:t>#5</a:t>
            </a:r>
          </a:p>
        </p:txBody>
      </p:sp>
      <p:sp>
        <p:nvSpPr>
          <p:cNvPr id="35" name="TextBox 34"/>
          <p:cNvSpPr txBox="1"/>
          <p:nvPr/>
        </p:nvSpPr>
        <p:spPr>
          <a:xfrm>
            <a:off x="2697480" y="4297680"/>
            <a:ext cx="5212080" cy="347472"/>
          </a:xfrm>
          <a:prstGeom prst="rect">
            <a:avLst/>
          </a:prstGeom>
          <a:noFill/>
        </p:spPr>
        <p:txBody>
          <a:bodyPr wrap="square">
            <a:spAutoFit/>
          </a:bodyPr>
          <a:lstStyle/>
          <a:p>
            <a:pPr algn="l"/>
            <a:r>
              <a:rPr sz="1200" b="1" u="sng">
                <a:solidFill>
                  <a:srgbClr val="FFFFFF"/>
                </a:solidFill>
                <a:latin typeface="Arial"/>
                <a:hlinkClick r:id="rId15"/>
              </a:rPr>
              <a:t>【コメ欄有益】まだ見てない人がガチで羨ましい神映画挙げてけw #shorts</a:t>
            </a:r>
          </a:p>
        </p:txBody>
      </p:sp>
      <p:pic>
        <p:nvPicPr>
          <p:cNvPr id="36" name="Picture 35" descr="image.png"/>
          <p:cNvPicPr>
            <a:picLocks noChangeAspect="1"/>
          </p:cNvPicPr>
          <p:nvPr/>
        </p:nvPicPr>
        <p:blipFill>
          <a:blip r:embed="rId16"/>
          <a:stretch>
            <a:fillRect/>
          </a:stretch>
        </p:blipFill>
        <p:spPr>
          <a:xfrm>
            <a:off x="8046720" y="4315968"/>
            <a:ext cx="685800" cy="685800"/>
          </a:xfrm>
          <a:prstGeom prst="rect">
            <a:avLst/>
          </a:prstGeom>
        </p:spPr>
      </p:pic>
      <p:sp>
        <p:nvSpPr>
          <p:cNvPr id="37" name="TextBox 36"/>
          <p:cNvSpPr txBox="1"/>
          <p:nvPr/>
        </p:nvSpPr>
        <p:spPr>
          <a:xfrm>
            <a:off x="2697480" y="4718304"/>
            <a:ext cx="5212080" cy="292608"/>
          </a:xfrm>
          <a:prstGeom prst="rect">
            <a:avLst/>
          </a:prstGeom>
          <a:noFill/>
        </p:spPr>
        <p:txBody>
          <a:bodyPr wrap="none">
            <a:spAutoFit/>
          </a:bodyPr>
          <a:lstStyle/>
          <a:p>
            <a:pPr algn="l"/>
            <a:r>
              <a:rPr sz="1000" b="0">
                <a:solidFill>
                  <a:srgbClr val="AAAAAA"/>
                </a:solidFill>
                <a:latin typeface="Arial"/>
              </a:rPr>
              <a:t>📺 2ch映画通信  👁 4,481,005  👍 151,329  ⏱ 2:05  📅 2025-07-12</a:t>
            </a:r>
          </a:p>
        </p:txBody>
      </p:sp>
      <p:sp>
        <p:nvSpPr>
          <p:cNvPr id="38" name="TextBox 37"/>
          <p:cNvSpPr txBox="1"/>
          <p:nvPr/>
        </p:nvSpPr>
        <p:spPr>
          <a:xfrm>
            <a:off x="2697480" y="4901184"/>
            <a:ext cx="5212080" cy="201168"/>
          </a:xfrm>
          <a:prstGeom prst="rect">
            <a:avLst/>
          </a:prstGeom>
          <a:noFill/>
        </p:spPr>
        <p:txBody>
          <a:bodyPr wrap="none">
            <a:spAutoFit/>
          </a:bodyPr>
          <a:lstStyle/>
          <a:p>
            <a:pPr algn="l"/>
            <a:r>
              <a:rPr sz="700" b="0">
                <a:solidFill>
                  <a:srgbClr val="666666"/>
                </a:solidFill>
                <a:latin typeface="Arial"/>
              </a:rPr>
              <a:t>https://www.youtube.com/watch?v=TYHa-sSFa_s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