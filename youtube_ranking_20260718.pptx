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gif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image" Target="../media/image3.png"/><Relationship Id="rId4" Type="http://schemas.openxmlformats.org/officeDocument/2006/relationships/hyperlink" Target="https://www.youtube.com/watch?v=NVlo7PtRDHY" TargetMode="External"/><Relationship Id="rId5" Type="http://schemas.openxmlformats.org/officeDocument/2006/relationships/image" Target="../media/image1.gif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Relationship Id="rId3" Type="http://schemas.openxmlformats.org/officeDocument/2006/relationships/image" Target="../media/image5.png"/><Relationship Id="rId4" Type="http://schemas.openxmlformats.org/officeDocument/2006/relationships/hyperlink" Target="https://www.youtube.com/watch?v=KZNDIhxGwoQ" TargetMode="External"/><Relationship Id="rId5" Type="http://schemas.openxmlformats.org/officeDocument/2006/relationships/image" Target="../media/image1.gif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Relationship Id="rId3" Type="http://schemas.openxmlformats.org/officeDocument/2006/relationships/image" Target="../media/image7.png"/><Relationship Id="rId4" Type="http://schemas.openxmlformats.org/officeDocument/2006/relationships/hyperlink" Target="https://www.youtube.com/watch?v=IDS51S0kYVA" TargetMode="External"/><Relationship Id="rId5" Type="http://schemas.openxmlformats.org/officeDocument/2006/relationships/image" Target="../media/image1.gif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Relationship Id="rId3" Type="http://schemas.openxmlformats.org/officeDocument/2006/relationships/image" Target="../media/image9.png"/><Relationship Id="rId4" Type="http://schemas.openxmlformats.org/officeDocument/2006/relationships/hyperlink" Target="https://www.youtube.com/watch?v=wp_4AThBtCA" TargetMode="External"/><Relationship Id="rId5" Type="http://schemas.openxmlformats.org/officeDocument/2006/relationships/image" Target="../media/image1.gif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Relationship Id="rId3" Type="http://schemas.openxmlformats.org/officeDocument/2006/relationships/image" Target="../media/image11.png"/><Relationship Id="rId4" Type="http://schemas.openxmlformats.org/officeDocument/2006/relationships/hyperlink" Target="https://www.youtube.com/watch?v=GgpyU9K6cSk" TargetMode="External"/><Relationship Id="rId5" Type="http://schemas.openxmlformats.org/officeDocument/2006/relationships/image" Target="../media/image1.gif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jpg"/><Relationship Id="rId3" Type="http://schemas.openxmlformats.org/officeDocument/2006/relationships/image" Target="../media/image13.png"/><Relationship Id="rId4" Type="http://schemas.openxmlformats.org/officeDocument/2006/relationships/hyperlink" Target="https://www.youtube.com/watch?v=L7ri_UYNljo" TargetMode="External"/><Relationship Id="rId5" Type="http://schemas.openxmlformats.org/officeDocument/2006/relationships/image" Target="../media/image1.gif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Relationship Id="rId3" Type="http://schemas.openxmlformats.org/officeDocument/2006/relationships/image" Target="../media/image15.png"/><Relationship Id="rId4" Type="http://schemas.openxmlformats.org/officeDocument/2006/relationships/hyperlink" Target="https://www.youtube.com/watch?v=gPuqvhVOwTg" TargetMode="External"/><Relationship Id="rId5" Type="http://schemas.openxmlformats.org/officeDocument/2006/relationships/image" Target="../media/image1.gif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Relationship Id="rId3" Type="http://schemas.openxmlformats.org/officeDocument/2006/relationships/image" Target="../media/image17.png"/><Relationship Id="rId4" Type="http://schemas.openxmlformats.org/officeDocument/2006/relationships/hyperlink" Target="https://www.youtube.com/watch?v=3lOsboT-IWU" TargetMode="External"/><Relationship Id="rId5" Type="http://schemas.openxmlformats.org/officeDocument/2006/relationships/image" Target="../media/image1.gif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jpg"/><Relationship Id="rId3" Type="http://schemas.openxmlformats.org/officeDocument/2006/relationships/image" Target="../media/image19.png"/><Relationship Id="rId4" Type="http://schemas.openxmlformats.org/officeDocument/2006/relationships/hyperlink" Target="https://www.youtube.com/watch?v=nTb6qAi-Rkg" TargetMode="External"/><Relationship Id="rId5" Type="http://schemas.openxmlformats.org/officeDocument/2006/relationships/image" Target="../media/image1.gif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jpg"/><Relationship Id="rId3" Type="http://schemas.openxmlformats.org/officeDocument/2006/relationships/image" Target="../media/image21.png"/><Relationship Id="rId4" Type="http://schemas.openxmlformats.org/officeDocument/2006/relationships/hyperlink" Target="https://www.youtube.com/watch?v=3C0EOqt7sqA" TargetMode="External"/><Relationship Id="rId5" Type="http://schemas.openxmlformats.org/officeDocument/2006/relationships/image" Target="../media/image1.gif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jpg"/><Relationship Id="rId3" Type="http://schemas.openxmlformats.org/officeDocument/2006/relationships/hyperlink" Target="https://www.youtube.com/watch?v=fBQOV3jiST0" TargetMode="External"/><Relationship Id="rId4" Type="http://schemas.openxmlformats.org/officeDocument/2006/relationships/image" Target="../media/image23.png"/><Relationship Id="rId5" Type="http://schemas.openxmlformats.org/officeDocument/2006/relationships/image" Target="../media/image24.jpg"/><Relationship Id="rId6" Type="http://schemas.openxmlformats.org/officeDocument/2006/relationships/hyperlink" Target="https://www.youtube.com/watch?v=9nXbYZL8V9E" TargetMode="External"/><Relationship Id="rId7" Type="http://schemas.openxmlformats.org/officeDocument/2006/relationships/image" Target="../media/image25.png"/><Relationship Id="rId8" Type="http://schemas.openxmlformats.org/officeDocument/2006/relationships/image" Target="../media/image26.jpg"/><Relationship Id="rId9" Type="http://schemas.openxmlformats.org/officeDocument/2006/relationships/hyperlink" Target="https://www.youtube.com/watch?v=21eblauBPy8" TargetMode="External"/><Relationship Id="rId10" Type="http://schemas.openxmlformats.org/officeDocument/2006/relationships/image" Target="../media/image27.png"/><Relationship Id="rId11" Type="http://schemas.openxmlformats.org/officeDocument/2006/relationships/image" Target="../media/image28.jpg"/><Relationship Id="rId12" Type="http://schemas.openxmlformats.org/officeDocument/2006/relationships/hyperlink" Target="https://www.youtube.com/watch?v=fGaa5iluMIQ" TargetMode="External"/><Relationship Id="rId13" Type="http://schemas.openxmlformats.org/officeDocument/2006/relationships/image" Target="../media/image29.png"/><Relationship Id="rId14" Type="http://schemas.openxmlformats.org/officeDocument/2006/relationships/image" Target="../media/image30.jpg"/><Relationship Id="rId15" Type="http://schemas.openxmlformats.org/officeDocument/2006/relationships/hyperlink" Target="https://www.youtube.com/watch?v=Mr8II4SLhaI" TargetMode="External"/><Relationship Id="rId16" Type="http://schemas.openxmlformats.org/officeDocument/2006/relationships/image" Target="../media/image3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2.jpg"/><Relationship Id="rId3" Type="http://schemas.openxmlformats.org/officeDocument/2006/relationships/hyperlink" Target="https://www.youtube.com/watch?v=0cjKg-Z3xak" TargetMode="External"/><Relationship Id="rId4" Type="http://schemas.openxmlformats.org/officeDocument/2006/relationships/image" Target="../media/image33.png"/><Relationship Id="rId5" Type="http://schemas.openxmlformats.org/officeDocument/2006/relationships/image" Target="../media/image34.jpg"/><Relationship Id="rId6" Type="http://schemas.openxmlformats.org/officeDocument/2006/relationships/hyperlink" Target="https://www.youtube.com/watch?v=mhCy0IgobIw" TargetMode="External"/><Relationship Id="rId7" Type="http://schemas.openxmlformats.org/officeDocument/2006/relationships/image" Target="../media/image35.png"/><Relationship Id="rId8" Type="http://schemas.openxmlformats.org/officeDocument/2006/relationships/image" Target="../media/image36.jpg"/><Relationship Id="rId9" Type="http://schemas.openxmlformats.org/officeDocument/2006/relationships/hyperlink" Target="https://www.youtube.com/watch?v=XGbduoPa_-0" TargetMode="External"/><Relationship Id="rId10" Type="http://schemas.openxmlformats.org/officeDocument/2006/relationships/image" Target="../media/image37.png"/><Relationship Id="rId11" Type="http://schemas.openxmlformats.org/officeDocument/2006/relationships/image" Target="../media/image38.jpg"/><Relationship Id="rId12" Type="http://schemas.openxmlformats.org/officeDocument/2006/relationships/hyperlink" Target="https://www.youtube.com/watch?v=1JT-CjiNVok" TargetMode="External"/><Relationship Id="rId13" Type="http://schemas.openxmlformats.org/officeDocument/2006/relationships/image" Target="../media/image39.png"/><Relationship Id="rId14" Type="http://schemas.openxmlformats.org/officeDocument/2006/relationships/image" Target="../media/image40.jpg"/><Relationship Id="rId15" Type="http://schemas.openxmlformats.org/officeDocument/2006/relationships/hyperlink" Target="https://www.youtube.com/watch?v=s7l76OBSrcg" TargetMode="External"/><Relationship Id="rId16" Type="http://schemas.openxmlformats.org/officeDocument/2006/relationships/image" Target="../media/image4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2.jpg"/><Relationship Id="rId3" Type="http://schemas.openxmlformats.org/officeDocument/2006/relationships/hyperlink" Target="https://www.youtube.com/watch?v=WPl10ZrhCtk" TargetMode="External"/><Relationship Id="rId4" Type="http://schemas.openxmlformats.org/officeDocument/2006/relationships/image" Target="../media/image43.png"/><Relationship Id="rId5" Type="http://schemas.openxmlformats.org/officeDocument/2006/relationships/image" Target="../media/image44.jpg"/><Relationship Id="rId6" Type="http://schemas.openxmlformats.org/officeDocument/2006/relationships/hyperlink" Target="https://www.youtube.com/watch?v=5yb2N3pnztU" TargetMode="External"/><Relationship Id="rId7" Type="http://schemas.openxmlformats.org/officeDocument/2006/relationships/image" Target="../media/image45.png"/><Relationship Id="rId8" Type="http://schemas.openxmlformats.org/officeDocument/2006/relationships/image" Target="../media/image46.jpg"/><Relationship Id="rId9" Type="http://schemas.openxmlformats.org/officeDocument/2006/relationships/hyperlink" Target="https://www.youtube.com/watch?v=4cpyl0ffMJc" TargetMode="External"/><Relationship Id="rId10" Type="http://schemas.openxmlformats.org/officeDocument/2006/relationships/image" Target="../media/image47.png"/><Relationship Id="rId11" Type="http://schemas.openxmlformats.org/officeDocument/2006/relationships/image" Target="../media/image48.jpg"/><Relationship Id="rId12" Type="http://schemas.openxmlformats.org/officeDocument/2006/relationships/hyperlink" Target="https://www.youtube.com/watch?v=-NFhRWhkp7I" TargetMode="External"/><Relationship Id="rId13" Type="http://schemas.openxmlformats.org/officeDocument/2006/relationships/image" Target="../media/image49.png"/><Relationship Id="rId14" Type="http://schemas.openxmlformats.org/officeDocument/2006/relationships/image" Target="../media/image50.jpg"/><Relationship Id="rId15" Type="http://schemas.openxmlformats.org/officeDocument/2006/relationships/hyperlink" Target="https://www.youtube.com/watch?v=Z8xvh9B1JZk" TargetMode="External"/><Relationship Id="rId16" Type="http://schemas.openxmlformats.org/officeDocument/2006/relationships/image" Target="../media/image5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2.jpg"/><Relationship Id="rId3" Type="http://schemas.openxmlformats.org/officeDocument/2006/relationships/hyperlink" Target="https://www.youtube.com/watch?v=myP46pO9xsU" TargetMode="External"/><Relationship Id="rId4" Type="http://schemas.openxmlformats.org/officeDocument/2006/relationships/image" Target="../media/image53.png"/><Relationship Id="rId5" Type="http://schemas.openxmlformats.org/officeDocument/2006/relationships/image" Target="../media/image54.jpg"/><Relationship Id="rId6" Type="http://schemas.openxmlformats.org/officeDocument/2006/relationships/hyperlink" Target="https://www.youtube.com/watch?v=2a1YM7MCXng" TargetMode="External"/><Relationship Id="rId7" Type="http://schemas.openxmlformats.org/officeDocument/2006/relationships/image" Target="../media/image55.png"/><Relationship Id="rId8" Type="http://schemas.openxmlformats.org/officeDocument/2006/relationships/image" Target="../media/image56.jpg"/><Relationship Id="rId9" Type="http://schemas.openxmlformats.org/officeDocument/2006/relationships/hyperlink" Target="https://www.youtube.com/watch?v=lyZZdUUM_GM" TargetMode="External"/><Relationship Id="rId10" Type="http://schemas.openxmlformats.org/officeDocument/2006/relationships/image" Target="../media/image57.png"/><Relationship Id="rId11" Type="http://schemas.openxmlformats.org/officeDocument/2006/relationships/image" Target="../media/image58.jpg"/><Relationship Id="rId12" Type="http://schemas.openxmlformats.org/officeDocument/2006/relationships/hyperlink" Target="https://www.youtube.com/watch?v=EoY46IjI_jM" TargetMode="External"/><Relationship Id="rId13" Type="http://schemas.openxmlformats.org/officeDocument/2006/relationships/image" Target="../media/image59.png"/><Relationship Id="rId14" Type="http://schemas.openxmlformats.org/officeDocument/2006/relationships/image" Target="../media/image60.jpg"/><Relationship Id="rId15" Type="http://schemas.openxmlformats.org/officeDocument/2006/relationships/hyperlink" Target="https://www.youtube.com/watch?v=OhHzzl4Z6qU" TargetMode="External"/><Relationship Id="rId16" Type="http://schemas.openxmlformats.org/officeDocument/2006/relationships/image" Target="../media/image6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828800"/>
            <a:ext cx="5943600" cy="128016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901952"/>
            <a:ext cx="56692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Arial Black"/>
              </a:rPr>
              <a:t>▶  YouTube トレンド ランキング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3246120"/>
            <a:ext cx="56692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0">
                <a:solidFill>
                  <a:srgbClr val="AAAAAA"/>
                </a:solidFill>
                <a:latin typeface="Arial"/>
              </a:rPr>
              <a:t>2026年07月18日  ·  急上昇 TOP 10 発表</a:t>
            </a:r>
          </a:p>
        </p:txBody>
      </p:sp>
      <p:pic>
        <p:nvPicPr>
          <p:cNvPr id="6" name="Picture 5" descr="ezgif_com-animated-gif-maker.g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0" y="45720"/>
            <a:ext cx="3017520" cy="505206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22860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Arial Black"/>
              </a:rPr>
              <a:t>#10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68680"/>
            <a:ext cx="3474720" cy="1956816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926080"/>
            <a:ext cx="914400" cy="914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80160" y="306324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https://www.youtube.com/watch?v=NVlo7PtRDHY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777240"/>
            <a:ext cx="2103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u="sng">
                <a:solidFill>
                  <a:srgbClr val="FFFFFF"/>
                </a:solidFill>
                <a:latin typeface="Arial"/>
                <a:hlinkClick r:id="rId4"/>
              </a:rPr>
              <a:t>踏んだら禁止の色がどんどん増える世界でエンドラ討伐！【マイクラ】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2240280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 ドズル社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2578608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rial"/>
              </a:rPr>
              <a:t>👁 292,878  👍 9,719  💬 341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2944368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⏱ 47:15  ·  📅 公開10時間前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3931920"/>
            <a:ext cx="5669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EC9B0"/>
                </a:solidFill>
                <a:latin typeface="Arial"/>
              </a:rPr>
              <a:t>💡 公開10時間で急上昇入り！　10万再生突破の話題作　いいね率3.3%と好評価</a:t>
            </a:r>
          </a:p>
        </p:txBody>
      </p:sp>
      <p:pic>
        <p:nvPicPr>
          <p:cNvPr id="12" name="Picture 11" descr="ezgif_com-animated-gif-maker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0" y="45720"/>
            <a:ext cx="3017520" cy="505206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22860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Arial Black"/>
              </a:rPr>
              <a:t>#9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68680"/>
            <a:ext cx="3474720" cy="1956816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926080"/>
            <a:ext cx="914400" cy="914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80160" y="306324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https://www.youtube.com/watch?v=KZNDIhxGwoQ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777240"/>
            <a:ext cx="2103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u="sng">
                <a:solidFill>
                  <a:srgbClr val="FFFFFF"/>
                </a:solidFill>
                <a:latin typeface="Arial"/>
                <a:hlinkClick r:id="rId4"/>
              </a:rPr>
              <a:t>乃木坂46『フォルテシモ』MUSIC VIDEO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2240280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 乃木坂46 OFFICIAL YouTube CHANNEL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2578608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rial"/>
              </a:rPr>
              <a:t>👁 181,978  👍 11,245  💬 1,289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2944368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⏱ 3:52  ·  📅 公開7時間前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3931920"/>
            <a:ext cx="5669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EC9B0"/>
                </a:solidFill>
                <a:latin typeface="Arial"/>
              </a:rPr>
              <a:t>💡 公開7時間で急上昇入り！　10万再生突破の話題作　いいね率6.2%と視聴者の支持が非常に高い</a:t>
            </a:r>
          </a:p>
        </p:txBody>
      </p:sp>
      <p:pic>
        <p:nvPicPr>
          <p:cNvPr id="12" name="Picture 11" descr="ezgif_com-animated-gif-maker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0" y="45720"/>
            <a:ext cx="3017520" cy="505206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22860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Arial Black"/>
              </a:rPr>
              <a:t>#8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68680"/>
            <a:ext cx="3474720" cy="1956816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926080"/>
            <a:ext cx="914400" cy="914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80160" y="306324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https://www.youtube.com/watch?v=IDS51S0kYVA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777240"/>
            <a:ext cx="2103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u="sng">
                <a:solidFill>
                  <a:srgbClr val="FFFFFF"/>
                </a:solidFill>
                <a:latin typeface="Arial"/>
                <a:hlinkClick r:id="rId4"/>
              </a:rPr>
              <a:t>【#にじ甲2026】熱狂！にじさんじ甲子園2026#4【天開司/舞元啓介/Vtuber】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2240280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 バーチャル債務者youtuber天開司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2578608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rial"/>
              </a:rPr>
              <a:t>👁 284,578  👍 5,475  💬 62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2944368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⏱ 2:33:08  ·  📅 公開6時間前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3931920"/>
            <a:ext cx="5669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EC9B0"/>
                </a:solidFill>
                <a:latin typeface="Arial"/>
              </a:rPr>
              <a:t>💡 公開6時間で急上昇入り！　10万再生突破の話題作</a:t>
            </a:r>
          </a:p>
        </p:txBody>
      </p:sp>
      <p:pic>
        <p:nvPicPr>
          <p:cNvPr id="12" name="Picture 11" descr="ezgif_com-animated-gif-maker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0" y="45720"/>
            <a:ext cx="3017520" cy="505206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22860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Arial Black"/>
              </a:rPr>
              <a:t>#7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68680"/>
            <a:ext cx="3474720" cy="1956816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926080"/>
            <a:ext cx="914400" cy="914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80160" y="306324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https://www.youtube.com/watch?v=wp_4AThBtCA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777240"/>
            <a:ext cx="2103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u="sng">
                <a:solidFill>
                  <a:srgbClr val="FFFFFF"/>
                </a:solidFill>
                <a:latin typeface="Arial"/>
                <a:hlinkClick r:id="rId4"/>
              </a:rPr>
              <a:t>中島健人「鬼事」Music Video【TVアニメ「逃げ上手の若君」第二期OPテーマ】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2240280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 中島健人 Official YouTube Channel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2578608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rial"/>
              </a:rPr>
              <a:t>👁 111,338  👍 9,558  💬 1,083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2944368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⏱ 3:14  ·  📅 公開8時間前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3931920"/>
            <a:ext cx="5669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EC9B0"/>
                </a:solidFill>
                <a:latin typeface="Arial"/>
              </a:rPr>
              <a:t>💡 公開8時間で急上昇入り！　10万再生突破の話題作　いいね率8.6%と視聴者の支持が非常に高い</a:t>
            </a:r>
          </a:p>
        </p:txBody>
      </p:sp>
      <p:pic>
        <p:nvPicPr>
          <p:cNvPr id="12" name="Picture 11" descr="ezgif_com-animated-gif-maker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0" y="45720"/>
            <a:ext cx="3017520" cy="505206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22860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Arial Black"/>
              </a:rPr>
              <a:t>#6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68680"/>
            <a:ext cx="3474720" cy="1956816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926080"/>
            <a:ext cx="914400" cy="914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80160" y="306324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https://www.youtube.com/watch?v=GgpyU9K6cSk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777240"/>
            <a:ext cx="2103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u="sng">
                <a:solidFill>
                  <a:srgbClr val="FFFFFF"/>
                </a:solidFill>
                <a:latin typeface="Arial"/>
                <a:hlinkClick r:id="rId4"/>
              </a:rPr>
              <a:t>マインクラフトに「ベリティ」を追加したら..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2240280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 マエスケ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2578608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rial"/>
              </a:rPr>
              <a:t>👁 391,203  👍 9,125  💬 760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2944368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⏱ 30:48  ·  📅 公開8時間前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3931920"/>
            <a:ext cx="5669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EC9B0"/>
                </a:solidFill>
                <a:latin typeface="Arial"/>
              </a:rPr>
              <a:t>💡 公開8時間で急上昇入り！　10万再生突破の話題作　いいね率2.3%と好評価</a:t>
            </a:r>
          </a:p>
        </p:txBody>
      </p:sp>
      <p:pic>
        <p:nvPicPr>
          <p:cNvPr id="12" name="Picture 11" descr="ezgif_com-animated-gif-maker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0" y="45720"/>
            <a:ext cx="3017520" cy="505206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22860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Arial Black"/>
              </a:rPr>
              <a:t>#5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68680"/>
            <a:ext cx="3474720" cy="1956816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926080"/>
            <a:ext cx="914400" cy="914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80160" y="306324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https://www.youtube.com/watch?v=L7ri_UYNljo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777240"/>
            <a:ext cx="2103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u="sng">
                <a:solidFill>
                  <a:srgbClr val="FFFFFF"/>
                </a:solidFill>
                <a:latin typeface="Arial"/>
                <a:hlinkClick r:id="rId4"/>
              </a:rPr>
              <a:t>B&amp;ZAI【Ready for B&amp;ZAI】LIVE TOUR 2026 -ROCK’N’DOL-in日本武道館より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2240280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 ジュニアCHANNEL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2578608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rial"/>
              </a:rPr>
              <a:t>👁 145,098  👍 10,274  💬 5,718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2944368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⏱ 4:38  ·  📅 公開8時間前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3931920"/>
            <a:ext cx="5669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EC9B0"/>
                </a:solidFill>
                <a:latin typeface="Arial"/>
              </a:rPr>
              <a:t>💡 公開8時間で急上昇入り！　10万再生突破の話題作　いいね率7.1%と視聴者の支持が非常に高い</a:t>
            </a:r>
          </a:p>
        </p:txBody>
      </p:sp>
      <p:pic>
        <p:nvPicPr>
          <p:cNvPr id="12" name="Picture 11" descr="ezgif_com-animated-gif-maker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0" y="45720"/>
            <a:ext cx="3017520" cy="505206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22860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Arial Black"/>
              </a:rPr>
              <a:t>#4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68680"/>
            <a:ext cx="3474720" cy="1956816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926080"/>
            <a:ext cx="914400" cy="914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80160" y="306324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https://www.youtube.com/watch?v=gPuqvhVOwTg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777240"/>
            <a:ext cx="2103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u="sng">
                <a:solidFill>
                  <a:srgbClr val="FFFFFF"/>
                </a:solidFill>
                <a:latin typeface="Arial"/>
                <a:hlinkClick r:id="rId4"/>
              </a:rPr>
              <a:t>【#にじ甲2026】あの日夏に破壊された俺たちが、今度は夏を破壊する feat.山際【ローレン・イロアス/にじさんじ】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2240280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 ローレン・イロアス / Lauren Iroas【にじさんじ】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2578608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rial"/>
              </a:rPr>
              <a:t>👁 463,804  👍 6,668  💬 136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2944368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⏱ 7:57:07  ·  📅 公開-1時間前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3931920"/>
            <a:ext cx="5669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EC9B0"/>
                </a:solidFill>
                <a:latin typeface="Arial"/>
              </a:rPr>
              <a:t>💡 公開-1時間で急上昇入り！　10万再生突破の話題作</a:t>
            </a:r>
          </a:p>
        </p:txBody>
      </p:sp>
      <p:pic>
        <p:nvPicPr>
          <p:cNvPr id="12" name="Picture 11" descr="ezgif_com-animated-gif-maker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0" y="45720"/>
            <a:ext cx="3017520" cy="505206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22860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CD7F32"/>
                </a:solidFill>
                <a:latin typeface="Arial Black"/>
              </a:rPr>
              <a:t>#3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68680"/>
            <a:ext cx="3474720" cy="1956816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926080"/>
            <a:ext cx="914400" cy="914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80160" y="306324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https://www.youtube.com/watch?v=3lOsboT-IWU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777240"/>
            <a:ext cx="2103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u="sng">
                <a:solidFill>
                  <a:srgbClr val="FFFFFF"/>
                </a:solidFill>
                <a:latin typeface="Arial"/>
                <a:hlinkClick r:id="rId4"/>
              </a:rPr>
              <a:t>SixTONES – マイオンリー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2240280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 SixTONES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2578608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CD7F32"/>
                </a:solidFill>
                <a:latin typeface="Arial"/>
              </a:rPr>
              <a:t>👁 1,363,208  👍 54,226  💬 4,710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2944368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⏱ 4:00  ·  📅 公開9時間前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3931920"/>
            <a:ext cx="5669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EC9B0"/>
                </a:solidFill>
                <a:latin typeface="Arial"/>
              </a:rPr>
              <a:t>💡 公開9時間で急上昇入り！　100万再生超の大ヒット　いいね率4.0%と好評価</a:t>
            </a:r>
          </a:p>
        </p:txBody>
      </p:sp>
      <p:pic>
        <p:nvPicPr>
          <p:cNvPr id="12" name="Picture 11" descr="ezgif_com-animated-gif-maker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0" y="45720"/>
            <a:ext cx="3017520" cy="505206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22860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C0C0C0"/>
                </a:solidFill>
                <a:latin typeface="Arial Black"/>
              </a:rPr>
              <a:t>#2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68680"/>
            <a:ext cx="3474720" cy="1956816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926080"/>
            <a:ext cx="914400" cy="914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80160" y="306324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https://www.youtube.com/watch?v=nTb6qAi-Rkg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777240"/>
            <a:ext cx="2103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u="sng">
                <a:solidFill>
                  <a:srgbClr val="FFFFFF"/>
                </a:solidFill>
                <a:latin typeface="Arial"/>
                <a:hlinkClick r:id="rId4"/>
              </a:rPr>
              <a:t>【マインクラフト】ランダムな文字でニワトリが鳴き続けたらキーワードはいつ完成する?【日常組】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2240280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 日常組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2578608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C0C0C0"/>
                </a:solidFill>
                <a:latin typeface="Arial"/>
              </a:rPr>
              <a:t>👁 538,204  👍 18,798  💬 735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2944368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⏱ 1:02:24  ·  📅 公開11時間前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3931920"/>
            <a:ext cx="5669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EC9B0"/>
                </a:solidFill>
                <a:latin typeface="Arial"/>
              </a:rPr>
              <a:t>💡 公開11時間で急上昇入り！　50万再生の注目コンテンツ　いいね率3.5%と好評価</a:t>
            </a:r>
          </a:p>
        </p:txBody>
      </p:sp>
      <p:pic>
        <p:nvPicPr>
          <p:cNvPr id="12" name="Picture 11" descr="ezgif_com-animated-gif-maker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0" y="45720"/>
            <a:ext cx="3017520" cy="505206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808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029200"/>
            <a:ext cx="9144000" cy="109728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0" y="109728"/>
            <a:ext cx="9144000" cy="868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600" b="1">
                <a:solidFill>
                  <a:srgbClr val="FFD700"/>
                </a:solidFill>
                <a:latin typeface="Arial Black"/>
              </a:rPr>
              <a:t>🏆  NO. 1  🏆</a:t>
            </a:r>
          </a:p>
        </p:txBody>
      </p:sp>
      <p:pic>
        <p:nvPicPr>
          <p:cNvPr id="6" name="Picture 5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0" y="1024128"/>
            <a:ext cx="4572000" cy="2569464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" y="3639312"/>
            <a:ext cx="1005840" cy="100584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274320" y="3657600"/>
            <a:ext cx="7406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u="sng">
                <a:solidFill>
                  <a:srgbClr val="FFFFFF"/>
                </a:solidFill>
                <a:latin typeface="Arial"/>
                <a:hlinkClick r:id="rId4"/>
              </a:rPr>
              <a:t>M!LK - You!Joy!Parade! (Official Music Video)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" y="4160520"/>
            <a:ext cx="74066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0">
                <a:solidFill>
                  <a:srgbClr val="FFD700"/>
                </a:solidFill>
                <a:latin typeface="Arial"/>
              </a:rPr>
              <a:t>👁 1,184,960  👍 83,225  💬 8,912  ⏱ 3:47  📅 公開9時間前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" y="4498848"/>
            <a:ext cx="7406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4EC9B0"/>
                </a:solidFill>
                <a:latin typeface="Arial"/>
              </a:rPr>
              <a:t>💡 公開9時間で急上昇入り！　100万再生超の大ヒット　いいね率7.0%と視聴者の支持が非常に高い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4828032"/>
            <a:ext cx="7406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https://www.youtube.com/watch?v=3C0EOqt7sqA</a:t>
            </a:r>
          </a:p>
        </p:txBody>
      </p:sp>
      <p:pic>
        <p:nvPicPr>
          <p:cNvPr id="12" name="Picture 11" descr="ezgif_com-animated-gif-maker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0" y="45720"/>
            <a:ext cx="3017520" cy="505206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8229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Arial Black"/>
              </a:rPr>
              <a:t>🎬 エンタメ 人気動画 TOP 5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749808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749808"/>
            <a:ext cx="1737360" cy="97840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194560" y="786384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FFD700"/>
                </a:solidFill>
                <a:latin typeface="Arial Black"/>
              </a:rPr>
              <a:t>#1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697480" y="786384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3"/>
              </a:rPr>
              <a:t>いや勝つんかいw　 #おもしろ #エンタメ #ネタ #バズれ #shorts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46720" y="804672"/>
            <a:ext cx="685800" cy="6858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2697480" y="1207008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やっさん2  👁 19,158,349  👍 157,913  ⏱ 0:10  📅 2025-08-09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97480" y="1389888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https://www.youtube.com/watch?v=fBQOV3jiST0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1627632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imag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0040" y="1627632"/>
            <a:ext cx="1737360" cy="97840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2194560" y="1664208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C0C0C0"/>
                </a:solidFill>
                <a:latin typeface="Arial Black"/>
              </a:rPr>
              <a:t>#2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97480" y="1664208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6"/>
              </a:rPr>
              <a:t>無反応挑戦　w#おもしろ＃おもしろ動画＃エンタメ#お笑い#バラエティ#テレビ#バズれ…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46720" y="1682496"/>
            <a:ext cx="685800" cy="6858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2697480" y="2084832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ネタ秒  👁 14,609,875  👍 41,710  ⏱ 0:17  📅 2025-09-26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97480" y="2267712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https://www.youtube.com/watch?v=9nXbYZL8V9E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2505456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image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20040" y="2505456"/>
            <a:ext cx="1737360" cy="978408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2194560" y="2542032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CD7F32"/>
                </a:solidFill>
                <a:latin typeface="Arial Black"/>
              </a:rPr>
              <a:t>#3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697480" y="2542032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9"/>
              </a:rPr>
              <a:t>狩野英孝のマイクラ実況が面白いwww#エンタメ #マイクラ #狩野英孝</a:t>
            </a:r>
          </a:p>
        </p:txBody>
      </p:sp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046720" y="2560320"/>
            <a:ext cx="685800" cy="68580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2697480" y="2962656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はるえもん  👁 11,747,197  👍 186,103  ⏱ 1:33  📅 2025-07-05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697480" y="3145536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https://www.youtube.com/watch?v=21eblauBPy8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74320" y="3383280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image.jp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20040" y="3383280"/>
            <a:ext cx="1737360" cy="978408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2194560" y="3419856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AAAAAA"/>
                </a:solidFill>
                <a:latin typeface="Arial Black"/>
              </a:rPr>
              <a:t>#4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697480" y="3419856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12"/>
              </a:rPr>
              <a:t>ネプリーグ放送事故w #おもしろ #面白い #テレビ #エンタメ #お笑い #芸人 …</a:t>
            </a:r>
          </a:p>
        </p:txBody>
      </p:sp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046720" y="3438144"/>
            <a:ext cx="685800" cy="685800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2697480" y="3840480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やっさん2  👁 11,539,131  👍 133,053  ⏱ 0:18  📅 2025-11-01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697480" y="4023360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https://www.youtube.com/watch?v=fGaa5iluMIQ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74320" y="4261104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3" name="Picture 32" descr="image.jp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20040" y="4261104"/>
            <a:ext cx="1737360" cy="978408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2194560" y="4297680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AAAAAA"/>
                </a:solidFill>
                <a:latin typeface="Arial Black"/>
              </a:rPr>
              <a:t>#5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697480" y="4297680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15"/>
              </a:rPr>
              <a:t>入れないと蝶野に制裁ビンタされる⁉️ #エンタメ #ガキ使 #ダウンタウン#方正</a:t>
            </a:r>
          </a:p>
        </p:txBody>
      </p:sp>
      <p:pic>
        <p:nvPicPr>
          <p:cNvPr id="36" name="Picture 35" descr="ima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046720" y="4315968"/>
            <a:ext cx="685800" cy="685800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2697480" y="4718304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はるえもん  👁 10,566,039  👍 98,192  ⏱ 0:57  📅 2025-10-17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697480" y="4901184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https://www.youtube.com/watch?v=Mr8II4SLhaI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8229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Arial Black"/>
              </a:rPr>
              <a:t>🎮 ゲーム 人気動画 TOP 5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749808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749808"/>
            <a:ext cx="1737360" cy="97840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194560" y="786384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FFD700"/>
                </a:solidFill>
                <a:latin typeface="Arial Black"/>
              </a:rPr>
              <a:t>#1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697480" y="786384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3"/>
              </a:rPr>
              <a:t>見たことの無い落ち方をする配信者#葉 #ゲーム実況 #切り抜き #onlyup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46720" y="804672"/>
            <a:ext cx="685800" cy="6858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2697480" y="1207008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葉ちゅべ  👁 21,238,051  👍 382,299  ⏱ 0:38  📅 2023-07-07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97480" y="1389888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https://www.youtube.com/watch?v=0cjKg-Z3xak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1627632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imag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0040" y="1627632"/>
            <a:ext cx="1737360" cy="97840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2194560" y="1664208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C0C0C0"/>
                </a:solidFill>
                <a:latin typeface="Arial Black"/>
              </a:rPr>
              <a:t>#2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97480" y="1664208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6"/>
              </a:rPr>
              <a:t>感動のダブルスイカ‼️ #スイカゲーム #ゲーム実況 #サワヤンゲームズ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46720" y="1682496"/>
            <a:ext cx="685800" cy="6858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2697480" y="2084832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にこみチャンネル  👁 20,454,073  👍 362,228  ⏱ 0:59  📅 2023-12-22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97480" y="2267712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https://www.youtube.com/watch?v=mhCy0IgobIw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2505456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image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20040" y="2505456"/>
            <a:ext cx="1737360" cy="978408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2194560" y="2542032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CD7F32"/>
                </a:solidFill>
                <a:latin typeface="Arial Black"/>
              </a:rPr>
              <a:t>#3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697480" y="2542032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9"/>
              </a:rPr>
              <a:t>全部ひっかかる人【しょぼんのアクション3D】 #ゲーム実況</a:t>
            </a:r>
          </a:p>
        </p:txBody>
      </p:sp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046720" y="2560320"/>
            <a:ext cx="685800" cy="68580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2697480" y="2962656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タン  👁 19,811,856  👍 389,543  ⏱ 1:00  📅 2023-09-28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697480" y="3145536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https://www.youtube.com/watch?v=XGbduoPa_-0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74320" y="3383280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image.jp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20040" y="3383280"/>
            <a:ext cx="1737360" cy="978408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2194560" y="3419856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AAAAAA"/>
                </a:solidFill>
                <a:latin typeface="Arial Black"/>
              </a:rPr>
              <a:t>#4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697480" y="3419856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12"/>
              </a:rPr>
              <a:t>デビルレベルpart9 #switch2 #ゲーム実況 #shorts</a:t>
            </a:r>
          </a:p>
        </p:txBody>
      </p:sp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046720" y="3438144"/>
            <a:ext cx="685800" cy="685800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2697480" y="3840480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ぐりげんの南極第二拠点  👁 16,603,311  👍 195,175  ⏱ 1:02  📅 2025-08-18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697480" y="4023360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https://www.youtube.com/watch?v=1JT-CjiNVok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74320" y="4261104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3" name="Picture 32" descr="image.jp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20040" y="4261104"/>
            <a:ext cx="1737360" cy="978408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2194560" y="4297680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AAAAAA"/>
                </a:solidFill>
                <a:latin typeface="Arial Black"/>
              </a:rPr>
              <a:t>#5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697480" y="4297680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15"/>
              </a:rPr>
              <a:t>ヒカキンのスーパーマリオ3Dワールド実況 パート1【Nintendo Switc…</a:t>
            </a:r>
          </a:p>
        </p:txBody>
      </p:sp>
      <p:pic>
        <p:nvPicPr>
          <p:cNvPr id="36" name="Picture 35" descr="ima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046720" y="4315968"/>
            <a:ext cx="685800" cy="685800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2697480" y="4718304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HikakinGames  👁 12,595,126  👍 42,651  ⏱ 42:29  📅 2021-03-27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697480" y="4901184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https://www.youtube.com/watch?v=s7l76OBSrcg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8229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Arial Black"/>
              </a:rPr>
              <a:t>✨ アニメ 人気動画 TOP 5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749808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749808"/>
            <a:ext cx="1737360" cy="97840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194560" y="786384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FFD700"/>
                </a:solidFill>
                <a:latin typeface="Arial Black"/>
              </a:rPr>
              <a:t>#1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697480" y="786384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3"/>
              </a:rPr>
              <a:t>ヒグチアイ / 悪魔の子 (アニメスペシャルVer.) | Ai Higuchi “…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46720" y="804672"/>
            <a:ext cx="685800" cy="6858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2697480" y="1207008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ヒグチアイ  👁 217,535,578  👍 2,025,568  ⏱ 3:50  📅 2022-01-24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97480" y="1389888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https://www.youtube.com/watch?v=WPl10ZrhCtk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1627632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imag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0040" y="1627632"/>
            <a:ext cx="1737360" cy="97840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2194560" y="1664208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C0C0C0"/>
                </a:solidFill>
                <a:latin typeface="Arial Black"/>
              </a:rPr>
              <a:t>#2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97480" y="1664208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6"/>
              </a:rPr>
              <a:t>TVアニメ『呪術廻戦』第2期「渋谷事変」ノンクレジットOPムービー／OPテーマ：Ki…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46720" y="1682496"/>
            <a:ext cx="685800" cy="6858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2697480" y="2084832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TOHO animation チャンネル  👁 161,294,466  👍 0  ⏱ 1:31  📅 2023-09-01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97480" y="2267712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https://www.youtube.com/watch?v=5yb2N3pnztU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2505456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image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20040" y="2505456"/>
            <a:ext cx="1737360" cy="978408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2194560" y="2542032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CD7F32"/>
                </a:solidFill>
                <a:latin typeface="Arial Black"/>
              </a:rPr>
              <a:t>#3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697480" y="2542032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9"/>
              </a:rPr>
              <a:t>【♪うたアニメ】やさいのうた〈うた：いっちー＆なる〉</a:t>
            </a:r>
          </a:p>
        </p:txBody>
      </p:sp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046720" y="2560320"/>
            <a:ext cx="685800" cy="68580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2697480" y="2962656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ボンボンアカデミー  👁 88,573,609  👍 38,616  ⏱ 1:36  📅 2021-11-27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697480" y="3145536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https://www.youtube.com/watch?v=4cpyl0ffMJc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74320" y="3383280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image.jp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20040" y="3383280"/>
            <a:ext cx="1737360" cy="978408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2194560" y="3419856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AAAAAA"/>
                </a:solidFill>
                <a:latin typeface="Arial Black"/>
              </a:rPr>
              <a:t>#4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697480" y="3419856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12"/>
              </a:rPr>
              <a:t>Mrs. GREEN APPLE「ライラック」MV - TVアニメ『忘却バッテリー』…</a:t>
            </a:r>
          </a:p>
        </p:txBody>
      </p:sp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046720" y="3438144"/>
            <a:ext cx="685800" cy="685800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2697480" y="3840480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Mrs. GREEN APPLE  👁 55,295,906  👍 182,289  ⏱ 4:53  📅 2024-07-04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697480" y="4023360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https://www.youtube.com/watch?v=-NFhRWhkp7I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74320" y="4261104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3" name="Picture 32" descr="image.jp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20040" y="4261104"/>
            <a:ext cx="1737360" cy="978408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2194560" y="4297680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AAAAAA"/>
                </a:solidFill>
                <a:latin typeface="Arial Black"/>
              </a:rPr>
              <a:t>#5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697480" y="4297680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15"/>
              </a:rPr>
              <a:t>ピンポン玉チャレンジLv100【アニメ】</a:t>
            </a:r>
          </a:p>
        </p:txBody>
      </p:sp>
      <p:pic>
        <p:nvPicPr>
          <p:cNvPr id="36" name="Picture 35" descr="ima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046720" y="4315968"/>
            <a:ext cx="685800" cy="685800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2697480" y="4718304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ゆずざくろ  👁 50,922,293  👍 184,340  ⏱ 0:22  📅 2026-06-08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697480" y="4901184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https://www.youtube.com/watch?v=Z8xvh9B1JZk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8229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Arial Black"/>
              </a:rPr>
              <a:t>🍿 映画 人気動画 TOP 5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749808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749808"/>
            <a:ext cx="1737360" cy="97840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194560" y="786384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FFD700"/>
                </a:solidFill>
                <a:latin typeface="Arial Black"/>
              </a:rPr>
              <a:t>#1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697480" y="786384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3"/>
              </a:rPr>
              <a:t>ってるワイフ#film #映画レビュー #映画紹介 #映画 #映画解説 #ドラマ #…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46720" y="804672"/>
            <a:ext cx="685800" cy="6858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2697480" y="1207008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slin映画館  👁 7,382,252  👍 106,507  ⏱ 2:59  📅 2025-06-30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97480" y="1389888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https://www.youtube.com/watch?v=myP46pO9xsU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1627632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imag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0040" y="1627632"/>
            <a:ext cx="1737360" cy="97840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2194560" y="1664208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C0C0C0"/>
                </a:solidFill>
                <a:latin typeface="Arial Black"/>
              </a:rPr>
              <a:t>#2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97480" y="1664208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6"/>
              </a:rPr>
              <a:t>歌舞伎町タワーの日本一高い映画館「109シネマズプレミアム新宿」を正直レビュー！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46720" y="1682496"/>
            <a:ext cx="685800" cy="6858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2697480" y="2084832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正直レビュー 🍰🍛  👁 6,829,271  👍 119,660  ⏱ 1:00  📅 2025-03-15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97480" y="2267712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https://www.youtube.com/watch?v=2a1YM7MCXng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2505456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image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20040" y="2505456"/>
            <a:ext cx="1737360" cy="978408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2194560" y="2542032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CD7F32"/>
                </a:solidFill>
                <a:latin typeface="Arial Black"/>
              </a:rPr>
              <a:t>#3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697480" y="2542032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9"/>
              </a:rPr>
              <a:t>シンクロ率100％だった映画『Michael』の裏側</a:t>
            </a:r>
          </a:p>
        </p:txBody>
      </p:sp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046720" y="2560320"/>
            <a:ext cx="685800" cy="68580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2697480" y="2962656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フィルムチェーン  👁 6,179,240  👍 96,266  ⏱ 0:56  📅 2026-05-18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697480" y="3145536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https://www.youtube.com/watch?v=lyZZdUUM_GM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74320" y="3383280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image.jp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20040" y="3383280"/>
            <a:ext cx="1737360" cy="978408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2194560" y="3419856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AAAAAA"/>
                </a:solidFill>
                <a:latin typeface="Arial Black"/>
              </a:rPr>
              <a:t>#4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697480" y="3419856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12"/>
              </a:rPr>
              <a:t>マイケル・ジャクソンが心から笑った瞬間</a:t>
            </a:r>
          </a:p>
        </p:txBody>
      </p:sp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046720" y="3438144"/>
            <a:ext cx="685800" cy="685800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2697480" y="3840480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フィルムチェーン  👁 3,823,398  👍 67,430  ⏱ 0:41  📅 2026-05-24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697480" y="4023360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https://www.youtube.com/watch?v=EoY46IjI_jM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74320" y="4261104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3" name="Picture 32" descr="image.jp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20040" y="4261104"/>
            <a:ext cx="1737360" cy="978408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2194560" y="4297680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AAAAAA"/>
                </a:solidFill>
                <a:latin typeface="Arial Black"/>
              </a:rPr>
              <a:t>#5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697480" y="4297680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15"/>
              </a:rPr>
              <a:t>市川團十郎が語る映画「国宝」の率直な感想と歌舞伎への想い</a:t>
            </a:r>
          </a:p>
        </p:txBody>
      </p:sp>
      <p:pic>
        <p:nvPicPr>
          <p:cNvPr id="36" name="Picture 35" descr="ima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046720" y="4315968"/>
            <a:ext cx="685800" cy="685800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2697480" y="4718304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KABUKU. / 市川團十郎。  👁 3,713,489  👍 46,704  ⏱ 17:48  📅 2025-07-12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697480" y="4901184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https://www.youtube.com/watch?v=OhHzzl4Z6qU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