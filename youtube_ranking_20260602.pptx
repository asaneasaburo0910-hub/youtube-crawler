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gif" ContentType="image/gif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gif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image" Target="../media/image3.png"/><Relationship Id="rId4" Type="http://schemas.openxmlformats.org/officeDocument/2006/relationships/hyperlink" Target="https://www.youtube.com/watch?v=gAas3bTlzuU" TargetMode="External"/><Relationship Id="rId5" Type="http://schemas.openxmlformats.org/officeDocument/2006/relationships/image" Target="../media/image1.gif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Relationship Id="rId3" Type="http://schemas.openxmlformats.org/officeDocument/2006/relationships/image" Target="../media/image5.png"/><Relationship Id="rId4" Type="http://schemas.openxmlformats.org/officeDocument/2006/relationships/hyperlink" Target="https://www.youtube.com/watch?v=R67c47htyDU" TargetMode="External"/><Relationship Id="rId5" Type="http://schemas.openxmlformats.org/officeDocument/2006/relationships/image" Target="../media/image1.gif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g"/><Relationship Id="rId3" Type="http://schemas.openxmlformats.org/officeDocument/2006/relationships/image" Target="../media/image7.png"/><Relationship Id="rId4" Type="http://schemas.openxmlformats.org/officeDocument/2006/relationships/hyperlink" Target="https://www.youtube.com/watch?v=bG9zvaNMOoU" TargetMode="External"/><Relationship Id="rId5" Type="http://schemas.openxmlformats.org/officeDocument/2006/relationships/image" Target="../media/image1.gif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jpg"/><Relationship Id="rId3" Type="http://schemas.openxmlformats.org/officeDocument/2006/relationships/image" Target="../media/image9.png"/><Relationship Id="rId4" Type="http://schemas.openxmlformats.org/officeDocument/2006/relationships/hyperlink" Target="https://www.youtube.com/watch?v=1XFEtAx5i7E" TargetMode="External"/><Relationship Id="rId5" Type="http://schemas.openxmlformats.org/officeDocument/2006/relationships/image" Target="../media/image1.gif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jpg"/><Relationship Id="rId3" Type="http://schemas.openxmlformats.org/officeDocument/2006/relationships/image" Target="../media/image11.png"/><Relationship Id="rId4" Type="http://schemas.openxmlformats.org/officeDocument/2006/relationships/hyperlink" Target="https://www.youtube.com/watch?v=89oEM8AQOPw" TargetMode="External"/><Relationship Id="rId5" Type="http://schemas.openxmlformats.org/officeDocument/2006/relationships/image" Target="../media/image1.gif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jpg"/><Relationship Id="rId3" Type="http://schemas.openxmlformats.org/officeDocument/2006/relationships/image" Target="../media/image13.png"/><Relationship Id="rId4" Type="http://schemas.openxmlformats.org/officeDocument/2006/relationships/hyperlink" Target="https://www.youtube.com/watch?v=65Pk_HopvyA" TargetMode="External"/><Relationship Id="rId5" Type="http://schemas.openxmlformats.org/officeDocument/2006/relationships/image" Target="../media/image1.gif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jpg"/><Relationship Id="rId3" Type="http://schemas.openxmlformats.org/officeDocument/2006/relationships/image" Target="../media/image15.png"/><Relationship Id="rId4" Type="http://schemas.openxmlformats.org/officeDocument/2006/relationships/hyperlink" Target="https://www.youtube.com/watch?v=h8rZAMiRTTo" TargetMode="External"/><Relationship Id="rId5" Type="http://schemas.openxmlformats.org/officeDocument/2006/relationships/image" Target="../media/image1.gif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jpg"/><Relationship Id="rId3" Type="http://schemas.openxmlformats.org/officeDocument/2006/relationships/image" Target="../media/image17.png"/><Relationship Id="rId4" Type="http://schemas.openxmlformats.org/officeDocument/2006/relationships/hyperlink" Target="https://www.youtube.com/watch?v=Fp3cx6e0tp0" TargetMode="External"/><Relationship Id="rId5" Type="http://schemas.openxmlformats.org/officeDocument/2006/relationships/image" Target="../media/image1.gif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jpg"/><Relationship Id="rId3" Type="http://schemas.openxmlformats.org/officeDocument/2006/relationships/image" Target="../media/image19.png"/><Relationship Id="rId4" Type="http://schemas.openxmlformats.org/officeDocument/2006/relationships/hyperlink" Target="https://www.youtube.com/watch?v=5d4CbvA3D2U" TargetMode="External"/><Relationship Id="rId5" Type="http://schemas.openxmlformats.org/officeDocument/2006/relationships/image" Target="../media/image1.gif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jpg"/><Relationship Id="rId3" Type="http://schemas.openxmlformats.org/officeDocument/2006/relationships/image" Target="../media/image21.png"/><Relationship Id="rId4" Type="http://schemas.openxmlformats.org/officeDocument/2006/relationships/hyperlink" Target="https://www.youtube.com/watch?v=QERKD90hG98" TargetMode="External"/><Relationship Id="rId5" Type="http://schemas.openxmlformats.org/officeDocument/2006/relationships/image" Target="../media/image1.gif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jpg"/><Relationship Id="rId3" Type="http://schemas.openxmlformats.org/officeDocument/2006/relationships/hyperlink" Target="https://www.youtube.com/watch?v=fBQOV3jiST0" TargetMode="External"/><Relationship Id="rId4" Type="http://schemas.openxmlformats.org/officeDocument/2006/relationships/image" Target="../media/image23.png"/><Relationship Id="rId5" Type="http://schemas.openxmlformats.org/officeDocument/2006/relationships/image" Target="../media/image24.jpg"/><Relationship Id="rId6" Type="http://schemas.openxmlformats.org/officeDocument/2006/relationships/hyperlink" Target="https://www.youtube.com/watch?v=9nXbYZL8V9E" TargetMode="External"/><Relationship Id="rId7" Type="http://schemas.openxmlformats.org/officeDocument/2006/relationships/image" Target="../media/image25.png"/><Relationship Id="rId8" Type="http://schemas.openxmlformats.org/officeDocument/2006/relationships/image" Target="../media/image26.jpg"/><Relationship Id="rId9" Type="http://schemas.openxmlformats.org/officeDocument/2006/relationships/hyperlink" Target="https://www.youtube.com/watch?v=i5TSvrhVH94" TargetMode="External"/><Relationship Id="rId10" Type="http://schemas.openxmlformats.org/officeDocument/2006/relationships/image" Target="../media/image27.png"/><Relationship Id="rId11" Type="http://schemas.openxmlformats.org/officeDocument/2006/relationships/image" Target="../media/image28.jpg"/><Relationship Id="rId12" Type="http://schemas.openxmlformats.org/officeDocument/2006/relationships/hyperlink" Target="https://www.youtube.com/watch?v=21eblauBPy8" TargetMode="External"/><Relationship Id="rId13" Type="http://schemas.openxmlformats.org/officeDocument/2006/relationships/image" Target="../media/image29.png"/><Relationship Id="rId14" Type="http://schemas.openxmlformats.org/officeDocument/2006/relationships/image" Target="../media/image30.jpg"/><Relationship Id="rId15" Type="http://schemas.openxmlformats.org/officeDocument/2006/relationships/hyperlink" Target="https://www.youtube.com/watch?v=fGaa5iluMIQ" TargetMode="External"/><Relationship Id="rId16" Type="http://schemas.openxmlformats.org/officeDocument/2006/relationships/image" Target="../media/image3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2.jpg"/><Relationship Id="rId3" Type="http://schemas.openxmlformats.org/officeDocument/2006/relationships/hyperlink" Target="https://www.youtube.com/watch?v=DuEKgK2B2p8" TargetMode="External"/><Relationship Id="rId4" Type="http://schemas.openxmlformats.org/officeDocument/2006/relationships/image" Target="../media/image33.png"/><Relationship Id="rId5" Type="http://schemas.openxmlformats.org/officeDocument/2006/relationships/image" Target="../media/image34.jpg"/><Relationship Id="rId6" Type="http://schemas.openxmlformats.org/officeDocument/2006/relationships/hyperlink" Target="https://www.youtube.com/watch?v=mhCy0IgobIw" TargetMode="External"/><Relationship Id="rId7" Type="http://schemas.openxmlformats.org/officeDocument/2006/relationships/image" Target="../media/image35.png"/><Relationship Id="rId8" Type="http://schemas.openxmlformats.org/officeDocument/2006/relationships/image" Target="../media/image36.jpg"/><Relationship Id="rId9" Type="http://schemas.openxmlformats.org/officeDocument/2006/relationships/hyperlink" Target="https://www.youtube.com/watch?v=XGbduoPa_-0" TargetMode="External"/><Relationship Id="rId10" Type="http://schemas.openxmlformats.org/officeDocument/2006/relationships/image" Target="../media/image37.png"/><Relationship Id="rId11" Type="http://schemas.openxmlformats.org/officeDocument/2006/relationships/image" Target="../media/image38.jpg"/><Relationship Id="rId12" Type="http://schemas.openxmlformats.org/officeDocument/2006/relationships/hyperlink" Target="https://www.youtube.com/watch?v=0cjKg-Z3xak" TargetMode="External"/><Relationship Id="rId13" Type="http://schemas.openxmlformats.org/officeDocument/2006/relationships/image" Target="../media/image39.png"/><Relationship Id="rId14" Type="http://schemas.openxmlformats.org/officeDocument/2006/relationships/image" Target="../media/image40.jpg"/><Relationship Id="rId15" Type="http://schemas.openxmlformats.org/officeDocument/2006/relationships/hyperlink" Target="https://www.youtube.com/watch?v=1JT-CjiNVok" TargetMode="External"/><Relationship Id="rId16" Type="http://schemas.openxmlformats.org/officeDocument/2006/relationships/image" Target="../media/image4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2.jpg"/><Relationship Id="rId3" Type="http://schemas.openxmlformats.org/officeDocument/2006/relationships/hyperlink" Target="https://www.youtube.com/watch?v=PkDfrVdCwCs" TargetMode="External"/><Relationship Id="rId4" Type="http://schemas.openxmlformats.org/officeDocument/2006/relationships/image" Target="../media/image43.png"/><Relationship Id="rId5" Type="http://schemas.openxmlformats.org/officeDocument/2006/relationships/image" Target="../media/image44.jpg"/><Relationship Id="rId6" Type="http://schemas.openxmlformats.org/officeDocument/2006/relationships/hyperlink" Target="https://www.youtube.com/watch?v=gcgKUcJKxIs" TargetMode="External"/><Relationship Id="rId7" Type="http://schemas.openxmlformats.org/officeDocument/2006/relationships/image" Target="../media/image45.png"/><Relationship Id="rId8" Type="http://schemas.openxmlformats.org/officeDocument/2006/relationships/image" Target="../media/image46.jpg"/><Relationship Id="rId9" Type="http://schemas.openxmlformats.org/officeDocument/2006/relationships/hyperlink" Target="https://www.youtube.com/watch?v=TFYnqEqeGqY" TargetMode="External"/><Relationship Id="rId10" Type="http://schemas.openxmlformats.org/officeDocument/2006/relationships/image" Target="../media/image47.png"/><Relationship Id="rId11" Type="http://schemas.openxmlformats.org/officeDocument/2006/relationships/image" Target="../media/image48.jpg"/><Relationship Id="rId12" Type="http://schemas.openxmlformats.org/officeDocument/2006/relationships/hyperlink" Target="https://www.youtube.com/watch?v=ScWlFcYn_FI" TargetMode="External"/><Relationship Id="rId13" Type="http://schemas.openxmlformats.org/officeDocument/2006/relationships/image" Target="../media/image49.png"/><Relationship Id="rId14" Type="http://schemas.openxmlformats.org/officeDocument/2006/relationships/image" Target="../media/image50.jpg"/><Relationship Id="rId15" Type="http://schemas.openxmlformats.org/officeDocument/2006/relationships/hyperlink" Target="https://www.youtube.com/watch?v=Xr032EhUDPw" TargetMode="External"/><Relationship Id="rId16" Type="http://schemas.openxmlformats.org/officeDocument/2006/relationships/image" Target="../media/image5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2.jpg"/><Relationship Id="rId3" Type="http://schemas.openxmlformats.org/officeDocument/2006/relationships/hyperlink" Target="https://www.youtube.com/watch?v=2a1YM7MCXng" TargetMode="External"/><Relationship Id="rId4" Type="http://schemas.openxmlformats.org/officeDocument/2006/relationships/image" Target="../media/image53.png"/><Relationship Id="rId5" Type="http://schemas.openxmlformats.org/officeDocument/2006/relationships/image" Target="../media/image54.jpg"/><Relationship Id="rId6" Type="http://schemas.openxmlformats.org/officeDocument/2006/relationships/hyperlink" Target="https://www.youtube.com/watch?v=OhHzzl4Z6qU" TargetMode="External"/><Relationship Id="rId7" Type="http://schemas.openxmlformats.org/officeDocument/2006/relationships/image" Target="../media/image55.png"/><Relationship Id="rId8" Type="http://schemas.openxmlformats.org/officeDocument/2006/relationships/image" Target="../media/image56.jpg"/><Relationship Id="rId9" Type="http://schemas.openxmlformats.org/officeDocument/2006/relationships/hyperlink" Target="https://www.youtube.com/watch?v=KWYewgdSAOI" TargetMode="External"/><Relationship Id="rId10" Type="http://schemas.openxmlformats.org/officeDocument/2006/relationships/image" Target="../media/image57.png"/><Relationship Id="rId11" Type="http://schemas.openxmlformats.org/officeDocument/2006/relationships/image" Target="../media/image58.jpg"/><Relationship Id="rId12" Type="http://schemas.openxmlformats.org/officeDocument/2006/relationships/hyperlink" Target="https://www.youtube.com/watch?v=HQDUEU-Zhyc" TargetMode="External"/><Relationship Id="rId13" Type="http://schemas.openxmlformats.org/officeDocument/2006/relationships/image" Target="../media/image59.png"/><Relationship Id="rId14" Type="http://schemas.openxmlformats.org/officeDocument/2006/relationships/image" Target="../media/image60.jpg"/><Relationship Id="rId15" Type="http://schemas.openxmlformats.org/officeDocument/2006/relationships/hyperlink" Target="https://www.youtube.com/watch?v=J4JTp1tNrkk" TargetMode="External"/><Relationship Id="rId16" Type="http://schemas.openxmlformats.org/officeDocument/2006/relationships/image" Target="../media/image6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F0F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920240"/>
            <a:ext cx="9144000" cy="1188720"/>
          </a:xfrm>
          <a:prstGeom prst="rect">
            <a:avLst/>
          </a:prstGeom>
          <a:solidFill>
            <a:srgbClr val="FF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993392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3400" b="1">
                <a:solidFill>
                  <a:srgbClr val="FFFFFF"/>
                </a:solidFill>
                <a:latin typeface="Arial Black"/>
              </a:rPr>
              <a:t>▶  YouTube トレンド ランキング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29184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500" b="0">
                <a:solidFill>
                  <a:srgbClr val="AAAAAA"/>
                </a:solidFill>
                <a:latin typeface="Arial"/>
              </a:rPr>
              <a:t>2026年06月02日  ·  急上昇 TOP 10 発表</a:t>
            </a:r>
          </a:p>
        </p:txBody>
      </p:sp>
      <p:pic>
        <p:nvPicPr>
          <p:cNvPr id="6" name="Picture 5" descr="zundamon-an.gif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26680" y="3726180"/>
            <a:ext cx="1371600" cy="13716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F0F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91440"/>
            <a:ext cx="1828800" cy="777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4800" b="1">
                <a:solidFill>
                  <a:srgbClr val="FFFFFF"/>
                </a:solidFill>
                <a:latin typeface="Arial Black"/>
              </a:rPr>
              <a:t>#10</a:t>
            </a:r>
          </a:p>
        </p:txBody>
      </p:sp>
      <p:pic>
        <p:nvPicPr>
          <p:cNvPr id="4" name="Picture 3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960120"/>
            <a:ext cx="3657600" cy="2057400"/>
          </a:xfrm>
          <a:prstGeom prst="rect">
            <a:avLst/>
          </a:prstGeom>
        </p:spPr>
      </p:pic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0040" y="3090672"/>
            <a:ext cx="1005840" cy="10058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417320" y="3246120"/>
            <a:ext cx="26060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 b="0">
                <a:solidFill>
                  <a:srgbClr val="AAAAAA"/>
                </a:solidFill>
                <a:latin typeface="Arial"/>
              </a:rPr>
              <a:t>https://www.youtube.com/watch?v=gAas3bTlzuU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60520" y="777240"/>
            <a:ext cx="466344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u="sng">
                <a:solidFill>
                  <a:srgbClr val="FFFFFF"/>
                </a:solidFill>
                <a:latin typeface="Arial"/>
                <a:hlinkClick r:id="rId4"/>
              </a:rPr>
              <a:t>【Minecraft】#ホロ金策サバイバル2 お金を稼ぎたい( ^ω^ ) DAY1 ぺこ！【ホロライブ/兎田ぺこら】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60520" y="2331720"/>
            <a:ext cx="466344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0">
                <a:solidFill>
                  <a:srgbClr val="AAAAAA"/>
                </a:solidFill>
                <a:latin typeface="Arial"/>
              </a:rPr>
              <a:t>📺  Pekora Ch. 兎田ぺこら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60520" y="2670048"/>
            <a:ext cx="46634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Arial"/>
              </a:rPr>
              <a:t>👁 482,458  👍 15,506  💬 214  📈+7.9%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60520" y="3035808"/>
            <a:ext cx="466344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0">
                <a:solidFill>
                  <a:srgbClr val="AAAAAA"/>
                </a:solidFill>
                <a:latin typeface="Arial"/>
              </a:rPr>
              <a:t>⏱ 4:29:19  ·  📅 公開5時間前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0040" y="4160520"/>
            <a:ext cx="85039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EC9B0"/>
                </a:solidFill>
                <a:latin typeface="Arial"/>
              </a:rPr>
              <a:t>💡 公開5時間で急上昇入り！　10万再生突破の話題作　いいね率3.2%と好評価</a:t>
            </a:r>
          </a:p>
        </p:txBody>
      </p:sp>
      <p:pic>
        <p:nvPicPr>
          <p:cNvPr id="12" name="Picture 11" descr="zundamon-an.gif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726680" y="3726180"/>
            <a:ext cx="1371600" cy="13716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F0F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91440"/>
            <a:ext cx="1828800" cy="777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4800" b="1">
                <a:solidFill>
                  <a:srgbClr val="FFFFFF"/>
                </a:solidFill>
                <a:latin typeface="Arial Black"/>
              </a:rPr>
              <a:t>#9</a:t>
            </a:r>
          </a:p>
        </p:txBody>
      </p:sp>
      <p:pic>
        <p:nvPicPr>
          <p:cNvPr id="4" name="Picture 3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960120"/>
            <a:ext cx="3657600" cy="2057400"/>
          </a:xfrm>
          <a:prstGeom prst="rect">
            <a:avLst/>
          </a:prstGeom>
        </p:spPr>
      </p:pic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0040" y="3090672"/>
            <a:ext cx="1005840" cy="10058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417320" y="3246120"/>
            <a:ext cx="26060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 b="0">
                <a:solidFill>
                  <a:srgbClr val="AAAAAA"/>
                </a:solidFill>
                <a:latin typeface="Arial"/>
              </a:rPr>
              <a:t>https://www.youtube.com/watch?v=R67c47htyDU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60520" y="777240"/>
            <a:ext cx="466344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u="sng">
                <a:solidFill>
                  <a:srgbClr val="FFFFFF"/>
                </a:solidFill>
                <a:latin typeface="Arial"/>
                <a:hlinkClick r:id="rId4"/>
              </a:rPr>
              <a:t>カリスマックス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60520" y="2331720"/>
            <a:ext cx="466344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0">
                <a:solidFill>
                  <a:srgbClr val="AAAAAA"/>
                </a:solidFill>
                <a:latin typeface="Arial"/>
              </a:rPr>
              <a:t>📺  Snow Man - Topic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60520" y="2670048"/>
            <a:ext cx="46634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Arial"/>
              </a:rPr>
              <a:t>👁 82,887  👍 672  💬 5  📈+35.0%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60520" y="3035808"/>
            <a:ext cx="466344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0">
                <a:solidFill>
                  <a:srgbClr val="AAAAAA"/>
                </a:solidFill>
                <a:latin typeface="Arial"/>
              </a:rPr>
              <a:t>⏱ 2:58  ·  📅 公開35時間前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0040" y="4160520"/>
            <a:ext cx="85039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EC9B0"/>
                </a:solidFill>
                <a:latin typeface="Arial"/>
              </a:rPr>
              <a:t>💡 公開1日で急上昇　急上昇中の新興コンテンツ　前日比+35.0%で着実に成長</a:t>
            </a:r>
          </a:p>
        </p:txBody>
      </p:sp>
      <p:pic>
        <p:nvPicPr>
          <p:cNvPr id="12" name="Picture 11" descr="zundamon-an.gif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726680" y="3726180"/>
            <a:ext cx="1371600" cy="13716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F0F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91440"/>
            <a:ext cx="1828800" cy="777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4800" b="1">
                <a:solidFill>
                  <a:srgbClr val="FFFFFF"/>
                </a:solidFill>
                <a:latin typeface="Arial Black"/>
              </a:rPr>
              <a:t>#8</a:t>
            </a:r>
          </a:p>
        </p:txBody>
      </p:sp>
      <p:pic>
        <p:nvPicPr>
          <p:cNvPr id="4" name="Picture 3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960120"/>
            <a:ext cx="3657600" cy="2057400"/>
          </a:xfrm>
          <a:prstGeom prst="rect">
            <a:avLst/>
          </a:prstGeom>
        </p:spPr>
      </p:pic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0040" y="3090672"/>
            <a:ext cx="1005840" cy="10058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417320" y="3246120"/>
            <a:ext cx="26060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 b="0">
                <a:solidFill>
                  <a:srgbClr val="AAAAAA"/>
                </a:solidFill>
                <a:latin typeface="Arial"/>
              </a:rPr>
              <a:t>https://www.youtube.com/watch?v=bG9zvaNMOoU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60520" y="777240"/>
            <a:ext cx="466344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u="sng">
                <a:solidFill>
                  <a:srgbClr val="FFFFFF"/>
                </a:solidFill>
                <a:latin typeface="Arial"/>
                <a:hlinkClick r:id="rId4"/>
              </a:rPr>
              <a:t>【4人実況】共通のお財布でギャンブルして借金返済するゲーム『Gamble With Your Friends』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60520" y="2331720"/>
            <a:ext cx="466344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0">
                <a:solidFill>
                  <a:srgbClr val="AAAAAA"/>
                </a:solidFill>
                <a:latin typeface="Arial"/>
              </a:rPr>
              <a:t>📺  レトルト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60520" y="2670048"/>
            <a:ext cx="46634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Arial"/>
              </a:rPr>
              <a:t>👁 449,543  👍 8,911  💬 397  📈+32.9%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60520" y="3035808"/>
            <a:ext cx="466344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0">
                <a:solidFill>
                  <a:srgbClr val="AAAAAA"/>
                </a:solidFill>
                <a:latin typeface="Arial"/>
              </a:rPr>
              <a:t>⏱ 1:51:54  ·  📅 公開14時間前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0040" y="4160520"/>
            <a:ext cx="85039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EC9B0"/>
                </a:solidFill>
                <a:latin typeface="Arial"/>
              </a:rPr>
              <a:t>💡 公開14時間で急上昇入り！　10万再生突破の話題作　前日比+32.9%で着実に成長</a:t>
            </a:r>
          </a:p>
        </p:txBody>
      </p:sp>
      <p:pic>
        <p:nvPicPr>
          <p:cNvPr id="12" name="Picture 11" descr="zundamon-an.gif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726680" y="3726180"/>
            <a:ext cx="1371600" cy="13716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F0F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91440"/>
            <a:ext cx="1828800" cy="777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4800" b="1">
                <a:solidFill>
                  <a:srgbClr val="FFFFFF"/>
                </a:solidFill>
                <a:latin typeface="Arial Black"/>
              </a:rPr>
              <a:t>#7</a:t>
            </a:r>
          </a:p>
        </p:txBody>
      </p:sp>
      <p:pic>
        <p:nvPicPr>
          <p:cNvPr id="4" name="Picture 3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960120"/>
            <a:ext cx="3657600" cy="2057400"/>
          </a:xfrm>
          <a:prstGeom prst="rect">
            <a:avLst/>
          </a:prstGeom>
        </p:spPr>
      </p:pic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0040" y="3090672"/>
            <a:ext cx="1005840" cy="10058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417320" y="3246120"/>
            <a:ext cx="26060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 b="0">
                <a:solidFill>
                  <a:srgbClr val="AAAAAA"/>
                </a:solidFill>
                <a:latin typeface="Arial"/>
              </a:rPr>
              <a:t>https://www.youtube.com/watch?v=1XFEtAx5i7E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60520" y="777240"/>
            <a:ext cx="466344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u="sng">
                <a:solidFill>
                  <a:srgbClr val="FFFFFF"/>
                </a:solidFill>
                <a:latin typeface="Arial"/>
                <a:hlinkClick r:id="rId4"/>
              </a:rPr>
              <a:t>SHINee 샤이니 'Atmos' MV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60520" y="2331720"/>
            <a:ext cx="466344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0">
                <a:solidFill>
                  <a:srgbClr val="AAAAAA"/>
                </a:solidFill>
                <a:latin typeface="Arial"/>
              </a:rPr>
              <a:t>📺  SMTOWN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60520" y="2670048"/>
            <a:ext cx="46634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Arial"/>
              </a:rPr>
              <a:t>👁 413,174  👍 61,731  💬 5,353  📈+49.3%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60520" y="3035808"/>
            <a:ext cx="466344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0">
                <a:solidFill>
                  <a:srgbClr val="AAAAAA"/>
                </a:solidFill>
                <a:latin typeface="Arial"/>
              </a:rPr>
              <a:t>⏱ 3:23  ·  📅 公開12時間前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0040" y="4160520"/>
            <a:ext cx="85039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EC9B0"/>
                </a:solidFill>
                <a:latin typeface="Arial"/>
              </a:rPr>
              <a:t>💡 公開12時間で急上昇入り！　10万再生突破の話題作　前日比+49.3%で着実に成長</a:t>
            </a:r>
          </a:p>
        </p:txBody>
      </p:sp>
      <p:pic>
        <p:nvPicPr>
          <p:cNvPr id="12" name="Picture 11" descr="zundamon-an.gif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726680" y="3726180"/>
            <a:ext cx="1371600" cy="13716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F0F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91440"/>
            <a:ext cx="1828800" cy="777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4800" b="1">
                <a:solidFill>
                  <a:srgbClr val="FFFFFF"/>
                </a:solidFill>
                <a:latin typeface="Arial Black"/>
              </a:rPr>
              <a:t>#6</a:t>
            </a:r>
          </a:p>
        </p:txBody>
      </p:sp>
      <p:pic>
        <p:nvPicPr>
          <p:cNvPr id="4" name="Picture 3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960120"/>
            <a:ext cx="3657600" cy="2057400"/>
          </a:xfrm>
          <a:prstGeom prst="rect">
            <a:avLst/>
          </a:prstGeom>
        </p:spPr>
      </p:pic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0040" y="3090672"/>
            <a:ext cx="1005840" cy="10058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417320" y="3246120"/>
            <a:ext cx="26060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 b="0">
                <a:solidFill>
                  <a:srgbClr val="AAAAAA"/>
                </a:solidFill>
                <a:latin typeface="Arial"/>
              </a:rPr>
              <a:t>https://www.youtube.com/watch?v=89oEM8AQOPw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60520" y="777240"/>
            <a:ext cx="466344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u="sng">
                <a:solidFill>
                  <a:srgbClr val="FFFFFF"/>
                </a:solidFill>
                <a:latin typeface="Arial"/>
                <a:hlinkClick r:id="rId4"/>
              </a:rPr>
              <a:t>【ついに】超豪華スプラ大会で、練習初日にイブラヒムチームと対戦をするも衝撃の結果にｗｗ【VCC SPLATOON】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60520" y="2331720"/>
            <a:ext cx="466344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0">
                <a:solidFill>
                  <a:srgbClr val="AAAAAA"/>
                </a:solidFill>
                <a:latin typeface="Arial"/>
              </a:rPr>
              <a:t>📺  GON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60520" y="2670048"/>
            <a:ext cx="46634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Arial"/>
              </a:rPr>
              <a:t>👁 123,463  👍 4,063  💬 608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60520" y="3035808"/>
            <a:ext cx="466344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0">
                <a:solidFill>
                  <a:srgbClr val="AAAAAA"/>
                </a:solidFill>
                <a:latin typeface="Arial"/>
              </a:rPr>
              <a:t>⏱ 1:02:18  ·  📅 公開-2時間前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0040" y="4160520"/>
            <a:ext cx="85039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EC9B0"/>
                </a:solidFill>
                <a:latin typeface="Arial"/>
              </a:rPr>
              <a:t>💡 公開-2時間で急上昇入り！　10万再生突破の話題作　いいね率3.3%と好評価</a:t>
            </a:r>
          </a:p>
        </p:txBody>
      </p:sp>
      <p:pic>
        <p:nvPicPr>
          <p:cNvPr id="12" name="Picture 11" descr="zundamon-an.gif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726680" y="3726180"/>
            <a:ext cx="1371600" cy="13716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F0F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91440"/>
            <a:ext cx="1828800" cy="777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4800" b="1">
                <a:solidFill>
                  <a:srgbClr val="FFFFFF"/>
                </a:solidFill>
                <a:latin typeface="Arial Black"/>
              </a:rPr>
              <a:t>#5</a:t>
            </a:r>
          </a:p>
        </p:txBody>
      </p:sp>
      <p:pic>
        <p:nvPicPr>
          <p:cNvPr id="4" name="Picture 3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960120"/>
            <a:ext cx="3657600" cy="2057400"/>
          </a:xfrm>
          <a:prstGeom prst="rect">
            <a:avLst/>
          </a:prstGeom>
        </p:spPr>
      </p:pic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0040" y="3090672"/>
            <a:ext cx="1005840" cy="10058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417320" y="3246120"/>
            <a:ext cx="26060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 b="0">
                <a:solidFill>
                  <a:srgbClr val="AAAAAA"/>
                </a:solidFill>
                <a:latin typeface="Arial"/>
              </a:rPr>
              <a:t>https://www.youtube.com/watch?v=65Pk_HopvyA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60520" y="777240"/>
            <a:ext cx="466344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u="sng">
                <a:solidFill>
                  <a:srgbClr val="FFFFFF"/>
                </a:solidFill>
                <a:latin typeface="Arial"/>
                <a:hlinkClick r:id="rId4"/>
              </a:rPr>
              <a:t>映画『開戦前夜』本予告【7月31日（金）公開】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60520" y="2331720"/>
            <a:ext cx="466344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0">
                <a:solidFill>
                  <a:srgbClr val="AAAAAA"/>
                </a:solidFill>
                <a:latin typeface="Arial"/>
              </a:rPr>
              <a:t>📺  東京テアトル公式チャンネル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60520" y="2670048"/>
            <a:ext cx="46634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Arial"/>
              </a:rPr>
              <a:t>👁 94,604  👍 1,021  💬 152  📈+51.1%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60520" y="3035808"/>
            <a:ext cx="466344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0">
                <a:solidFill>
                  <a:srgbClr val="AAAAAA"/>
                </a:solidFill>
                <a:latin typeface="Arial"/>
              </a:rPr>
              <a:t>⏱ 1:19  ·  📅 公開20時間前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0040" y="4160520"/>
            <a:ext cx="85039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EC9B0"/>
                </a:solidFill>
                <a:latin typeface="Arial"/>
              </a:rPr>
              <a:t>💡 公開20時間で急上昇入り！　急上昇中の新興コンテンツ　前日比+51.1%と急拡散中</a:t>
            </a:r>
          </a:p>
        </p:txBody>
      </p:sp>
      <p:pic>
        <p:nvPicPr>
          <p:cNvPr id="12" name="Picture 11" descr="zundamon-an.gif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726680" y="3726180"/>
            <a:ext cx="1371600" cy="13716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F0F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91440"/>
            <a:ext cx="1828800" cy="777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4800" b="1">
                <a:solidFill>
                  <a:srgbClr val="FFFFFF"/>
                </a:solidFill>
                <a:latin typeface="Arial Black"/>
              </a:rPr>
              <a:t>#4</a:t>
            </a:r>
          </a:p>
        </p:txBody>
      </p:sp>
      <p:pic>
        <p:nvPicPr>
          <p:cNvPr id="4" name="Picture 3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960120"/>
            <a:ext cx="3657600" cy="2057400"/>
          </a:xfrm>
          <a:prstGeom prst="rect">
            <a:avLst/>
          </a:prstGeom>
        </p:spPr>
      </p:pic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0040" y="3090672"/>
            <a:ext cx="1005840" cy="10058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417320" y="3246120"/>
            <a:ext cx="26060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 b="0">
                <a:solidFill>
                  <a:srgbClr val="AAAAAA"/>
                </a:solidFill>
                <a:latin typeface="Arial"/>
              </a:rPr>
              <a:t>https://www.youtube.com/watch?v=h8rZAMiRTTo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60520" y="777240"/>
            <a:ext cx="466344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u="sng">
                <a:solidFill>
                  <a:srgbClr val="FFFFFF"/>
                </a:solidFill>
                <a:latin typeface="Arial"/>
                <a:hlinkClick r:id="rId4"/>
              </a:rPr>
              <a:t>Official髭男dism - Pretender [Official Live Video]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60520" y="2331720"/>
            <a:ext cx="466344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0">
                <a:solidFill>
                  <a:srgbClr val="AAAAAA"/>
                </a:solidFill>
                <a:latin typeface="Arial"/>
              </a:rPr>
              <a:t>📺  Official髭男dism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60520" y="2670048"/>
            <a:ext cx="46634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Arial"/>
              </a:rPr>
              <a:t>👁 163,982  👍 14,420  💬 903  📈+39.0%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60520" y="3035808"/>
            <a:ext cx="466344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0">
                <a:solidFill>
                  <a:srgbClr val="AAAAAA"/>
                </a:solidFill>
                <a:latin typeface="Arial"/>
              </a:rPr>
              <a:t>⏱ 5:45  ·  📅 公開12時間前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0040" y="4160520"/>
            <a:ext cx="85039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EC9B0"/>
                </a:solidFill>
                <a:latin typeface="Arial"/>
              </a:rPr>
              <a:t>💡 公開12時間で急上昇入り！　10万再生突破の話題作　前日比+39.0%で着実に成長</a:t>
            </a:r>
          </a:p>
        </p:txBody>
      </p:sp>
      <p:pic>
        <p:nvPicPr>
          <p:cNvPr id="12" name="Picture 11" descr="zundamon-an.gif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726680" y="3726180"/>
            <a:ext cx="1371600" cy="13716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F0F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91440"/>
            <a:ext cx="1828800" cy="777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4800" b="1">
                <a:solidFill>
                  <a:srgbClr val="CD7F32"/>
                </a:solidFill>
                <a:latin typeface="Arial Black"/>
              </a:rPr>
              <a:t>#3</a:t>
            </a:r>
          </a:p>
        </p:txBody>
      </p:sp>
      <p:pic>
        <p:nvPicPr>
          <p:cNvPr id="4" name="Picture 3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960120"/>
            <a:ext cx="3657600" cy="2057400"/>
          </a:xfrm>
          <a:prstGeom prst="rect">
            <a:avLst/>
          </a:prstGeom>
        </p:spPr>
      </p:pic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0040" y="3090672"/>
            <a:ext cx="1005840" cy="10058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417320" y="3246120"/>
            <a:ext cx="26060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 b="0">
                <a:solidFill>
                  <a:srgbClr val="AAAAAA"/>
                </a:solidFill>
                <a:latin typeface="Arial"/>
              </a:rPr>
              <a:t>https://www.youtube.com/watch?v=Fp3cx6e0tp0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60520" y="777240"/>
            <a:ext cx="466344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u="sng">
                <a:solidFill>
                  <a:srgbClr val="FFFFFF"/>
                </a:solidFill>
                <a:latin typeface="Arial"/>
                <a:hlinkClick r:id="rId4"/>
              </a:rPr>
              <a:t>#V最協第二幕 出場選手＆チーム発表【 #VTuber最協決定戦 】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60520" y="2331720"/>
            <a:ext cx="466344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0">
                <a:solidFill>
                  <a:srgbClr val="AAAAAA"/>
                </a:solidFill>
                <a:latin typeface="Arial"/>
              </a:rPr>
              <a:t>📺  渋谷ハル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60520" y="2670048"/>
            <a:ext cx="46634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1">
                <a:solidFill>
                  <a:srgbClr val="CD7F32"/>
                </a:solidFill>
                <a:latin typeface="Arial"/>
              </a:rPr>
              <a:t>👁 522,732  👍 10,051  💬 264  📈+5.2%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60520" y="3035808"/>
            <a:ext cx="466344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0">
                <a:solidFill>
                  <a:srgbClr val="AAAAAA"/>
                </a:solidFill>
                <a:latin typeface="Arial"/>
              </a:rPr>
              <a:t>⏱ 1:43:10  ·  📅 公開9時間前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0040" y="4160520"/>
            <a:ext cx="85039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EC9B0"/>
                </a:solidFill>
                <a:latin typeface="Arial"/>
              </a:rPr>
              <a:t>💡 公開9時間で急上昇入り！　50万再生の注目コンテンツ</a:t>
            </a:r>
          </a:p>
        </p:txBody>
      </p:sp>
      <p:pic>
        <p:nvPicPr>
          <p:cNvPr id="12" name="Picture 11" descr="zundamon-an.gif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726680" y="3726180"/>
            <a:ext cx="1371600" cy="13716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F0F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91440"/>
            <a:ext cx="1828800" cy="777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4800" b="1">
                <a:solidFill>
                  <a:srgbClr val="C0C0C0"/>
                </a:solidFill>
                <a:latin typeface="Arial Black"/>
              </a:rPr>
              <a:t>#2</a:t>
            </a:r>
          </a:p>
        </p:txBody>
      </p:sp>
      <p:pic>
        <p:nvPicPr>
          <p:cNvPr id="4" name="Picture 3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960120"/>
            <a:ext cx="3657600" cy="2057400"/>
          </a:xfrm>
          <a:prstGeom prst="rect">
            <a:avLst/>
          </a:prstGeom>
        </p:spPr>
      </p:pic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0040" y="3090672"/>
            <a:ext cx="1005840" cy="10058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417320" y="3246120"/>
            <a:ext cx="26060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 b="0">
                <a:solidFill>
                  <a:srgbClr val="AAAAAA"/>
                </a:solidFill>
                <a:latin typeface="Arial"/>
              </a:rPr>
              <a:t>https://www.youtube.com/watch?v=5d4CbvA3D2U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60520" y="777240"/>
            <a:ext cx="466344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u="sng">
                <a:solidFill>
                  <a:srgbClr val="FFFFFF"/>
                </a:solidFill>
                <a:latin typeface="Arial"/>
                <a:hlinkClick r:id="rId4"/>
              </a:rPr>
              <a:t>映画『オークストリートの異変』本予告｜2026年8月14日（金）日米同時公開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60520" y="2331720"/>
            <a:ext cx="466344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0">
                <a:solidFill>
                  <a:srgbClr val="AAAAAA"/>
                </a:solidFill>
                <a:latin typeface="Arial"/>
              </a:rPr>
              <a:t>📺  ワーナー ブラザース 公式チャンネル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60520" y="2670048"/>
            <a:ext cx="46634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1">
                <a:solidFill>
                  <a:srgbClr val="C0C0C0"/>
                </a:solidFill>
                <a:latin typeface="Arial"/>
              </a:rPr>
              <a:t>👁 81,940  👍 1,258  💬 213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60520" y="3035808"/>
            <a:ext cx="466344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0">
                <a:solidFill>
                  <a:srgbClr val="AAAAAA"/>
                </a:solidFill>
                <a:latin typeface="Arial"/>
              </a:rPr>
              <a:t>⏱ 2:27  ·  📅 公開8時間前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0040" y="4160520"/>
            <a:ext cx="85039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EC9B0"/>
                </a:solidFill>
                <a:latin typeface="Arial"/>
              </a:rPr>
              <a:t>💡 公開8時間で急上昇入り！　急上昇中の新興コンテンツ</a:t>
            </a:r>
          </a:p>
        </p:txBody>
      </p:sp>
      <p:pic>
        <p:nvPicPr>
          <p:cNvPr id="12" name="Picture 11" descr="zundamon-an.gif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726680" y="3726180"/>
            <a:ext cx="1371600" cy="13716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8080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FFD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5029200"/>
            <a:ext cx="9144000" cy="109728"/>
          </a:xfrm>
          <a:prstGeom prst="rect">
            <a:avLst/>
          </a:prstGeom>
          <a:solidFill>
            <a:srgbClr val="FFD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0" y="109728"/>
            <a:ext cx="9144000" cy="868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3600" b="1">
                <a:solidFill>
                  <a:srgbClr val="FFD700"/>
                </a:solidFill>
                <a:latin typeface="Arial Black"/>
              </a:rPr>
              <a:t>🏆  NO. 1  🏆</a:t>
            </a:r>
          </a:p>
        </p:txBody>
      </p:sp>
      <p:pic>
        <p:nvPicPr>
          <p:cNvPr id="6" name="Picture 5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0" y="1024128"/>
            <a:ext cx="4572000" cy="2569464"/>
          </a:xfrm>
          <a:prstGeom prst="rect">
            <a:avLst/>
          </a:prstGeom>
        </p:spPr>
      </p:pic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" y="3639312"/>
            <a:ext cx="1005840" cy="100584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274320" y="3657600"/>
            <a:ext cx="7406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u="sng">
                <a:solidFill>
                  <a:srgbClr val="FFFFFF"/>
                </a:solidFill>
                <a:latin typeface="Arial"/>
                <a:hlinkClick r:id="rId4"/>
              </a:rPr>
              <a:t>TREASURE - ‘IF I’ M/V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74320" y="4160520"/>
            <a:ext cx="740664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0">
                <a:solidFill>
                  <a:srgbClr val="FFD700"/>
                </a:solidFill>
                <a:latin typeface="Arial"/>
              </a:rPr>
              <a:t>👁 5,592,642  👍 255,129  💬 50,359  ⏱ 3:08  📅 公開12時間前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74320" y="4498848"/>
            <a:ext cx="74066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4EC9B0"/>
                </a:solidFill>
                <a:latin typeface="Arial"/>
              </a:rPr>
              <a:t>💡 公開12時間で急上昇入り！　500万再生超の超バズ動画　前日比+88.0%と急拡散中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4320" y="4828032"/>
            <a:ext cx="7406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700" b="0">
                <a:solidFill>
                  <a:srgbClr val="AAAAAA"/>
                </a:solidFill>
                <a:latin typeface="Arial"/>
              </a:rPr>
              <a:t>https://www.youtube.com/watch?v=QERKD90hG98</a:t>
            </a:r>
          </a:p>
        </p:txBody>
      </p:sp>
      <p:pic>
        <p:nvPicPr>
          <p:cNvPr id="12" name="Picture 11" descr="zundamon-an.gif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726680" y="3726180"/>
            <a:ext cx="1371600" cy="13716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F0F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37160"/>
            <a:ext cx="82296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Arial Black"/>
              </a:rPr>
              <a:t>🎬 エンタメ 人気動画 TOP 5</a:t>
            </a:r>
          </a:p>
        </p:txBody>
      </p:sp>
      <p:sp>
        <p:nvSpPr>
          <p:cNvPr id="4" name="Rectangle 3"/>
          <p:cNvSpPr/>
          <p:nvPr/>
        </p:nvSpPr>
        <p:spPr>
          <a:xfrm>
            <a:off x="274320" y="749808"/>
            <a:ext cx="8595360" cy="804672"/>
          </a:xfrm>
          <a:prstGeom prst="rect">
            <a:avLst/>
          </a:prstGeom>
          <a:solidFill>
            <a:srgbClr val="1E1E1E"/>
          </a:solidFill>
          <a:ln w="6350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749808"/>
            <a:ext cx="1737360" cy="97840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194560" y="786384"/>
            <a:ext cx="5486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500" b="1">
                <a:solidFill>
                  <a:srgbClr val="FFD700"/>
                </a:solidFill>
                <a:latin typeface="Arial Black"/>
              </a:rPr>
              <a:t>#1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697480" y="786384"/>
            <a:ext cx="52120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u="sng">
                <a:solidFill>
                  <a:srgbClr val="FFFFFF"/>
                </a:solidFill>
                <a:latin typeface="Arial"/>
                <a:hlinkClick r:id="rId3"/>
              </a:rPr>
              <a:t>いや勝つんかいw　 #おもしろ #エンタメ #ネタ #バズれ #shorts</a:t>
            </a:r>
          </a:p>
        </p:txBody>
      </p:sp>
      <p:pic>
        <p:nvPicPr>
          <p:cNvPr id="8" name="Picture 7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46720" y="804672"/>
            <a:ext cx="685800" cy="6858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2697480" y="1207008"/>
            <a:ext cx="521208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>
                <a:solidFill>
                  <a:srgbClr val="AAAAAA"/>
                </a:solidFill>
                <a:latin typeface="Arial"/>
              </a:rPr>
              <a:t>📺 やっさん2  👁 19,149,246  👍 158,038  ⏱ 0:10  📅 2025-08-09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697480" y="1389888"/>
            <a:ext cx="521208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 b="0">
                <a:solidFill>
                  <a:srgbClr val="666666"/>
                </a:solidFill>
                <a:latin typeface="Arial"/>
              </a:rPr>
              <a:t>https://www.youtube.com/watch?v=fBQOV3jiST0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74320" y="1627632"/>
            <a:ext cx="8595360" cy="804672"/>
          </a:xfrm>
          <a:prstGeom prst="rect">
            <a:avLst/>
          </a:prstGeom>
          <a:solidFill>
            <a:srgbClr val="1E1E1E"/>
          </a:solidFill>
          <a:ln w="6350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image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20040" y="1627632"/>
            <a:ext cx="1737360" cy="97840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2194560" y="1664208"/>
            <a:ext cx="5486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500" b="1">
                <a:solidFill>
                  <a:srgbClr val="C0C0C0"/>
                </a:solidFill>
                <a:latin typeface="Arial Black"/>
              </a:rPr>
              <a:t>#2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697480" y="1664208"/>
            <a:ext cx="52120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u="sng">
                <a:solidFill>
                  <a:srgbClr val="FFFFFF"/>
                </a:solidFill>
                <a:latin typeface="Arial"/>
                <a:hlinkClick r:id="rId6"/>
              </a:rPr>
              <a:t>無反応挑戦　w#おもしろ＃おもしろ動画＃エンタメ#お笑い#バラエティ#テレビ#バズれ…</a:t>
            </a:r>
          </a:p>
        </p:txBody>
      </p:sp>
      <p:pic>
        <p:nvPicPr>
          <p:cNvPr id="15" name="Picture 14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046720" y="1682496"/>
            <a:ext cx="685800" cy="68580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2697480" y="2084832"/>
            <a:ext cx="521208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>
                <a:solidFill>
                  <a:srgbClr val="AAAAAA"/>
                </a:solidFill>
                <a:latin typeface="Arial"/>
              </a:rPr>
              <a:t>📺 ネタ秒  👁 14,609,674  👍 41,764  ⏱ 0:17  📅 2025-09-26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697480" y="2267712"/>
            <a:ext cx="521208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 b="0">
                <a:solidFill>
                  <a:srgbClr val="666666"/>
                </a:solidFill>
                <a:latin typeface="Arial"/>
              </a:rPr>
              <a:t>https://www.youtube.com/watch?v=9nXbYZL8V9E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74320" y="2505456"/>
            <a:ext cx="8595360" cy="804672"/>
          </a:xfrm>
          <a:prstGeom prst="rect">
            <a:avLst/>
          </a:prstGeom>
          <a:solidFill>
            <a:srgbClr val="1E1E1E"/>
          </a:solidFill>
          <a:ln w="6350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image.jp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20040" y="2505456"/>
            <a:ext cx="1737360" cy="978408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2194560" y="2542032"/>
            <a:ext cx="5486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500" b="1">
                <a:solidFill>
                  <a:srgbClr val="CD7F32"/>
                </a:solidFill>
                <a:latin typeface="Arial Black"/>
              </a:rPr>
              <a:t>#3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697480" y="2542032"/>
            <a:ext cx="52120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u="sng">
                <a:solidFill>
                  <a:srgbClr val="FFFFFF"/>
                </a:solidFill>
                <a:latin typeface="Arial"/>
                <a:hlinkClick r:id="rId9"/>
              </a:rPr>
              <a:t>クビの真相は？【GOKKO】【ごっこ倶楽部】【企業研究】【エンタメ業界】【IT業界】…</a:t>
            </a:r>
          </a:p>
        </p:txBody>
      </p:sp>
      <p:pic>
        <p:nvPicPr>
          <p:cNvPr id="22" name="Picture 21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8046720" y="2560320"/>
            <a:ext cx="685800" cy="685800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2697480" y="2962656"/>
            <a:ext cx="521208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>
                <a:solidFill>
                  <a:srgbClr val="AAAAAA"/>
                </a:solidFill>
                <a:latin typeface="Arial"/>
              </a:rPr>
              <a:t>📺 ごっこ倶楽部のウラ垢 - STUDIO GOKKO -  👁 12,781,251  👍 170,533  ⏱ 1:28  📅 2025-04-14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697480" y="3145536"/>
            <a:ext cx="521208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 b="0">
                <a:solidFill>
                  <a:srgbClr val="666666"/>
                </a:solidFill>
                <a:latin typeface="Arial"/>
              </a:rPr>
              <a:t>https://www.youtube.com/watch?v=i5TSvrhVH94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74320" y="3383280"/>
            <a:ext cx="8595360" cy="804672"/>
          </a:xfrm>
          <a:prstGeom prst="rect">
            <a:avLst/>
          </a:prstGeom>
          <a:solidFill>
            <a:srgbClr val="1E1E1E"/>
          </a:solidFill>
          <a:ln w="6350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6" name="Picture 25" descr="image.jp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320040" y="3383280"/>
            <a:ext cx="1737360" cy="978408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2194560" y="3419856"/>
            <a:ext cx="5486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500" b="1">
                <a:solidFill>
                  <a:srgbClr val="AAAAAA"/>
                </a:solidFill>
                <a:latin typeface="Arial Black"/>
              </a:rPr>
              <a:t>#4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697480" y="3419856"/>
            <a:ext cx="52120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u="sng">
                <a:solidFill>
                  <a:srgbClr val="FFFFFF"/>
                </a:solidFill>
                <a:latin typeface="Arial"/>
                <a:hlinkClick r:id="rId12"/>
              </a:rPr>
              <a:t>狩野英孝のマイクラ実況が面白いwww#エンタメ #マイクラ #狩野英孝</a:t>
            </a:r>
          </a:p>
        </p:txBody>
      </p:sp>
      <p:pic>
        <p:nvPicPr>
          <p:cNvPr id="29" name="Picture 28" descr="image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8046720" y="3438144"/>
            <a:ext cx="685800" cy="685800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2697480" y="3840480"/>
            <a:ext cx="521208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>
                <a:solidFill>
                  <a:srgbClr val="AAAAAA"/>
                </a:solidFill>
                <a:latin typeface="Arial"/>
              </a:rPr>
              <a:t>📺 はるえもん  👁 11,712,699  👍 185,725  ⏱ 1:33  📅 2025-07-05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697480" y="4023360"/>
            <a:ext cx="521208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 b="0">
                <a:solidFill>
                  <a:srgbClr val="666666"/>
                </a:solidFill>
                <a:latin typeface="Arial"/>
              </a:rPr>
              <a:t>https://www.youtube.com/watch?v=21eblauBPy8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74320" y="4261104"/>
            <a:ext cx="8595360" cy="804672"/>
          </a:xfrm>
          <a:prstGeom prst="rect">
            <a:avLst/>
          </a:prstGeom>
          <a:solidFill>
            <a:srgbClr val="1E1E1E"/>
          </a:solidFill>
          <a:ln w="6350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3" name="Picture 32" descr="image.jp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320040" y="4261104"/>
            <a:ext cx="1737360" cy="978408"/>
          </a:xfrm>
          <a:prstGeom prst="rect">
            <a:avLst/>
          </a:prstGeom>
        </p:spPr>
      </p:pic>
      <p:sp>
        <p:nvSpPr>
          <p:cNvPr id="34" name="TextBox 33"/>
          <p:cNvSpPr txBox="1"/>
          <p:nvPr/>
        </p:nvSpPr>
        <p:spPr>
          <a:xfrm>
            <a:off x="2194560" y="4297680"/>
            <a:ext cx="5486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500" b="1">
                <a:solidFill>
                  <a:srgbClr val="AAAAAA"/>
                </a:solidFill>
                <a:latin typeface="Arial Black"/>
              </a:rPr>
              <a:t>#5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697480" y="4297680"/>
            <a:ext cx="52120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u="sng">
                <a:solidFill>
                  <a:srgbClr val="FFFFFF"/>
                </a:solidFill>
                <a:latin typeface="Arial"/>
                <a:hlinkClick r:id="rId15"/>
              </a:rPr>
              <a:t>ネプリーグ放送事故w #おもしろ #面白い #テレビ #エンタメ #お笑い #芸人 …</a:t>
            </a:r>
          </a:p>
        </p:txBody>
      </p:sp>
      <p:pic>
        <p:nvPicPr>
          <p:cNvPr id="36" name="Picture 35" descr="image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8046720" y="4315968"/>
            <a:ext cx="685800" cy="685800"/>
          </a:xfrm>
          <a:prstGeom prst="rect">
            <a:avLst/>
          </a:prstGeom>
        </p:spPr>
      </p:pic>
      <p:sp>
        <p:nvSpPr>
          <p:cNvPr id="37" name="TextBox 36"/>
          <p:cNvSpPr txBox="1"/>
          <p:nvPr/>
        </p:nvSpPr>
        <p:spPr>
          <a:xfrm>
            <a:off x="2697480" y="4718304"/>
            <a:ext cx="521208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>
                <a:solidFill>
                  <a:srgbClr val="AAAAAA"/>
                </a:solidFill>
                <a:latin typeface="Arial"/>
              </a:rPr>
              <a:t>📺 やっさん2  👁 11,482,734  👍 132,444  ⏱ 0:18  📅 2025-11-01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697480" y="4901184"/>
            <a:ext cx="521208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 b="0">
                <a:solidFill>
                  <a:srgbClr val="666666"/>
                </a:solidFill>
                <a:latin typeface="Arial"/>
              </a:rPr>
              <a:t>https://www.youtube.com/watch?v=fGaa5iluMIQ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F0F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37160"/>
            <a:ext cx="82296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Arial Black"/>
              </a:rPr>
              <a:t>🎮 ゲーム 人気動画 TOP 5</a:t>
            </a:r>
          </a:p>
        </p:txBody>
      </p:sp>
      <p:sp>
        <p:nvSpPr>
          <p:cNvPr id="4" name="Rectangle 3"/>
          <p:cNvSpPr/>
          <p:nvPr/>
        </p:nvSpPr>
        <p:spPr>
          <a:xfrm>
            <a:off x="274320" y="749808"/>
            <a:ext cx="8595360" cy="804672"/>
          </a:xfrm>
          <a:prstGeom prst="rect">
            <a:avLst/>
          </a:prstGeom>
          <a:solidFill>
            <a:srgbClr val="1E1E1E"/>
          </a:solidFill>
          <a:ln w="6350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749808"/>
            <a:ext cx="1737360" cy="97840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194560" y="786384"/>
            <a:ext cx="5486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500" b="1">
                <a:solidFill>
                  <a:srgbClr val="FFD700"/>
                </a:solidFill>
                <a:latin typeface="Arial Black"/>
              </a:rPr>
              <a:t>#1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697480" y="786384"/>
            <a:ext cx="52120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u="sng">
                <a:solidFill>
                  <a:srgbClr val="FFFFFF"/>
                </a:solidFill>
                <a:latin typeface="Arial"/>
                <a:hlinkClick r:id="rId3"/>
              </a:rPr>
              <a:t>たくさん食べてすくすく育つ！【MOD紹介】</a:t>
            </a:r>
          </a:p>
        </p:txBody>
      </p:sp>
      <p:pic>
        <p:nvPicPr>
          <p:cNvPr id="8" name="Picture 7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46720" y="804672"/>
            <a:ext cx="685800" cy="6858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2697480" y="1207008"/>
            <a:ext cx="521208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>
                <a:solidFill>
                  <a:srgbClr val="AAAAAA"/>
                </a:solidFill>
                <a:latin typeface="Arial"/>
              </a:rPr>
              <a:t>📺 ウッドリィ  👁 24,839,362  👍 378,688  ⏱ 0:37  📅 2024-09-30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697480" y="1389888"/>
            <a:ext cx="521208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 b="0">
                <a:solidFill>
                  <a:srgbClr val="666666"/>
                </a:solidFill>
                <a:latin typeface="Arial"/>
              </a:rPr>
              <a:t>https://www.youtube.com/watch?v=DuEKgK2B2p8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74320" y="1627632"/>
            <a:ext cx="8595360" cy="804672"/>
          </a:xfrm>
          <a:prstGeom prst="rect">
            <a:avLst/>
          </a:prstGeom>
          <a:solidFill>
            <a:srgbClr val="1E1E1E"/>
          </a:solidFill>
          <a:ln w="6350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image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20040" y="1627632"/>
            <a:ext cx="1737360" cy="97840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2194560" y="1664208"/>
            <a:ext cx="5486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500" b="1">
                <a:solidFill>
                  <a:srgbClr val="C0C0C0"/>
                </a:solidFill>
                <a:latin typeface="Arial Black"/>
              </a:rPr>
              <a:t>#2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697480" y="1664208"/>
            <a:ext cx="52120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u="sng">
                <a:solidFill>
                  <a:srgbClr val="FFFFFF"/>
                </a:solidFill>
                <a:latin typeface="Arial"/>
                <a:hlinkClick r:id="rId6"/>
              </a:rPr>
              <a:t>感動のダブルスイカ‼️ #スイカゲーム #ゲーム実況 #サワヤンゲームズ</a:t>
            </a:r>
          </a:p>
        </p:txBody>
      </p:sp>
      <p:pic>
        <p:nvPicPr>
          <p:cNvPr id="15" name="Picture 14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046720" y="1682496"/>
            <a:ext cx="685800" cy="68580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2697480" y="2084832"/>
            <a:ext cx="521208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>
                <a:solidFill>
                  <a:srgbClr val="AAAAAA"/>
                </a:solidFill>
                <a:latin typeface="Arial"/>
              </a:rPr>
              <a:t>📺 にこみチャンネル  👁 20,447,961  👍 362,479  ⏱ 0:59  📅 2023-12-22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697480" y="2267712"/>
            <a:ext cx="521208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 b="0">
                <a:solidFill>
                  <a:srgbClr val="666666"/>
                </a:solidFill>
                <a:latin typeface="Arial"/>
              </a:rPr>
              <a:t>https://www.youtube.com/watch?v=mhCy0IgobIw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74320" y="2505456"/>
            <a:ext cx="8595360" cy="804672"/>
          </a:xfrm>
          <a:prstGeom prst="rect">
            <a:avLst/>
          </a:prstGeom>
          <a:solidFill>
            <a:srgbClr val="1E1E1E"/>
          </a:solidFill>
          <a:ln w="6350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image.jp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20040" y="2505456"/>
            <a:ext cx="1737360" cy="978408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2194560" y="2542032"/>
            <a:ext cx="5486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500" b="1">
                <a:solidFill>
                  <a:srgbClr val="CD7F32"/>
                </a:solidFill>
                <a:latin typeface="Arial Black"/>
              </a:rPr>
              <a:t>#3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697480" y="2542032"/>
            <a:ext cx="52120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u="sng">
                <a:solidFill>
                  <a:srgbClr val="FFFFFF"/>
                </a:solidFill>
                <a:latin typeface="Arial"/>
                <a:hlinkClick r:id="rId9"/>
              </a:rPr>
              <a:t>全部ひっかかる人【しょぼんのアクション3D】 #ゲーム実況</a:t>
            </a:r>
          </a:p>
        </p:txBody>
      </p:sp>
      <p:pic>
        <p:nvPicPr>
          <p:cNvPr id="22" name="Picture 21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8046720" y="2560320"/>
            <a:ext cx="685800" cy="685800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2697480" y="2962656"/>
            <a:ext cx="521208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>
                <a:solidFill>
                  <a:srgbClr val="AAAAAA"/>
                </a:solidFill>
                <a:latin typeface="Arial"/>
              </a:rPr>
              <a:t>📺 タン  👁 19,799,168  👍 389,743  ⏱ 1:00  📅 2023-09-28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697480" y="3145536"/>
            <a:ext cx="521208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 b="0">
                <a:solidFill>
                  <a:srgbClr val="666666"/>
                </a:solidFill>
                <a:latin typeface="Arial"/>
              </a:rPr>
              <a:t>https://www.youtube.com/watch?v=XGbduoPa_-0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74320" y="3383280"/>
            <a:ext cx="8595360" cy="804672"/>
          </a:xfrm>
          <a:prstGeom prst="rect">
            <a:avLst/>
          </a:prstGeom>
          <a:solidFill>
            <a:srgbClr val="1E1E1E"/>
          </a:solidFill>
          <a:ln w="6350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6" name="Picture 25" descr="image.jp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320040" y="3383280"/>
            <a:ext cx="1737360" cy="978408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2194560" y="3419856"/>
            <a:ext cx="5486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500" b="1">
                <a:solidFill>
                  <a:srgbClr val="AAAAAA"/>
                </a:solidFill>
                <a:latin typeface="Arial Black"/>
              </a:rPr>
              <a:t>#4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697480" y="3419856"/>
            <a:ext cx="52120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u="sng">
                <a:solidFill>
                  <a:srgbClr val="FFFFFF"/>
                </a:solidFill>
                <a:latin typeface="Arial"/>
                <a:hlinkClick r:id="rId12"/>
              </a:rPr>
              <a:t>見たことの無い落ち方をする配信者#葉 #ゲーム実況 #切り抜き #onlyup</a:t>
            </a:r>
          </a:p>
        </p:txBody>
      </p:sp>
      <p:pic>
        <p:nvPicPr>
          <p:cNvPr id="29" name="Picture 28" descr="image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8046720" y="3438144"/>
            <a:ext cx="685800" cy="685800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2697480" y="3840480"/>
            <a:ext cx="521208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>
                <a:solidFill>
                  <a:srgbClr val="AAAAAA"/>
                </a:solidFill>
                <a:latin typeface="Arial"/>
              </a:rPr>
              <a:t>📺 葉ちゅべ  👁 18,711,138  👍 354,816  ⏱ 0:38  📅 2023-07-07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697480" y="4023360"/>
            <a:ext cx="521208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 b="0">
                <a:solidFill>
                  <a:srgbClr val="666666"/>
                </a:solidFill>
                <a:latin typeface="Arial"/>
              </a:rPr>
              <a:t>https://www.youtube.com/watch?v=0cjKg-Z3xak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74320" y="4261104"/>
            <a:ext cx="8595360" cy="804672"/>
          </a:xfrm>
          <a:prstGeom prst="rect">
            <a:avLst/>
          </a:prstGeom>
          <a:solidFill>
            <a:srgbClr val="1E1E1E"/>
          </a:solidFill>
          <a:ln w="6350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3" name="Picture 32" descr="image.jp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320040" y="4261104"/>
            <a:ext cx="1737360" cy="978408"/>
          </a:xfrm>
          <a:prstGeom prst="rect">
            <a:avLst/>
          </a:prstGeom>
        </p:spPr>
      </p:pic>
      <p:sp>
        <p:nvSpPr>
          <p:cNvPr id="34" name="TextBox 33"/>
          <p:cNvSpPr txBox="1"/>
          <p:nvPr/>
        </p:nvSpPr>
        <p:spPr>
          <a:xfrm>
            <a:off x="2194560" y="4297680"/>
            <a:ext cx="5486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500" b="1">
                <a:solidFill>
                  <a:srgbClr val="AAAAAA"/>
                </a:solidFill>
                <a:latin typeface="Arial Black"/>
              </a:rPr>
              <a:t>#5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697480" y="4297680"/>
            <a:ext cx="52120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u="sng">
                <a:solidFill>
                  <a:srgbClr val="FFFFFF"/>
                </a:solidFill>
                <a:latin typeface="Arial"/>
                <a:hlinkClick r:id="rId15"/>
              </a:rPr>
              <a:t>デビルレベルpart9 #switch2 #ゲーム実況 #shorts</a:t>
            </a:r>
          </a:p>
        </p:txBody>
      </p:sp>
      <p:pic>
        <p:nvPicPr>
          <p:cNvPr id="36" name="Picture 35" descr="image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8046720" y="4315968"/>
            <a:ext cx="685800" cy="685800"/>
          </a:xfrm>
          <a:prstGeom prst="rect">
            <a:avLst/>
          </a:prstGeom>
        </p:spPr>
      </p:pic>
      <p:sp>
        <p:nvSpPr>
          <p:cNvPr id="37" name="TextBox 36"/>
          <p:cNvSpPr txBox="1"/>
          <p:nvPr/>
        </p:nvSpPr>
        <p:spPr>
          <a:xfrm>
            <a:off x="2697480" y="4718304"/>
            <a:ext cx="521208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>
                <a:solidFill>
                  <a:srgbClr val="AAAAAA"/>
                </a:solidFill>
                <a:latin typeface="Arial"/>
              </a:rPr>
              <a:t>📺 ぐりげんの南極第二拠点  👁 16,596,462  👍 195,430  ⏱ 1:02  📅 2025-08-18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697480" y="4901184"/>
            <a:ext cx="521208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 b="0">
                <a:solidFill>
                  <a:srgbClr val="666666"/>
                </a:solidFill>
                <a:latin typeface="Arial"/>
              </a:rPr>
              <a:t>https://www.youtube.com/watch?v=1JT-CjiNVok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F0F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37160"/>
            <a:ext cx="82296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Arial Black"/>
              </a:rPr>
              <a:t>✨ アニメ 人気動画 TOP 5</a:t>
            </a:r>
          </a:p>
        </p:txBody>
      </p:sp>
      <p:sp>
        <p:nvSpPr>
          <p:cNvPr id="4" name="Rectangle 3"/>
          <p:cNvSpPr/>
          <p:nvPr/>
        </p:nvSpPr>
        <p:spPr>
          <a:xfrm>
            <a:off x="274320" y="749808"/>
            <a:ext cx="8595360" cy="804672"/>
          </a:xfrm>
          <a:prstGeom prst="rect">
            <a:avLst/>
          </a:prstGeom>
          <a:solidFill>
            <a:srgbClr val="1E1E1E"/>
          </a:solidFill>
          <a:ln w="6350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749808"/>
            <a:ext cx="1737360" cy="97840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194560" y="786384"/>
            <a:ext cx="5486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500" b="1">
                <a:solidFill>
                  <a:srgbClr val="FFD700"/>
                </a:solidFill>
                <a:latin typeface="Arial Black"/>
              </a:rPr>
              <a:t>#1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697480" y="786384"/>
            <a:ext cx="52120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u="sng">
                <a:solidFill>
                  <a:srgbClr val="FFFFFF"/>
                </a:solidFill>
                <a:latin typeface="Arial"/>
                <a:hlinkClick r:id="rId3"/>
              </a:rPr>
              <a:t>映画「アンパンマンが生まれた日」【アンパンマンアニメ公式】</a:t>
            </a:r>
          </a:p>
        </p:txBody>
      </p:sp>
      <p:pic>
        <p:nvPicPr>
          <p:cNvPr id="8" name="Picture 7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46720" y="804672"/>
            <a:ext cx="685800" cy="6858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2697480" y="1207008"/>
            <a:ext cx="521208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>
                <a:solidFill>
                  <a:srgbClr val="AAAAAA"/>
                </a:solidFill>
                <a:latin typeface="Arial"/>
              </a:rPr>
              <a:t>📺 それいけ!アンパンマン【アニメ公式】  👁 147,510,829  👍 0  ⏱ 11:16  📅 2021-02-18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697480" y="1389888"/>
            <a:ext cx="521208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 b="0">
                <a:solidFill>
                  <a:srgbClr val="666666"/>
                </a:solidFill>
                <a:latin typeface="Arial"/>
              </a:rPr>
              <a:t>https://www.youtube.com/watch?v=PkDfrVdCwCs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74320" y="1627632"/>
            <a:ext cx="8595360" cy="804672"/>
          </a:xfrm>
          <a:prstGeom prst="rect">
            <a:avLst/>
          </a:prstGeom>
          <a:solidFill>
            <a:srgbClr val="1E1E1E"/>
          </a:solidFill>
          <a:ln w="6350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image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20040" y="1627632"/>
            <a:ext cx="1737360" cy="97840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2194560" y="1664208"/>
            <a:ext cx="5486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500" b="1">
                <a:solidFill>
                  <a:srgbClr val="C0C0C0"/>
                </a:solidFill>
                <a:latin typeface="Arial Black"/>
              </a:rPr>
              <a:t>#2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697480" y="1664208"/>
            <a:ext cx="52120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u="sng">
                <a:solidFill>
                  <a:srgbClr val="FFFFFF"/>
                </a:solidFill>
                <a:latin typeface="Arial"/>
                <a:hlinkClick r:id="rId6"/>
              </a:rPr>
              <a:t>TVアニメ『呪術廻戦』第2期「懐玉・玉折」ノンクレジットOPムービー／OPテーマ：キ…</a:t>
            </a:r>
          </a:p>
        </p:txBody>
      </p:sp>
      <p:pic>
        <p:nvPicPr>
          <p:cNvPr id="15" name="Picture 14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046720" y="1682496"/>
            <a:ext cx="685800" cy="68580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2697480" y="2084832"/>
            <a:ext cx="521208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>
                <a:solidFill>
                  <a:srgbClr val="AAAAAA"/>
                </a:solidFill>
                <a:latin typeface="Arial"/>
              </a:rPr>
              <a:t>📺 TOHO animation チャンネル  👁 141,770,644  👍 0  ⏱ 1:31  📅 2023-07-07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697480" y="2267712"/>
            <a:ext cx="521208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 b="0">
                <a:solidFill>
                  <a:srgbClr val="666666"/>
                </a:solidFill>
                <a:latin typeface="Arial"/>
              </a:rPr>
              <a:t>https://www.youtube.com/watch?v=gcgKUcJKxIs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74320" y="2505456"/>
            <a:ext cx="8595360" cy="804672"/>
          </a:xfrm>
          <a:prstGeom prst="rect">
            <a:avLst/>
          </a:prstGeom>
          <a:solidFill>
            <a:srgbClr val="1E1E1E"/>
          </a:solidFill>
          <a:ln w="6350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image.jp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20040" y="2505456"/>
            <a:ext cx="1737360" cy="978408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2194560" y="2542032"/>
            <a:ext cx="5486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500" b="1">
                <a:solidFill>
                  <a:srgbClr val="CD7F32"/>
                </a:solidFill>
                <a:latin typeface="Arial Black"/>
              </a:rPr>
              <a:t>#3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697480" y="2542032"/>
            <a:ext cx="52120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u="sng">
                <a:solidFill>
                  <a:srgbClr val="FFFFFF"/>
                </a:solidFill>
                <a:latin typeface="Arial"/>
                <a:hlinkClick r:id="rId9"/>
              </a:rPr>
              <a:t>バスボールを使ってみよう！#アニメキッズ</a:t>
            </a:r>
          </a:p>
        </p:txBody>
      </p:sp>
      <p:pic>
        <p:nvPicPr>
          <p:cNvPr id="22" name="Picture 21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8046720" y="2560320"/>
            <a:ext cx="685800" cy="685800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2697480" y="2962656"/>
            <a:ext cx="521208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>
                <a:solidFill>
                  <a:srgbClr val="AAAAAA"/>
                </a:solidFill>
                <a:latin typeface="Arial"/>
              </a:rPr>
              <a:t>📺 アニメキッズanimekids  👁 44,893,578  👍 0  ⏱ 29:47  📅 2017-09-15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697480" y="3145536"/>
            <a:ext cx="521208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 b="0">
                <a:solidFill>
                  <a:srgbClr val="666666"/>
                </a:solidFill>
                <a:latin typeface="Arial"/>
              </a:rPr>
              <a:t>https://www.youtube.com/watch?v=TFYnqEqeGqY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74320" y="3383280"/>
            <a:ext cx="8595360" cy="804672"/>
          </a:xfrm>
          <a:prstGeom prst="rect">
            <a:avLst/>
          </a:prstGeom>
          <a:solidFill>
            <a:srgbClr val="1E1E1E"/>
          </a:solidFill>
          <a:ln w="6350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6" name="Picture 25" descr="image.jp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320040" y="3383280"/>
            <a:ext cx="1737360" cy="978408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2194560" y="3419856"/>
            <a:ext cx="5486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500" b="1">
                <a:solidFill>
                  <a:srgbClr val="AAAAAA"/>
                </a:solidFill>
                <a:latin typeface="Arial Black"/>
              </a:rPr>
              <a:t>#4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697480" y="3419856"/>
            <a:ext cx="52120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u="sng">
                <a:solidFill>
                  <a:srgbClr val="FFFFFF"/>
                </a:solidFill>
                <a:latin typeface="Arial"/>
                <a:hlinkClick r:id="rId12"/>
              </a:rPr>
              <a:t>アイナ・ジ・エンド / 革命道中 - On The Way × TVアニメ『ダンダダ…</a:t>
            </a:r>
          </a:p>
        </p:txBody>
      </p:sp>
      <p:pic>
        <p:nvPicPr>
          <p:cNvPr id="29" name="Picture 28" descr="image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8046720" y="3438144"/>
            <a:ext cx="685800" cy="685800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2697480" y="3840480"/>
            <a:ext cx="521208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>
                <a:solidFill>
                  <a:srgbClr val="AAAAAA"/>
                </a:solidFill>
                <a:latin typeface="Arial"/>
              </a:rPr>
              <a:t>📺 アイナ・ジ・エンド Official  👁 43,821,668  👍 186,798  ⏱ 3:22  📅 2025-08-20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697480" y="4023360"/>
            <a:ext cx="521208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 b="0">
                <a:solidFill>
                  <a:srgbClr val="666666"/>
                </a:solidFill>
                <a:latin typeface="Arial"/>
              </a:rPr>
              <a:t>https://www.youtube.com/watch?v=ScWlFcYn_FI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74320" y="4261104"/>
            <a:ext cx="8595360" cy="804672"/>
          </a:xfrm>
          <a:prstGeom prst="rect">
            <a:avLst/>
          </a:prstGeom>
          <a:solidFill>
            <a:srgbClr val="1E1E1E"/>
          </a:solidFill>
          <a:ln w="6350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3" name="Picture 32" descr="image.jp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320040" y="4261104"/>
            <a:ext cx="1737360" cy="978408"/>
          </a:xfrm>
          <a:prstGeom prst="rect">
            <a:avLst/>
          </a:prstGeom>
        </p:spPr>
      </p:pic>
      <p:sp>
        <p:nvSpPr>
          <p:cNvPr id="34" name="TextBox 33"/>
          <p:cNvSpPr txBox="1"/>
          <p:nvPr/>
        </p:nvSpPr>
        <p:spPr>
          <a:xfrm>
            <a:off x="2194560" y="4297680"/>
            <a:ext cx="5486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500" b="1">
                <a:solidFill>
                  <a:srgbClr val="AAAAAA"/>
                </a:solidFill>
                <a:latin typeface="Arial Black"/>
              </a:rPr>
              <a:t>#5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697480" y="4297680"/>
            <a:ext cx="52120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u="sng">
                <a:solidFill>
                  <a:srgbClr val="FFFFFF"/>
                </a:solidFill>
                <a:latin typeface="Arial"/>
                <a:hlinkClick r:id="rId15"/>
              </a:rPr>
              <a:t>TVアニメ『呪術廻戦』第3期「死滅回游 前編」ノンクレジットOPムービー／OPテーマ…</a:t>
            </a:r>
          </a:p>
        </p:txBody>
      </p:sp>
      <p:pic>
        <p:nvPicPr>
          <p:cNvPr id="36" name="Picture 35" descr="image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8046720" y="4315968"/>
            <a:ext cx="685800" cy="685800"/>
          </a:xfrm>
          <a:prstGeom prst="rect">
            <a:avLst/>
          </a:prstGeom>
        </p:spPr>
      </p:pic>
      <p:sp>
        <p:nvSpPr>
          <p:cNvPr id="37" name="TextBox 36"/>
          <p:cNvSpPr txBox="1"/>
          <p:nvPr/>
        </p:nvSpPr>
        <p:spPr>
          <a:xfrm>
            <a:off x="2697480" y="4718304"/>
            <a:ext cx="521208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>
                <a:solidFill>
                  <a:srgbClr val="AAAAAA"/>
                </a:solidFill>
                <a:latin typeface="Arial"/>
              </a:rPr>
              <a:t>📺 TOHO animation チャンネル  👁 35,500,756  👍 519,750  ⏱ 1:31  📅 2026-01-09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697480" y="4901184"/>
            <a:ext cx="521208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 b="0">
                <a:solidFill>
                  <a:srgbClr val="666666"/>
                </a:solidFill>
                <a:latin typeface="Arial"/>
              </a:rPr>
              <a:t>https://www.youtube.com/watch?v=Xr032EhUDPw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F0F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37160"/>
            <a:ext cx="82296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Arial Black"/>
              </a:rPr>
              <a:t>🍿 映画 人気動画 TOP 5</a:t>
            </a:r>
          </a:p>
        </p:txBody>
      </p:sp>
      <p:sp>
        <p:nvSpPr>
          <p:cNvPr id="4" name="Rectangle 3"/>
          <p:cNvSpPr/>
          <p:nvPr/>
        </p:nvSpPr>
        <p:spPr>
          <a:xfrm>
            <a:off x="274320" y="749808"/>
            <a:ext cx="8595360" cy="804672"/>
          </a:xfrm>
          <a:prstGeom prst="rect">
            <a:avLst/>
          </a:prstGeom>
          <a:solidFill>
            <a:srgbClr val="1E1E1E"/>
          </a:solidFill>
          <a:ln w="6350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749808"/>
            <a:ext cx="1737360" cy="97840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194560" y="786384"/>
            <a:ext cx="5486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500" b="1">
                <a:solidFill>
                  <a:srgbClr val="FFD700"/>
                </a:solidFill>
                <a:latin typeface="Arial Black"/>
              </a:rPr>
              <a:t>#1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697480" y="786384"/>
            <a:ext cx="52120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u="sng">
                <a:solidFill>
                  <a:srgbClr val="FFFFFF"/>
                </a:solidFill>
                <a:latin typeface="Arial"/>
                <a:hlinkClick r:id="rId3"/>
              </a:rPr>
              <a:t>歌舞伎町タワーの日本一高い映画館「109シネマズプレミアム新宿」を正直レビュー！</a:t>
            </a:r>
          </a:p>
        </p:txBody>
      </p:sp>
      <p:pic>
        <p:nvPicPr>
          <p:cNvPr id="8" name="Picture 7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46720" y="804672"/>
            <a:ext cx="685800" cy="6858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2697480" y="1207008"/>
            <a:ext cx="521208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>
                <a:solidFill>
                  <a:srgbClr val="AAAAAA"/>
                </a:solidFill>
                <a:latin typeface="Arial"/>
              </a:rPr>
              <a:t>📺 正直レビュー 🍰🍛  👁 6,804,572  👍 119,502  ⏱ 1:00  📅 2025-03-15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697480" y="1389888"/>
            <a:ext cx="521208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 b="0">
                <a:solidFill>
                  <a:srgbClr val="666666"/>
                </a:solidFill>
                <a:latin typeface="Arial"/>
              </a:rPr>
              <a:t>https://www.youtube.com/watch?v=2a1YM7MCXng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74320" y="1627632"/>
            <a:ext cx="8595360" cy="804672"/>
          </a:xfrm>
          <a:prstGeom prst="rect">
            <a:avLst/>
          </a:prstGeom>
          <a:solidFill>
            <a:srgbClr val="1E1E1E"/>
          </a:solidFill>
          <a:ln w="6350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image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20040" y="1627632"/>
            <a:ext cx="1737360" cy="97840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2194560" y="1664208"/>
            <a:ext cx="5486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500" b="1">
                <a:solidFill>
                  <a:srgbClr val="C0C0C0"/>
                </a:solidFill>
                <a:latin typeface="Arial Black"/>
              </a:rPr>
              <a:t>#2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697480" y="1664208"/>
            <a:ext cx="52120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u="sng">
                <a:solidFill>
                  <a:srgbClr val="FFFFFF"/>
                </a:solidFill>
                <a:latin typeface="Arial"/>
                <a:hlinkClick r:id="rId6"/>
              </a:rPr>
              <a:t>市川團十郎が語る映画「国宝」の率直な感想と歌舞伎への想い</a:t>
            </a:r>
          </a:p>
        </p:txBody>
      </p:sp>
      <p:pic>
        <p:nvPicPr>
          <p:cNvPr id="15" name="Picture 14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046720" y="1682496"/>
            <a:ext cx="685800" cy="68580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2697480" y="2084832"/>
            <a:ext cx="521208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>
                <a:solidFill>
                  <a:srgbClr val="AAAAAA"/>
                </a:solidFill>
                <a:latin typeface="Arial"/>
              </a:rPr>
              <a:t>📺 KABUKU. / 市川團十郎。  👁 3,493,832  👍 45,072  ⏱ 17:48  📅 2025-07-12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697480" y="2267712"/>
            <a:ext cx="521208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 b="0">
                <a:solidFill>
                  <a:srgbClr val="666666"/>
                </a:solidFill>
                <a:latin typeface="Arial"/>
              </a:rPr>
              <a:t>https://www.youtube.com/watch?v=OhHzzl4Z6qU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74320" y="2505456"/>
            <a:ext cx="8595360" cy="804672"/>
          </a:xfrm>
          <a:prstGeom prst="rect">
            <a:avLst/>
          </a:prstGeom>
          <a:solidFill>
            <a:srgbClr val="1E1E1E"/>
          </a:solidFill>
          <a:ln w="6350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image.jp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20040" y="2505456"/>
            <a:ext cx="1737360" cy="978408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2194560" y="2542032"/>
            <a:ext cx="5486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500" b="1">
                <a:solidFill>
                  <a:srgbClr val="CD7F32"/>
                </a:solidFill>
                <a:latin typeface="Arial Black"/>
              </a:rPr>
              <a:t>#3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697480" y="2542032"/>
            <a:ext cx="52120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u="sng">
                <a:solidFill>
                  <a:srgbClr val="FFFFFF"/>
                </a:solidFill>
                <a:latin typeface="Arial"/>
                <a:hlinkClick r:id="rId9"/>
              </a:rPr>
              <a:t>名作映画を見た感想を嘘ついてる奴は誰だ！映画人狼バトル開始！</a:t>
            </a:r>
          </a:p>
        </p:txBody>
      </p:sp>
      <p:pic>
        <p:nvPicPr>
          <p:cNvPr id="22" name="Picture 21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8046720" y="2560320"/>
            <a:ext cx="685800" cy="685800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2697480" y="2962656"/>
            <a:ext cx="521208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>
                <a:solidFill>
                  <a:srgbClr val="AAAAAA"/>
                </a:solidFill>
                <a:latin typeface="Arial"/>
              </a:rPr>
              <a:t>📺 東海オンエア  👁 3,360,098  👍 29,950  ⏱ 34:45  📅 2024-09-26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697480" y="3145536"/>
            <a:ext cx="521208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 b="0">
                <a:solidFill>
                  <a:srgbClr val="666666"/>
                </a:solidFill>
                <a:latin typeface="Arial"/>
              </a:rPr>
              <a:t>https://www.youtube.com/watch?v=KWYewgdSAOI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74320" y="3383280"/>
            <a:ext cx="8595360" cy="804672"/>
          </a:xfrm>
          <a:prstGeom prst="rect">
            <a:avLst/>
          </a:prstGeom>
          <a:solidFill>
            <a:srgbClr val="1E1E1E"/>
          </a:solidFill>
          <a:ln w="6350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6" name="Picture 25" descr="image.jp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320040" y="3383280"/>
            <a:ext cx="1737360" cy="978408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2194560" y="3419856"/>
            <a:ext cx="5486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500" b="1">
                <a:solidFill>
                  <a:srgbClr val="AAAAAA"/>
                </a:solidFill>
                <a:latin typeface="Arial Black"/>
              </a:rPr>
              <a:t>#4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697480" y="3419856"/>
            <a:ext cx="52120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u="sng">
                <a:solidFill>
                  <a:srgbClr val="FFFFFF"/>
                </a:solidFill>
                <a:latin typeface="Arial"/>
                <a:hlinkClick r:id="rId12"/>
              </a:rPr>
              <a:t>ディズニー１００周年のゴミ『ウィッシュ』レビュー</a:t>
            </a:r>
          </a:p>
        </p:txBody>
      </p:sp>
      <p:pic>
        <p:nvPicPr>
          <p:cNvPr id="29" name="Picture 28" descr="image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8046720" y="3438144"/>
            <a:ext cx="685800" cy="685800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2697480" y="3840480"/>
            <a:ext cx="521208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>
                <a:solidFill>
                  <a:srgbClr val="AAAAAA"/>
                </a:solidFill>
                <a:latin typeface="Arial"/>
              </a:rPr>
              <a:t>📺 ホッカイロレン  👁 3,302,467  👍 43,524  ⏱ 12:56  📅 2023-12-19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697480" y="4023360"/>
            <a:ext cx="521208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 b="0">
                <a:solidFill>
                  <a:srgbClr val="666666"/>
                </a:solidFill>
                <a:latin typeface="Arial"/>
              </a:rPr>
              <a:t>https://www.youtube.com/watch?v=HQDUEU-Zhyc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74320" y="4261104"/>
            <a:ext cx="8595360" cy="804672"/>
          </a:xfrm>
          <a:prstGeom prst="rect">
            <a:avLst/>
          </a:prstGeom>
          <a:solidFill>
            <a:srgbClr val="1E1E1E"/>
          </a:solidFill>
          <a:ln w="6350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3" name="Picture 32" descr="image.jp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320040" y="4261104"/>
            <a:ext cx="1737360" cy="978408"/>
          </a:xfrm>
          <a:prstGeom prst="rect">
            <a:avLst/>
          </a:prstGeom>
        </p:spPr>
      </p:pic>
      <p:sp>
        <p:nvSpPr>
          <p:cNvPr id="34" name="TextBox 33"/>
          <p:cNvSpPr txBox="1"/>
          <p:nvPr/>
        </p:nvSpPr>
        <p:spPr>
          <a:xfrm>
            <a:off x="2194560" y="4297680"/>
            <a:ext cx="5486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500" b="1">
                <a:solidFill>
                  <a:srgbClr val="AAAAAA"/>
                </a:solidFill>
                <a:latin typeface="Arial Black"/>
              </a:rPr>
              <a:t>#5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697480" y="4297680"/>
            <a:ext cx="52120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u="sng">
                <a:solidFill>
                  <a:srgbClr val="FFFFFF"/>
                </a:solidFill>
                <a:latin typeface="Arial"/>
                <a:hlinkClick r:id="rId15"/>
              </a:rPr>
              <a:t>【2ch有益スレ】今まで見た映画の中で「一番最悪だった映画」挙げてけｗ</a:t>
            </a:r>
          </a:p>
        </p:txBody>
      </p:sp>
      <p:pic>
        <p:nvPicPr>
          <p:cNvPr id="36" name="Picture 35" descr="image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8046720" y="4315968"/>
            <a:ext cx="685800" cy="685800"/>
          </a:xfrm>
          <a:prstGeom prst="rect">
            <a:avLst/>
          </a:prstGeom>
        </p:spPr>
      </p:pic>
      <p:sp>
        <p:nvSpPr>
          <p:cNvPr id="37" name="TextBox 36"/>
          <p:cNvSpPr txBox="1"/>
          <p:nvPr/>
        </p:nvSpPr>
        <p:spPr>
          <a:xfrm>
            <a:off x="2697480" y="4718304"/>
            <a:ext cx="521208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>
                <a:solidFill>
                  <a:srgbClr val="AAAAAA"/>
                </a:solidFill>
                <a:latin typeface="Arial"/>
              </a:rPr>
              <a:t>📺 2ch有益プラネット【ゆっくり解説】  👁 3,005,847  👍 35,790  ⏱ 0:59  📅 2023-10-19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697480" y="4901184"/>
            <a:ext cx="521208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 b="0">
                <a:solidFill>
                  <a:srgbClr val="666666"/>
                </a:solidFill>
                <a:latin typeface="Arial"/>
              </a:rPr>
              <a:t>https://www.youtube.com/watch?v=J4JTp1tNrkk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