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hyperlink" Target="https://www.youtube.com/watch?v=0VFHkErWUQc" TargetMode="External"/><Relationship Id="rId5" Type="http://schemas.openxmlformats.org/officeDocument/2006/relationships/image" Target="../media/image1.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youtube.com/watch?v=tNt5NF__E-o" TargetMode="External"/><Relationship Id="rId5" Type="http://schemas.openxmlformats.org/officeDocument/2006/relationships/image" Target="../media/image1.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png"/><Relationship Id="rId4" Type="http://schemas.openxmlformats.org/officeDocument/2006/relationships/hyperlink" Target="https://www.youtube.com/watch?v=0Uok2urgxIg" TargetMode="External"/><Relationship Id="rId5" Type="http://schemas.openxmlformats.org/officeDocument/2006/relationships/image" Target="../media/image1.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png"/><Relationship Id="rId4" Type="http://schemas.openxmlformats.org/officeDocument/2006/relationships/hyperlink" Target="https://www.youtube.com/watch?v=SLe3j6oz12k" TargetMode="External"/><Relationship Id="rId5" Type="http://schemas.openxmlformats.org/officeDocument/2006/relationships/image" Target="../media/image1.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png"/><Relationship Id="rId4" Type="http://schemas.openxmlformats.org/officeDocument/2006/relationships/hyperlink" Target="https://www.youtube.com/watch?v=SZ6CRUa2PfA" TargetMode="External"/><Relationship Id="rId5" Type="http://schemas.openxmlformats.org/officeDocument/2006/relationships/image" Target="../media/image1.gi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hyperlink" Target="https://www.youtube.com/watch?v=2rA2K0gwjoo" TargetMode="External"/><Relationship Id="rId5" Type="http://schemas.openxmlformats.org/officeDocument/2006/relationships/image" Target="../media/image1.gi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image" Target="../media/image15.png"/><Relationship Id="rId4" Type="http://schemas.openxmlformats.org/officeDocument/2006/relationships/hyperlink" Target="https://www.youtube.com/watch?v=sOJv-0FBUsQ" TargetMode="External"/><Relationship Id="rId5" Type="http://schemas.openxmlformats.org/officeDocument/2006/relationships/image" Target="../media/image1.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png"/><Relationship Id="rId4" Type="http://schemas.openxmlformats.org/officeDocument/2006/relationships/hyperlink" Target="https://www.youtube.com/watch?v=--n8xJ96XmU" TargetMode="External"/><Relationship Id="rId5" Type="http://schemas.openxmlformats.org/officeDocument/2006/relationships/image" Target="../media/image1.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image" Target="../media/image19.png"/><Relationship Id="rId4" Type="http://schemas.openxmlformats.org/officeDocument/2006/relationships/hyperlink" Target="https://www.youtube.com/watch?v=vSKMyQH7msk" TargetMode="External"/><Relationship Id="rId5" Type="http://schemas.openxmlformats.org/officeDocument/2006/relationships/image" Target="../media/image1.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image" Target="../media/image21.png"/><Relationship Id="rId4" Type="http://schemas.openxmlformats.org/officeDocument/2006/relationships/hyperlink" Target="https://www.youtube.com/watch?v=zDLyAvDHKD8" TargetMode="External"/><Relationship Id="rId5" Type="http://schemas.openxmlformats.org/officeDocument/2006/relationships/image" Target="../media/image1.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hyperlink" Target="https://www.youtube.com/watch?v=fBQOV3jiST0" TargetMode="External"/><Relationship Id="rId4" Type="http://schemas.openxmlformats.org/officeDocument/2006/relationships/image" Target="../media/image23.png"/><Relationship Id="rId5" Type="http://schemas.openxmlformats.org/officeDocument/2006/relationships/image" Target="../media/image24.jpg"/><Relationship Id="rId6" Type="http://schemas.openxmlformats.org/officeDocument/2006/relationships/hyperlink" Target="https://www.youtube.com/watch?v=9nXbYZL8V9E" TargetMode="External"/><Relationship Id="rId7" Type="http://schemas.openxmlformats.org/officeDocument/2006/relationships/image" Target="../media/image25.png"/><Relationship Id="rId8" Type="http://schemas.openxmlformats.org/officeDocument/2006/relationships/image" Target="../media/image26.jpg"/><Relationship Id="rId9" Type="http://schemas.openxmlformats.org/officeDocument/2006/relationships/hyperlink" Target="https://www.youtube.com/watch?v=i5TSvrhVH94" TargetMode="External"/><Relationship Id="rId10" Type="http://schemas.openxmlformats.org/officeDocument/2006/relationships/image" Target="../media/image27.png"/><Relationship Id="rId11" Type="http://schemas.openxmlformats.org/officeDocument/2006/relationships/image" Target="../media/image28.jpg"/><Relationship Id="rId12" Type="http://schemas.openxmlformats.org/officeDocument/2006/relationships/hyperlink" Target="https://www.youtube.com/watch?v=21eblauBPy8" TargetMode="External"/><Relationship Id="rId13" Type="http://schemas.openxmlformats.org/officeDocument/2006/relationships/image" Target="../media/image29.png"/><Relationship Id="rId14" Type="http://schemas.openxmlformats.org/officeDocument/2006/relationships/image" Target="../media/image30.jpg"/><Relationship Id="rId15" Type="http://schemas.openxmlformats.org/officeDocument/2006/relationships/hyperlink" Target="https://www.youtube.com/watch?v=fGaa5iluMIQ" TargetMode="External"/><Relationship Id="rId16" Type="http://schemas.openxmlformats.org/officeDocument/2006/relationships/image" Target="../media/image3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hyperlink" Target="https://www.youtube.com/watch?v=mhCy0IgobIw" TargetMode="External"/><Relationship Id="rId4" Type="http://schemas.openxmlformats.org/officeDocument/2006/relationships/image" Target="../media/image33.png"/><Relationship Id="rId5" Type="http://schemas.openxmlformats.org/officeDocument/2006/relationships/image" Target="../media/image34.jpg"/><Relationship Id="rId6" Type="http://schemas.openxmlformats.org/officeDocument/2006/relationships/hyperlink" Target="https://www.youtube.com/watch?v=0cjKg-Z3xak" TargetMode="External"/><Relationship Id="rId7" Type="http://schemas.openxmlformats.org/officeDocument/2006/relationships/image" Target="../media/image35.png"/><Relationship Id="rId8" Type="http://schemas.openxmlformats.org/officeDocument/2006/relationships/image" Target="../media/image36.jpg"/><Relationship Id="rId9" Type="http://schemas.openxmlformats.org/officeDocument/2006/relationships/hyperlink" Target="https://www.youtube.com/watch?v=XGbduoPa_-0" TargetMode="External"/><Relationship Id="rId10" Type="http://schemas.openxmlformats.org/officeDocument/2006/relationships/image" Target="../media/image37.png"/><Relationship Id="rId11" Type="http://schemas.openxmlformats.org/officeDocument/2006/relationships/image" Target="../media/image38.jpg"/><Relationship Id="rId12" Type="http://schemas.openxmlformats.org/officeDocument/2006/relationships/hyperlink" Target="https://www.youtube.com/watch?v=d9MAnruE_-c" TargetMode="External"/><Relationship Id="rId13" Type="http://schemas.openxmlformats.org/officeDocument/2006/relationships/image" Target="../media/image39.png"/><Relationship Id="rId14" Type="http://schemas.openxmlformats.org/officeDocument/2006/relationships/image" Target="../media/image40.jpg"/><Relationship Id="rId15" Type="http://schemas.openxmlformats.org/officeDocument/2006/relationships/hyperlink" Target="https://www.youtube.com/watch?v=CraZ3Q-I44g" TargetMode="External"/><Relationship Id="rId16" Type="http://schemas.openxmlformats.org/officeDocument/2006/relationships/image" Target="../media/image4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hyperlink" Target="https://www.youtube.com/watch?v=88uap7ImJ88" TargetMode="External"/><Relationship Id="rId4" Type="http://schemas.openxmlformats.org/officeDocument/2006/relationships/image" Target="../media/image43.png"/><Relationship Id="rId5" Type="http://schemas.openxmlformats.org/officeDocument/2006/relationships/image" Target="../media/image44.jpg"/><Relationship Id="rId6" Type="http://schemas.openxmlformats.org/officeDocument/2006/relationships/hyperlink" Target="https://www.youtube.com/watch?v=gcgKUcJKxIs" TargetMode="External"/><Relationship Id="rId7" Type="http://schemas.openxmlformats.org/officeDocument/2006/relationships/image" Target="../media/image45.png"/><Relationship Id="rId8" Type="http://schemas.openxmlformats.org/officeDocument/2006/relationships/image" Target="../media/image46.jpg"/><Relationship Id="rId9" Type="http://schemas.openxmlformats.org/officeDocument/2006/relationships/hyperlink" Target="https://www.youtube.com/watch?v=-NFhRWhkp7I" TargetMode="External"/><Relationship Id="rId10" Type="http://schemas.openxmlformats.org/officeDocument/2006/relationships/image" Target="../media/image47.png"/><Relationship Id="rId11" Type="http://schemas.openxmlformats.org/officeDocument/2006/relationships/image" Target="../media/image48.jpg"/><Relationship Id="rId12" Type="http://schemas.openxmlformats.org/officeDocument/2006/relationships/hyperlink" Target="https://www.youtube.com/watch?v=fGGTf044UPI" TargetMode="External"/><Relationship Id="rId13" Type="http://schemas.openxmlformats.org/officeDocument/2006/relationships/image" Target="../media/image49.png"/><Relationship Id="rId14" Type="http://schemas.openxmlformats.org/officeDocument/2006/relationships/image" Target="../media/image50.jpg"/><Relationship Id="rId15" Type="http://schemas.openxmlformats.org/officeDocument/2006/relationships/hyperlink" Target="https://www.youtube.com/watch?v=Xr032EhUDPw" TargetMode="External"/><Relationship Id="rId16" Type="http://schemas.openxmlformats.org/officeDocument/2006/relationships/image" Target="../media/image5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hyperlink" Target="https://www.youtube.com/watch?v=2a1YM7MCXng" TargetMode="External"/><Relationship Id="rId4" Type="http://schemas.openxmlformats.org/officeDocument/2006/relationships/image" Target="../media/image53.png"/><Relationship Id="rId5" Type="http://schemas.openxmlformats.org/officeDocument/2006/relationships/image" Target="../media/image54.jpg"/><Relationship Id="rId6" Type="http://schemas.openxmlformats.org/officeDocument/2006/relationships/hyperlink" Target="https://www.youtube.com/watch?v=TYHa-sSFa_s" TargetMode="External"/><Relationship Id="rId7" Type="http://schemas.openxmlformats.org/officeDocument/2006/relationships/image" Target="../media/image55.png"/><Relationship Id="rId8" Type="http://schemas.openxmlformats.org/officeDocument/2006/relationships/image" Target="../media/image56.jpg"/><Relationship Id="rId9" Type="http://schemas.openxmlformats.org/officeDocument/2006/relationships/hyperlink" Target="https://www.youtube.com/watch?v=OhHzzl4Z6qU" TargetMode="External"/><Relationship Id="rId10" Type="http://schemas.openxmlformats.org/officeDocument/2006/relationships/image" Target="../media/image57.png"/><Relationship Id="rId11" Type="http://schemas.openxmlformats.org/officeDocument/2006/relationships/image" Target="../media/image58.jpg"/><Relationship Id="rId12" Type="http://schemas.openxmlformats.org/officeDocument/2006/relationships/hyperlink" Target="https://www.youtube.com/watch?v=lyZZdUUM_GM" TargetMode="External"/><Relationship Id="rId13" Type="http://schemas.openxmlformats.org/officeDocument/2006/relationships/image" Target="../media/image59.png"/><Relationship Id="rId14" Type="http://schemas.openxmlformats.org/officeDocument/2006/relationships/image" Target="../media/image60.jpg"/><Relationship Id="rId15" Type="http://schemas.openxmlformats.org/officeDocument/2006/relationships/hyperlink" Target="https://www.youtube.com/watch?v=KWYewgdSAOI" TargetMode="External"/><Relationship Id="rId16" Type="http://schemas.openxmlformats.org/officeDocument/2006/relationships/image" Target="../media/image6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F0F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0"/>
            <a:ext cx="5943600" cy="1280160"/>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901952"/>
            <a:ext cx="5669280" cy="914400"/>
          </a:xfrm>
          <a:prstGeom prst="rect">
            <a:avLst/>
          </a:prstGeom>
          <a:noFill/>
        </p:spPr>
        <p:txBody>
          <a:bodyPr wrap="none">
            <a:spAutoFit/>
          </a:bodyPr>
          <a:lstStyle/>
          <a:p>
            <a:pPr algn="ctr"/>
            <a:r>
              <a:rPr sz="2800" b="1">
                <a:solidFill>
                  <a:srgbClr val="FFFFFF"/>
                </a:solidFill>
                <a:latin typeface="Arial Black"/>
              </a:rPr>
              <a:t>▶  YouTube トレンド ランキング</a:t>
            </a:r>
          </a:p>
        </p:txBody>
      </p:sp>
      <p:sp>
        <p:nvSpPr>
          <p:cNvPr id="5" name="TextBox 4"/>
          <p:cNvSpPr txBox="1"/>
          <p:nvPr/>
        </p:nvSpPr>
        <p:spPr>
          <a:xfrm>
            <a:off x="274320" y="3246120"/>
            <a:ext cx="5669280" cy="548640"/>
          </a:xfrm>
          <a:prstGeom prst="rect">
            <a:avLst/>
          </a:prstGeom>
          <a:noFill/>
        </p:spPr>
        <p:txBody>
          <a:bodyPr wrap="none">
            <a:spAutoFit/>
          </a:bodyPr>
          <a:lstStyle/>
          <a:p>
            <a:pPr algn="ctr"/>
            <a:r>
              <a:rPr sz="1400" b="0">
                <a:solidFill>
                  <a:srgbClr val="AAAAAA"/>
                </a:solidFill>
                <a:latin typeface="Arial"/>
              </a:rPr>
              <a:t>2026年06月14日  ·  急上昇 TOP 10 発表</a:t>
            </a:r>
          </a:p>
        </p:txBody>
      </p:sp>
      <p:pic>
        <p:nvPicPr>
          <p:cNvPr id="6" name="Picture 5" descr="ezgif_com-animated-gif-maker.gif"/>
          <p:cNvPicPr>
            <a:picLocks noChangeAspect="1"/>
          </p:cNvPicPr>
          <p:nvPr/>
        </p:nvPicPr>
        <p:blipFill>
          <a:blip r:embed="rId2"/>
          <a:stretch>
            <a:fillRect/>
          </a:stretch>
        </p:blipFill>
        <p:spPr>
          <a:xfrm>
            <a:off x="6035040" y="45720"/>
            <a:ext cx="3017520" cy="50520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F0F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2286000" cy="777240"/>
          </a:xfrm>
          <a:prstGeom prst="rect">
            <a:avLst/>
          </a:prstGeom>
          <a:noFill/>
        </p:spPr>
        <p:txBody>
          <a:bodyPr wrap="none">
            <a:spAutoFit/>
          </a:bodyPr>
          <a:lstStyle/>
          <a:p>
            <a:pPr algn="l"/>
            <a:r>
              <a:rPr sz="4800" b="1">
                <a:solidFill>
                  <a:srgbClr val="FFFFFF"/>
                </a:solidFill>
                <a:latin typeface="Arial Black"/>
              </a:rPr>
              <a:t>#10</a:t>
            </a:r>
          </a:p>
        </p:txBody>
      </p:sp>
      <p:pic>
        <p:nvPicPr>
          <p:cNvPr id="4" name="Picture 3" descr="image.jpg"/>
          <p:cNvPicPr>
            <a:picLocks noChangeAspect="1"/>
          </p:cNvPicPr>
          <p:nvPr/>
        </p:nvPicPr>
        <p:blipFill>
          <a:blip r:embed="rId2"/>
          <a:stretch>
            <a:fillRect/>
          </a:stretch>
        </p:blipFill>
        <p:spPr>
          <a:xfrm>
            <a:off x="274320" y="868680"/>
            <a:ext cx="3474720" cy="1956816"/>
          </a:xfrm>
          <a:prstGeom prst="rect">
            <a:avLst/>
          </a:prstGeom>
        </p:spPr>
      </p:pic>
      <p:pic>
        <p:nvPicPr>
          <p:cNvPr id="5" name="Picture 4" descr="image.png"/>
          <p:cNvPicPr>
            <a:picLocks noChangeAspect="1"/>
          </p:cNvPicPr>
          <p:nvPr/>
        </p:nvPicPr>
        <p:blipFill>
          <a:blip r:embed="rId3"/>
          <a:stretch>
            <a:fillRect/>
          </a:stretch>
        </p:blipFill>
        <p:spPr>
          <a:xfrm>
            <a:off x="274320" y="2926080"/>
            <a:ext cx="914400" cy="914400"/>
          </a:xfrm>
          <a:prstGeom prst="rect">
            <a:avLst/>
          </a:prstGeom>
        </p:spPr>
      </p:pic>
      <p:sp>
        <p:nvSpPr>
          <p:cNvPr id="6" name="TextBox 5"/>
          <p:cNvSpPr txBox="1"/>
          <p:nvPr/>
        </p:nvSpPr>
        <p:spPr>
          <a:xfrm>
            <a:off x="1280160" y="3063240"/>
            <a:ext cx="2560320" cy="320040"/>
          </a:xfrm>
          <a:prstGeom prst="rect">
            <a:avLst/>
          </a:prstGeom>
          <a:noFill/>
        </p:spPr>
        <p:txBody>
          <a:bodyPr wrap="none">
            <a:spAutoFit/>
          </a:bodyPr>
          <a:lstStyle/>
          <a:p>
            <a:pPr algn="l"/>
            <a:r>
              <a:rPr sz="700" b="0">
                <a:solidFill>
                  <a:srgbClr val="AAAAAA"/>
                </a:solidFill>
                <a:latin typeface="Arial"/>
              </a:rPr>
              <a:t>https://www.youtube.com/watch?v=0VFHkErWUQc</a:t>
            </a:r>
          </a:p>
        </p:txBody>
      </p:sp>
      <p:sp>
        <p:nvSpPr>
          <p:cNvPr id="7" name="TextBox 6"/>
          <p:cNvSpPr txBox="1"/>
          <p:nvPr/>
        </p:nvSpPr>
        <p:spPr>
          <a:xfrm>
            <a:off x="3840480" y="777240"/>
            <a:ext cx="2103120" cy="1371600"/>
          </a:xfrm>
          <a:prstGeom prst="rect">
            <a:avLst/>
          </a:prstGeom>
          <a:noFill/>
        </p:spPr>
        <p:txBody>
          <a:bodyPr wrap="square">
            <a:spAutoFit/>
          </a:bodyPr>
          <a:lstStyle/>
          <a:p>
            <a:pPr algn="l"/>
            <a:r>
              <a:rPr sz="1300" b="1" u="sng">
                <a:solidFill>
                  <a:srgbClr val="FFFFFF"/>
                </a:solidFill>
                <a:latin typeface="Arial"/>
                <a:hlinkClick r:id="rId4"/>
              </a:rPr>
              <a:t>【ブロスタ チャンピオンシップ 2026】東アジア 6月マンスリー決勝戦</a:t>
            </a:r>
          </a:p>
        </p:txBody>
      </p:sp>
      <p:sp>
        <p:nvSpPr>
          <p:cNvPr id="8" name="TextBox 7"/>
          <p:cNvSpPr txBox="1"/>
          <p:nvPr/>
        </p:nvSpPr>
        <p:spPr>
          <a:xfrm>
            <a:off x="3840480" y="2240280"/>
            <a:ext cx="2103120" cy="292608"/>
          </a:xfrm>
          <a:prstGeom prst="rect">
            <a:avLst/>
          </a:prstGeom>
          <a:noFill/>
        </p:spPr>
        <p:txBody>
          <a:bodyPr wrap="none">
            <a:spAutoFit/>
          </a:bodyPr>
          <a:lstStyle/>
          <a:p>
            <a:pPr algn="l"/>
            <a:r>
              <a:rPr sz="1000" b="0">
                <a:solidFill>
                  <a:srgbClr val="AAAAAA"/>
                </a:solidFill>
                <a:latin typeface="Arial"/>
              </a:rPr>
              <a:t>📺  ブロスタ公式</a:t>
            </a:r>
          </a:p>
        </p:txBody>
      </p:sp>
      <p:sp>
        <p:nvSpPr>
          <p:cNvPr id="9" name="TextBox 8"/>
          <p:cNvSpPr txBox="1"/>
          <p:nvPr/>
        </p:nvSpPr>
        <p:spPr>
          <a:xfrm>
            <a:off x="3840480" y="2578608"/>
            <a:ext cx="2103120" cy="320040"/>
          </a:xfrm>
          <a:prstGeom prst="rect">
            <a:avLst/>
          </a:prstGeom>
          <a:noFill/>
        </p:spPr>
        <p:txBody>
          <a:bodyPr wrap="none">
            <a:spAutoFit/>
          </a:bodyPr>
          <a:lstStyle/>
          <a:p>
            <a:pPr algn="l"/>
            <a:r>
              <a:rPr sz="1000" b="1">
                <a:solidFill>
                  <a:srgbClr val="FFFFFF"/>
                </a:solidFill>
                <a:latin typeface="Arial"/>
              </a:rPr>
              <a:t>👁 434,407  👍 2,405  💬 162</a:t>
            </a:r>
          </a:p>
        </p:txBody>
      </p:sp>
      <p:sp>
        <p:nvSpPr>
          <p:cNvPr id="10" name="TextBox 9"/>
          <p:cNvSpPr txBox="1"/>
          <p:nvPr/>
        </p:nvSpPr>
        <p:spPr>
          <a:xfrm>
            <a:off x="3840480" y="2944368"/>
            <a:ext cx="2103120" cy="292608"/>
          </a:xfrm>
          <a:prstGeom prst="rect">
            <a:avLst/>
          </a:prstGeom>
          <a:noFill/>
        </p:spPr>
        <p:txBody>
          <a:bodyPr wrap="none">
            <a:spAutoFit/>
          </a:bodyPr>
          <a:lstStyle/>
          <a:p>
            <a:pPr algn="l"/>
            <a:r>
              <a:rPr sz="1000" b="0">
                <a:solidFill>
                  <a:srgbClr val="AAAAAA"/>
                </a:solidFill>
                <a:latin typeface="Arial"/>
              </a:rPr>
              <a:t>⏱ 6:10:44  ·  📅 公開8時間前</a:t>
            </a:r>
          </a:p>
        </p:txBody>
      </p:sp>
      <p:sp>
        <p:nvSpPr>
          <p:cNvPr id="11" name="TextBox 10"/>
          <p:cNvSpPr txBox="1"/>
          <p:nvPr/>
        </p:nvSpPr>
        <p:spPr>
          <a:xfrm>
            <a:off x="274320" y="3931920"/>
            <a:ext cx="5669280" cy="822960"/>
          </a:xfrm>
          <a:prstGeom prst="rect">
            <a:avLst/>
          </a:prstGeom>
          <a:noFill/>
        </p:spPr>
        <p:txBody>
          <a:bodyPr wrap="square">
            <a:spAutoFit/>
          </a:bodyPr>
          <a:lstStyle/>
          <a:p>
            <a:pPr algn="l"/>
            <a:r>
              <a:rPr sz="1000" b="0">
                <a:solidFill>
                  <a:srgbClr val="4EC9B0"/>
                </a:solidFill>
                <a:latin typeface="Arial"/>
              </a:rPr>
              <a:t>💡 公開8時間で急上昇入り！　10万再生突破の話題作</a:t>
            </a:r>
          </a:p>
        </p:txBody>
      </p:sp>
      <p:pic>
        <p:nvPicPr>
          <p:cNvPr id="12" name="Picture 11" descr="ezgif_com-animated-gif-maker.gif"/>
          <p:cNvPicPr>
            <a:picLocks noChangeAspect="1"/>
          </p:cNvPicPr>
          <p:nvPr/>
        </p:nvPicPr>
        <p:blipFill>
          <a:blip r:embed="rId5"/>
          <a:stretch>
            <a:fillRect/>
          </a:stretch>
        </p:blipFill>
        <p:spPr>
          <a:xfrm>
            <a:off x="6035040" y="45720"/>
            <a:ext cx="3017520" cy="50520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F0F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2286000" cy="777240"/>
          </a:xfrm>
          <a:prstGeom prst="rect">
            <a:avLst/>
          </a:prstGeom>
          <a:noFill/>
        </p:spPr>
        <p:txBody>
          <a:bodyPr wrap="none">
            <a:spAutoFit/>
          </a:bodyPr>
          <a:lstStyle/>
          <a:p>
            <a:pPr algn="l"/>
            <a:r>
              <a:rPr sz="4800" b="1">
                <a:solidFill>
                  <a:srgbClr val="FFFFFF"/>
                </a:solidFill>
                <a:latin typeface="Arial Black"/>
              </a:rPr>
              <a:t>#9</a:t>
            </a:r>
          </a:p>
        </p:txBody>
      </p:sp>
      <p:pic>
        <p:nvPicPr>
          <p:cNvPr id="4" name="Picture 3" descr="image.jpg"/>
          <p:cNvPicPr>
            <a:picLocks noChangeAspect="1"/>
          </p:cNvPicPr>
          <p:nvPr/>
        </p:nvPicPr>
        <p:blipFill>
          <a:blip r:embed="rId2"/>
          <a:stretch>
            <a:fillRect/>
          </a:stretch>
        </p:blipFill>
        <p:spPr>
          <a:xfrm>
            <a:off x="274320" y="868680"/>
            <a:ext cx="3474720" cy="1956816"/>
          </a:xfrm>
          <a:prstGeom prst="rect">
            <a:avLst/>
          </a:prstGeom>
        </p:spPr>
      </p:pic>
      <p:pic>
        <p:nvPicPr>
          <p:cNvPr id="5" name="Picture 4" descr="image.png"/>
          <p:cNvPicPr>
            <a:picLocks noChangeAspect="1"/>
          </p:cNvPicPr>
          <p:nvPr/>
        </p:nvPicPr>
        <p:blipFill>
          <a:blip r:embed="rId3"/>
          <a:stretch>
            <a:fillRect/>
          </a:stretch>
        </p:blipFill>
        <p:spPr>
          <a:xfrm>
            <a:off x="274320" y="2926080"/>
            <a:ext cx="914400" cy="914400"/>
          </a:xfrm>
          <a:prstGeom prst="rect">
            <a:avLst/>
          </a:prstGeom>
        </p:spPr>
      </p:pic>
      <p:sp>
        <p:nvSpPr>
          <p:cNvPr id="6" name="TextBox 5"/>
          <p:cNvSpPr txBox="1"/>
          <p:nvPr/>
        </p:nvSpPr>
        <p:spPr>
          <a:xfrm>
            <a:off x="1280160" y="3063240"/>
            <a:ext cx="2560320" cy="320040"/>
          </a:xfrm>
          <a:prstGeom prst="rect">
            <a:avLst/>
          </a:prstGeom>
          <a:noFill/>
        </p:spPr>
        <p:txBody>
          <a:bodyPr wrap="none">
            <a:spAutoFit/>
          </a:bodyPr>
          <a:lstStyle/>
          <a:p>
            <a:pPr algn="l"/>
            <a:r>
              <a:rPr sz="700" b="0">
                <a:solidFill>
                  <a:srgbClr val="AAAAAA"/>
                </a:solidFill>
                <a:latin typeface="Arial"/>
              </a:rPr>
              <a:t>https://www.youtube.com/watch?v=tNt5NF__E-o</a:t>
            </a:r>
          </a:p>
        </p:txBody>
      </p:sp>
      <p:sp>
        <p:nvSpPr>
          <p:cNvPr id="7" name="TextBox 6"/>
          <p:cNvSpPr txBox="1"/>
          <p:nvPr/>
        </p:nvSpPr>
        <p:spPr>
          <a:xfrm>
            <a:off x="3840480" y="777240"/>
            <a:ext cx="2103120" cy="1371600"/>
          </a:xfrm>
          <a:prstGeom prst="rect">
            <a:avLst/>
          </a:prstGeom>
          <a:noFill/>
        </p:spPr>
        <p:txBody>
          <a:bodyPr wrap="square">
            <a:spAutoFit/>
          </a:bodyPr>
          <a:lstStyle/>
          <a:p>
            <a:pPr algn="l"/>
            <a:r>
              <a:rPr sz="1300" b="1" u="sng">
                <a:solidFill>
                  <a:srgbClr val="FFFFFF"/>
                </a:solidFill>
                <a:latin typeface="Arial"/>
                <a:hlinkClick r:id="rId4"/>
              </a:rPr>
              <a:t>【LIVE】『Stray Kids World Tour ＜dominATE JAPAN＞』 / 「Cover Me」</a:t>
            </a:r>
          </a:p>
        </p:txBody>
      </p:sp>
      <p:sp>
        <p:nvSpPr>
          <p:cNvPr id="8" name="TextBox 7"/>
          <p:cNvSpPr txBox="1"/>
          <p:nvPr/>
        </p:nvSpPr>
        <p:spPr>
          <a:xfrm>
            <a:off x="3840480" y="2240280"/>
            <a:ext cx="2103120" cy="292608"/>
          </a:xfrm>
          <a:prstGeom prst="rect">
            <a:avLst/>
          </a:prstGeom>
          <a:noFill/>
        </p:spPr>
        <p:txBody>
          <a:bodyPr wrap="none">
            <a:spAutoFit/>
          </a:bodyPr>
          <a:lstStyle/>
          <a:p>
            <a:pPr algn="l"/>
            <a:r>
              <a:rPr sz="1000" b="0">
                <a:solidFill>
                  <a:srgbClr val="AAAAAA"/>
                </a:solidFill>
                <a:latin typeface="Arial"/>
              </a:rPr>
              <a:t>📺  Stray Kids Japan Official YouTube</a:t>
            </a:r>
          </a:p>
        </p:txBody>
      </p:sp>
      <p:sp>
        <p:nvSpPr>
          <p:cNvPr id="9" name="TextBox 8"/>
          <p:cNvSpPr txBox="1"/>
          <p:nvPr/>
        </p:nvSpPr>
        <p:spPr>
          <a:xfrm>
            <a:off x="3840480" y="2578608"/>
            <a:ext cx="2103120" cy="320040"/>
          </a:xfrm>
          <a:prstGeom prst="rect">
            <a:avLst/>
          </a:prstGeom>
          <a:noFill/>
        </p:spPr>
        <p:txBody>
          <a:bodyPr wrap="none">
            <a:spAutoFit/>
          </a:bodyPr>
          <a:lstStyle/>
          <a:p>
            <a:pPr algn="l"/>
            <a:r>
              <a:rPr sz="1000" b="1">
                <a:solidFill>
                  <a:srgbClr val="FFFFFF"/>
                </a:solidFill>
                <a:latin typeface="Arial"/>
              </a:rPr>
              <a:t>👁 151,799  👍 27,846  💬 812  📈+268.0%</a:t>
            </a:r>
          </a:p>
        </p:txBody>
      </p:sp>
      <p:sp>
        <p:nvSpPr>
          <p:cNvPr id="10" name="TextBox 9"/>
          <p:cNvSpPr txBox="1"/>
          <p:nvPr/>
        </p:nvSpPr>
        <p:spPr>
          <a:xfrm>
            <a:off x="3840480" y="2944368"/>
            <a:ext cx="2103120" cy="292608"/>
          </a:xfrm>
          <a:prstGeom prst="rect">
            <a:avLst/>
          </a:prstGeom>
          <a:noFill/>
        </p:spPr>
        <p:txBody>
          <a:bodyPr wrap="none">
            <a:spAutoFit/>
          </a:bodyPr>
          <a:lstStyle/>
          <a:p>
            <a:pPr algn="l"/>
            <a:r>
              <a:rPr sz="1000" b="0">
                <a:solidFill>
                  <a:srgbClr val="AAAAAA"/>
                </a:solidFill>
                <a:latin typeface="Arial"/>
              </a:rPr>
              <a:t>⏱ 3:16  ·  📅 公開9時間前</a:t>
            </a:r>
          </a:p>
        </p:txBody>
      </p:sp>
      <p:sp>
        <p:nvSpPr>
          <p:cNvPr id="11" name="TextBox 10"/>
          <p:cNvSpPr txBox="1"/>
          <p:nvPr/>
        </p:nvSpPr>
        <p:spPr>
          <a:xfrm>
            <a:off x="274320" y="3931920"/>
            <a:ext cx="5669280" cy="822960"/>
          </a:xfrm>
          <a:prstGeom prst="rect">
            <a:avLst/>
          </a:prstGeom>
          <a:noFill/>
        </p:spPr>
        <p:txBody>
          <a:bodyPr wrap="square">
            <a:spAutoFit/>
          </a:bodyPr>
          <a:lstStyle/>
          <a:p>
            <a:pPr algn="l"/>
            <a:r>
              <a:rPr sz="1000" b="0">
                <a:solidFill>
                  <a:srgbClr val="4EC9B0"/>
                </a:solidFill>
                <a:latin typeface="Arial"/>
              </a:rPr>
              <a:t>💡 公開9時間で急上昇入り！　10万再生突破の話題作　前日比+268.0%の爆発的な伸び</a:t>
            </a:r>
          </a:p>
        </p:txBody>
      </p:sp>
      <p:pic>
        <p:nvPicPr>
          <p:cNvPr id="12" name="Picture 11" descr="ezgif_com-animated-gif-maker.gif"/>
          <p:cNvPicPr>
            <a:picLocks noChangeAspect="1"/>
          </p:cNvPicPr>
          <p:nvPr/>
        </p:nvPicPr>
        <p:blipFill>
          <a:blip r:embed="rId5"/>
          <a:stretch>
            <a:fillRect/>
          </a:stretch>
        </p:blipFill>
        <p:spPr>
          <a:xfrm>
            <a:off x="6035040" y="45720"/>
            <a:ext cx="3017520" cy="50520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F0F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2286000" cy="777240"/>
          </a:xfrm>
          <a:prstGeom prst="rect">
            <a:avLst/>
          </a:prstGeom>
          <a:noFill/>
        </p:spPr>
        <p:txBody>
          <a:bodyPr wrap="none">
            <a:spAutoFit/>
          </a:bodyPr>
          <a:lstStyle/>
          <a:p>
            <a:pPr algn="l"/>
            <a:r>
              <a:rPr sz="4800" b="1">
                <a:solidFill>
                  <a:srgbClr val="FFFFFF"/>
                </a:solidFill>
                <a:latin typeface="Arial Black"/>
              </a:rPr>
              <a:t>#8</a:t>
            </a:r>
          </a:p>
        </p:txBody>
      </p:sp>
      <p:pic>
        <p:nvPicPr>
          <p:cNvPr id="4" name="Picture 3" descr="image.jpg"/>
          <p:cNvPicPr>
            <a:picLocks noChangeAspect="1"/>
          </p:cNvPicPr>
          <p:nvPr/>
        </p:nvPicPr>
        <p:blipFill>
          <a:blip r:embed="rId2"/>
          <a:stretch>
            <a:fillRect/>
          </a:stretch>
        </p:blipFill>
        <p:spPr>
          <a:xfrm>
            <a:off x="274320" y="868680"/>
            <a:ext cx="3474720" cy="1956816"/>
          </a:xfrm>
          <a:prstGeom prst="rect">
            <a:avLst/>
          </a:prstGeom>
        </p:spPr>
      </p:pic>
      <p:pic>
        <p:nvPicPr>
          <p:cNvPr id="5" name="Picture 4" descr="image.png"/>
          <p:cNvPicPr>
            <a:picLocks noChangeAspect="1"/>
          </p:cNvPicPr>
          <p:nvPr/>
        </p:nvPicPr>
        <p:blipFill>
          <a:blip r:embed="rId3"/>
          <a:stretch>
            <a:fillRect/>
          </a:stretch>
        </p:blipFill>
        <p:spPr>
          <a:xfrm>
            <a:off x="274320" y="2926080"/>
            <a:ext cx="914400" cy="914400"/>
          </a:xfrm>
          <a:prstGeom prst="rect">
            <a:avLst/>
          </a:prstGeom>
        </p:spPr>
      </p:pic>
      <p:sp>
        <p:nvSpPr>
          <p:cNvPr id="6" name="TextBox 5"/>
          <p:cNvSpPr txBox="1"/>
          <p:nvPr/>
        </p:nvSpPr>
        <p:spPr>
          <a:xfrm>
            <a:off x="1280160" y="3063240"/>
            <a:ext cx="2560320" cy="320040"/>
          </a:xfrm>
          <a:prstGeom prst="rect">
            <a:avLst/>
          </a:prstGeom>
          <a:noFill/>
        </p:spPr>
        <p:txBody>
          <a:bodyPr wrap="none">
            <a:spAutoFit/>
          </a:bodyPr>
          <a:lstStyle/>
          <a:p>
            <a:pPr algn="l"/>
            <a:r>
              <a:rPr sz="700" b="0">
                <a:solidFill>
                  <a:srgbClr val="AAAAAA"/>
                </a:solidFill>
                <a:latin typeface="Arial"/>
              </a:rPr>
              <a:t>https://www.youtube.com/watch?v=0Uok2urgxIg</a:t>
            </a:r>
          </a:p>
        </p:txBody>
      </p:sp>
      <p:sp>
        <p:nvSpPr>
          <p:cNvPr id="7" name="TextBox 6"/>
          <p:cNvSpPr txBox="1"/>
          <p:nvPr/>
        </p:nvSpPr>
        <p:spPr>
          <a:xfrm>
            <a:off x="3840480" y="777240"/>
            <a:ext cx="2103120" cy="1371600"/>
          </a:xfrm>
          <a:prstGeom prst="rect">
            <a:avLst/>
          </a:prstGeom>
          <a:noFill/>
        </p:spPr>
        <p:txBody>
          <a:bodyPr wrap="square">
            <a:spAutoFit/>
          </a:bodyPr>
          <a:lstStyle/>
          <a:p>
            <a:pPr algn="l"/>
            <a:r>
              <a:rPr sz="1300" b="1" u="sng">
                <a:solidFill>
                  <a:srgbClr val="FFFFFF"/>
                </a:solidFill>
                <a:latin typeface="Arial"/>
                <a:hlinkClick r:id="rId4"/>
              </a:rPr>
              <a:t>【祝】ナポリの男たち10周年記念トモコレ配信＋重大発表！</a:t>
            </a:r>
          </a:p>
        </p:txBody>
      </p:sp>
      <p:sp>
        <p:nvSpPr>
          <p:cNvPr id="8" name="TextBox 7"/>
          <p:cNvSpPr txBox="1"/>
          <p:nvPr/>
        </p:nvSpPr>
        <p:spPr>
          <a:xfrm>
            <a:off x="3840480" y="2240280"/>
            <a:ext cx="2103120" cy="292608"/>
          </a:xfrm>
          <a:prstGeom prst="rect">
            <a:avLst/>
          </a:prstGeom>
          <a:noFill/>
        </p:spPr>
        <p:txBody>
          <a:bodyPr wrap="none">
            <a:spAutoFit/>
          </a:bodyPr>
          <a:lstStyle/>
          <a:p>
            <a:pPr algn="l"/>
            <a:r>
              <a:rPr sz="1000" b="0">
                <a:solidFill>
                  <a:srgbClr val="AAAAAA"/>
                </a:solidFill>
                <a:latin typeface="Arial"/>
              </a:rPr>
              <a:t>📺  ナポリの男たち</a:t>
            </a:r>
          </a:p>
        </p:txBody>
      </p:sp>
      <p:sp>
        <p:nvSpPr>
          <p:cNvPr id="9" name="TextBox 8"/>
          <p:cNvSpPr txBox="1"/>
          <p:nvPr/>
        </p:nvSpPr>
        <p:spPr>
          <a:xfrm>
            <a:off x="3840480" y="2578608"/>
            <a:ext cx="2103120" cy="320040"/>
          </a:xfrm>
          <a:prstGeom prst="rect">
            <a:avLst/>
          </a:prstGeom>
          <a:noFill/>
        </p:spPr>
        <p:txBody>
          <a:bodyPr wrap="none">
            <a:spAutoFit/>
          </a:bodyPr>
          <a:lstStyle/>
          <a:p>
            <a:pPr algn="l"/>
            <a:r>
              <a:rPr sz="1000" b="1">
                <a:solidFill>
                  <a:srgbClr val="FFFFFF"/>
                </a:solidFill>
                <a:latin typeface="Arial"/>
              </a:rPr>
              <a:t>👁 244,906  👍 11,578  💬 265</a:t>
            </a:r>
          </a:p>
        </p:txBody>
      </p:sp>
      <p:sp>
        <p:nvSpPr>
          <p:cNvPr id="10" name="TextBox 9"/>
          <p:cNvSpPr txBox="1"/>
          <p:nvPr/>
        </p:nvSpPr>
        <p:spPr>
          <a:xfrm>
            <a:off x="3840480" y="2944368"/>
            <a:ext cx="2103120" cy="292608"/>
          </a:xfrm>
          <a:prstGeom prst="rect">
            <a:avLst/>
          </a:prstGeom>
          <a:noFill/>
        </p:spPr>
        <p:txBody>
          <a:bodyPr wrap="none">
            <a:spAutoFit/>
          </a:bodyPr>
          <a:lstStyle/>
          <a:p>
            <a:pPr algn="l"/>
            <a:r>
              <a:rPr sz="1000" b="0">
                <a:solidFill>
                  <a:srgbClr val="AAAAAA"/>
                </a:solidFill>
                <a:latin typeface="Arial"/>
              </a:rPr>
              <a:t>⏱ 2:13:52  ·  📅 公開7時間前</a:t>
            </a:r>
          </a:p>
        </p:txBody>
      </p:sp>
      <p:sp>
        <p:nvSpPr>
          <p:cNvPr id="11" name="TextBox 10"/>
          <p:cNvSpPr txBox="1"/>
          <p:nvPr/>
        </p:nvSpPr>
        <p:spPr>
          <a:xfrm>
            <a:off x="274320" y="3931920"/>
            <a:ext cx="5669280" cy="822960"/>
          </a:xfrm>
          <a:prstGeom prst="rect">
            <a:avLst/>
          </a:prstGeom>
          <a:noFill/>
        </p:spPr>
        <p:txBody>
          <a:bodyPr wrap="square">
            <a:spAutoFit/>
          </a:bodyPr>
          <a:lstStyle/>
          <a:p>
            <a:pPr algn="l"/>
            <a:r>
              <a:rPr sz="1000" b="0">
                <a:solidFill>
                  <a:srgbClr val="4EC9B0"/>
                </a:solidFill>
                <a:latin typeface="Arial"/>
              </a:rPr>
              <a:t>💡 公開7時間で急上昇入り！　10万再生突破の話題作　いいね率4.7%と好評価</a:t>
            </a:r>
          </a:p>
        </p:txBody>
      </p:sp>
      <p:pic>
        <p:nvPicPr>
          <p:cNvPr id="12" name="Picture 11" descr="ezgif_com-animated-gif-maker.gif"/>
          <p:cNvPicPr>
            <a:picLocks noChangeAspect="1"/>
          </p:cNvPicPr>
          <p:nvPr/>
        </p:nvPicPr>
        <p:blipFill>
          <a:blip r:embed="rId5"/>
          <a:stretch>
            <a:fillRect/>
          </a:stretch>
        </p:blipFill>
        <p:spPr>
          <a:xfrm>
            <a:off x="6035040" y="45720"/>
            <a:ext cx="3017520" cy="50520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F0F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2286000" cy="777240"/>
          </a:xfrm>
          <a:prstGeom prst="rect">
            <a:avLst/>
          </a:prstGeom>
          <a:noFill/>
        </p:spPr>
        <p:txBody>
          <a:bodyPr wrap="none">
            <a:spAutoFit/>
          </a:bodyPr>
          <a:lstStyle/>
          <a:p>
            <a:pPr algn="l"/>
            <a:r>
              <a:rPr sz="4800" b="1">
                <a:solidFill>
                  <a:srgbClr val="FFFFFF"/>
                </a:solidFill>
                <a:latin typeface="Arial Black"/>
              </a:rPr>
              <a:t>#7</a:t>
            </a:r>
          </a:p>
        </p:txBody>
      </p:sp>
      <p:pic>
        <p:nvPicPr>
          <p:cNvPr id="4" name="Picture 3" descr="image.jpg"/>
          <p:cNvPicPr>
            <a:picLocks noChangeAspect="1"/>
          </p:cNvPicPr>
          <p:nvPr/>
        </p:nvPicPr>
        <p:blipFill>
          <a:blip r:embed="rId2"/>
          <a:stretch>
            <a:fillRect/>
          </a:stretch>
        </p:blipFill>
        <p:spPr>
          <a:xfrm>
            <a:off x="274320" y="868680"/>
            <a:ext cx="3474720" cy="1956816"/>
          </a:xfrm>
          <a:prstGeom prst="rect">
            <a:avLst/>
          </a:prstGeom>
        </p:spPr>
      </p:pic>
      <p:pic>
        <p:nvPicPr>
          <p:cNvPr id="5" name="Picture 4" descr="image.png"/>
          <p:cNvPicPr>
            <a:picLocks noChangeAspect="1"/>
          </p:cNvPicPr>
          <p:nvPr/>
        </p:nvPicPr>
        <p:blipFill>
          <a:blip r:embed="rId3"/>
          <a:stretch>
            <a:fillRect/>
          </a:stretch>
        </p:blipFill>
        <p:spPr>
          <a:xfrm>
            <a:off x="274320" y="2926080"/>
            <a:ext cx="914400" cy="914400"/>
          </a:xfrm>
          <a:prstGeom prst="rect">
            <a:avLst/>
          </a:prstGeom>
        </p:spPr>
      </p:pic>
      <p:sp>
        <p:nvSpPr>
          <p:cNvPr id="6" name="TextBox 5"/>
          <p:cNvSpPr txBox="1"/>
          <p:nvPr/>
        </p:nvSpPr>
        <p:spPr>
          <a:xfrm>
            <a:off x="1280160" y="3063240"/>
            <a:ext cx="2560320" cy="320040"/>
          </a:xfrm>
          <a:prstGeom prst="rect">
            <a:avLst/>
          </a:prstGeom>
          <a:noFill/>
        </p:spPr>
        <p:txBody>
          <a:bodyPr wrap="none">
            <a:spAutoFit/>
          </a:bodyPr>
          <a:lstStyle/>
          <a:p>
            <a:pPr algn="l"/>
            <a:r>
              <a:rPr sz="700" b="0">
                <a:solidFill>
                  <a:srgbClr val="AAAAAA"/>
                </a:solidFill>
                <a:latin typeface="Arial"/>
              </a:rPr>
              <a:t>https://www.youtube.com/watch?v=SLe3j6oz12k</a:t>
            </a:r>
          </a:p>
        </p:txBody>
      </p:sp>
      <p:sp>
        <p:nvSpPr>
          <p:cNvPr id="7" name="TextBox 6"/>
          <p:cNvSpPr txBox="1"/>
          <p:nvPr/>
        </p:nvSpPr>
        <p:spPr>
          <a:xfrm>
            <a:off x="3840480" y="777240"/>
            <a:ext cx="2103120" cy="1371600"/>
          </a:xfrm>
          <a:prstGeom prst="rect">
            <a:avLst/>
          </a:prstGeom>
          <a:noFill/>
        </p:spPr>
        <p:txBody>
          <a:bodyPr wrap="square">
            <a:spAutoFit/>
          </a:bodyPr>
          <a:lstStyle/>
          <a:p>
            <a:pPr algn="l"/>
            <a:r>
              <a:rPr sz="1300" b="1" u="sng">
                <a:solidFill>
                  <a:srgbClr val="FFFFFF"/>
                </a:solidFill>
                <a:latin typeface="Arial"/>
                <a:hlinkClick r:id="rId4"/>
              </a:rPr>
              <a:t>WEST. - LIVE Blu-ray &amp; DVD「WEST. SPECIAL LIVE 『WESTA!』 2025-2026」Digest</a:t>
            </a:r>
          </a:p>
        </p:txBody>
      </p:sp>
      <p:sp>
        <p:nvSpPr>
          <p:cNvPr id="8" name="TextBox 7"/>
          <p:cNvSpPr txBox="1"/>
          <p:nvPr/>
        </p:nvSpPr>
        <p:spPr>
          <a:xfrm>
            <a:off x="3840480" y="2240280"/>
            <a:ext cx="2103120" cy="292608"/>
          </a:xfrm>
          <a:prstGeom prst="rect">
            <a:avLst/>
          </a:prstGeom>
          <a:noFill/>
        </p:spPr>
        <p:txBody>
          <a:bodyPr wrap="none">
            <a:spAutoFit/>
          </a:bodyPr>
          <a:lstStyle/>
          <a:p>
            <a:pPr algn="l"/>
            <a:r>
              <a:rPr sz="1000" b="0">
                <a:solidFill>
                  <a:srgbClr val="AAAAAA"/>
                </a:solidFill>
                <a:latin typeface="Arial"/>
              </a:rPr>
              <a:t>📺  WEST.</a:t>
            </a:r>
          </a:p>
        </p:txBody>
      </p:sp>
      <p:sp>
        <p:nvSpPr>
          <p:cNvPr id="9" name="TextBox 8"/>
          <p:cNvSpPr txBox="1"/>
          <p:nvPr/>
        </p:nvSpPr>
        <p:spPr>
          <a:xfrm>
            <a:off x="3840480" y="2578608"/>
            <a:ext cx="2103120" cy="320040"/>
          </a:xfrm>
          <a:prstGeom prst="rect">
            <a:avLst/>
          </a:prstGeom>
          <a:noFill/>
        </p:spPr>
        <p:txBody>
          <a:bodyPr wrap="none">
            <a:spAutoFit/>
          </a:bodyPr>
          <a:lstStyle/>
          <a:p>
            <a:pPr algn="l"/>
            <a:r>
              <a:rPr sz="1000" b="1">
                <a:solidFill>
                  <a:srgbClr val="FFFFFF"/>
                </a:solidFill>
                <a:latin typeface="Arial"/>
              </a:rPr>
              <a:t>👁 94,934  👍 13,829  💬 1,167  📈+95.1%</a:t>
            </a:r>
          </a:p>
        </p:txBody>
      </p:sp>
      <p:sp>
        <p:nvSpPr>
          <p:cNvPr id="10" name="TextBox 9"/>
          <p:cNvSpPr txBox="1"/>
          <p:nvPr/>
        </p:nvSpPr>
        <p:spPr>
          <a:xfrm>
            <a:off x="3840480" y="2944368"/>
            <a:ext cx="2103120" cy="292608"/>
          </a:xfrm>
          <a:prstGeom prst="rect">
            <a:avLst/>
          </a:prstGeom>
          <a:noFill/>
        </p:spPr>
        <p:txBody>
          <a:bodyPr wrap="none">
            <a:spAutoFit/>
          </a:bodyPr>
          <a:lstStyle/>
          <a:p>
            <a:pPr algn="l"/>
            <a:r>
              <a:rPr sz="1000" b="0">
                <a:solidFill>
                  <a:srgbClr val="AAAAAA"/>
                </a:solidFill>
                <a:latin typeface="Arial"/>
              </a:rPr>
              <a:t>⏱ 3:34  ·  📅 公開12時間前</a:t>
            </a:r>
          </a:p>
        </p:txBody>
      </p:sp>
      <p:sp>
        <p:nvSpPr>
          <p:cNvPr id="11" name="TextBox 10"/>
          <p:cNvSpPr txBox="1"/>
          <p:nvPr/>
        </p:nvSpPr>
        <p:spPr>
          <a:xfrm>
            <a:off x="274320" y="3931920"/>
            <a:ext cx="5669280" cy="822960"/>
          </a:xfrm>
          <a:prstGeom prst="rect">
            <a:avLst/>
          </a:prstGeom>
          <a:noFill/>
        </p:spPr>
        <p:txBody>
          <a:bodyPr wrap="square">
            <a:spAutoFit/>
          </a:bodyPr>
          <a:lstStyle/>
          <a:p>
            <a:pPr algn="l"/>
            <a:r>
              <a:rPr sz="1000" b="0">
                <a:solidFill>
                  <a:srgbClr val="4EC9B0"/>
                </a:solidFill>
                <a:latin typeface="Arial"/>
              </a:rPr>
              <a:t>💡 公開12時間で急上昇入り！　急上昇中の新興コンテンツ　前日比+95.1%と急拡散中</a:t>
            </a:r>
          </a:p>
        </p:txBody>
      </p:sp>
      <p:pic>
        <p:nvPicPr>
          <p:cNvPr id="12" name="Picture 11" descr="ezgif_com-animated-gif-maker.gif"/>
          <p:cNvPicPr>
            <a:picLocks noChangeAspect="1"/>
          </p:cNvPicPr>
          <p:nvPr/>
        </p:nvPicPr>
        <p:blipFill>
          <a:blip r:embed="rId5"/>
          <a:stretch>
            <a:fillRect/>
          </a:stretch>
        </p:blipFill>
        <p:spPr>
          <a:xfrm>
            <a:off x="6035040" y="45720"/>
            <a:ext cx="3017520" cy="50520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F0F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2286000" cy="777240"/>
          </a:xfrm>
          <a:prstGeom prst="rect">
            <a:avLst/>
          </a:prstGeom>
          <a:noFill/>
        </p:spPr>
        <p:txBody>
          <a:bodyPr wrap="none">
            <a:spAutoFit/>
          </a:bodyPr>
          <a:lstStyle/>
          <a:p>
            <a:pPr algn="l"/>
            <a:r>
              <a:rPr sz="4800" b="1">
                <a:solidFill>
                  <a:srgbClr val="FFFFFF"/>
                </a:solidFill>
                <a:latin typeface="Arial Black"/>
              </a:rPr>
              <a:t>#6</a:t>
            </a:r>
          </a:p>
        </p:txBody>
      </p:sp>
      <p:pic>
        <p:nvPicPr>
          <p:cNvPr id="4" name="Picture 3" descr="image.jpg"/>
          <p:cNvPicPr>
            <a:picLocks noChangeAspect="1"/>
          </p:cNvPicPr>
          <p:nvPr/>
        </p:nvPicPr>
        <p:blipFill>
          <a:blip r:embed="rId2"/>
          <a:stretch>
            <a:fillRect/>
          </a:stretch>
        </p:blipFill>
        <p:spPr>
          <a:xfrm>
            <a:off x="274320" y="868680"/>
            <a:ext cx="3474720" cy="1956816"/>
          </a:xfrm>
          <a:prstGeom prst="rect">
            <a:avLst/>
          </a:prstGeom>
        </p:spPr>
      </p:pic>
      <p:pic>
        <p:nvPicPr>
          <p:cNvPr id="5" name="Picture 4" descr="image.png"/>
          <p:cNvPicPr>
            <a:picLocks noChangeAspect="1"/>
          </p:cNvPicPr>
          <p:nvPr/>
        </p:nvPicPr>
        <p:blipFill>
          <a:blip r:embed="rId3"/>
          <a:stretch>
            <a:fillRect/>
          </a:stretch>
        </p:blipFill>
        <p:spPr>
          <a:xfrm>
            <a:off x="274320" y="2926080"/>
            <a:ext cx="914400" cy="914400"/>
          </a:xfrm>
          <a:prstGeom prst="rect">
            <a:avLst/>
          </a:prstGeom>
        </p:spPr>
      </p:pic>
      <p:sp>
        <p:nvSpPr>
          <p:cNvPr id="6" name="TextBox 5"/>
          <p:cNvSpPr txBox="1"/>
          <p:nvPr/>
        </p:nvSpPr>
        <p:spPr>
          <a:xfrm>
            <a:off x="1280160" y="3063240"/>
            <a:ext cx="2560320" cy="320040"/>
          </a:xfrm>
          <a:prstGeom prst="rect">
            <a:avLst/>
          </a:prstGeom>
          <a:noFill/>
        </p:spPr>
        <p:txBody>
          <a:bodyPr wrap="none">
            <a:spAutoFit/>
          </a:bodyPr>
          <a:lstStyle/>
          <a:p>
            <a:pPr algn="l"/>
            <a:r>
              <a:rPr sz="700" b="0">
                <a:solidFill>
                  <a:srgbClr val="AAAAAA"/>
                </a:solidFill>
                <a:latin typeface="Arial"/>
              </a:rPr>
              <a:t>https://www.youtube.com/watch?v=SZ6CRUa2PfA</a:t>
            </a:r>
          </a:p>
        </p:txBody>
      </p:sp>
      <p:sp>
        <p:nvSpPr>
          <p:cNvPr id="7" name="TextBox 6"/>
          <p:cNvSpPr txBox="1"/>
          <p:nvPr/>
        </p:nvSpPr>
        <p:spPr>
          <a:xfrm>
            <a:off x="3840480" y="777240"/>
            <a:ext cx="2103120" cy="1371600"/>
          </a:xfrm>
          <a:prstGeom prst="rect">
            <a:avLst/>
          </a:prstGeom>
          <a:noFill/>
        </p:spPr>
        <p:txBody>
          <a:bodyPr wrap="square">
            <a:spAutoFit/>
          </a:bodyPr>
          <a:lstStyle/>
          <a:p>
            <a:pPr algn="l"/>
            <a:r>
              <a:rPr sz="1300" b="1" u="sng">
                <a:solidFill>
                  <a:srgbClr val="FFFFFF"/>
                </a:solidFill>
                <a:latin typeface="Arial"/>
                <a:hlinkClick r:id="rId4"/>
              </a:rPr>
              <a:t>【#にじシャドバ杯 Day1】にじさんじシャドバ杯2026 リーグ戦</a:t>
            </a:r>
          </a:p>
        </p:txBody>
      </p:sp>
      <p:sp>
        <p:nvSpPr>
          <p:cNvPr id="8" name="TextBox 7"/>
          <p:cNvSpPr txBox="1"/>
          <p:nvPr/>
        </p:nvSpPr>
        <p:spPr>
          <a:xfrm>
            <a:off x="3840480" y="2240280"/>
            <a:ext cx="2103120" cy="292608"/>
          </a:xfrm>
          <a:prstGeom prst="rect">
            <a:avLst/>
          </a:prstGeom>
          <a:noFill/>
        </p:spPr>
        <p:txBody>
          <a:bodyPr wrap="none">
            <a:spAutoFit/>
          </a:bodyPr>
          <a:lstStyle/>
          <a:p>
            <a:pPr algn="l"/>
            <a:r>
              <a:rPr sz="1000" b="0">
                <a:solidFill>
                  <a:srgbClr val="AAAAAA"/>
                </a:solidFill>
                <a:latin typeface="Arial"/>
              </a:rPr>
              <a:t>📺  にじさんじ</a:t>
            </a:r>
          </a:p>
        </p:txBody>
      </p:sp>
      <p:sp>
        <p:nvSpPr>
          <p:cNvPr id="9" name="TextBox 8"/>
          <p:cNvSpPr txBox="1"/>
          <p:nvPr/>
        </p:nvSpPr>
        <p:spPr>
          <a:xfrm>
            <a:off x="3840480" y="2578608"/>
            <a:ext cx="2103120" cy="320040"/>
          </a:xfrm>
          <a:prstGeom prst="rect">
            <a:avLst/>
          </a:prstGeom>
          <a:noFill/>
        </p:spPr>
        <p:txBody>
          <a:bodyPr wrap="none">
            <a:spAutoFit/>
          </a:bodyPr>
          <a:lstStyle/>
          <a:p>
            <a:pPr algn="l"/>
            <a:r>
              <a:rPr sz="1000" b="1">
                <a:solidFill>
                  <a:srgbClr val="FFFFFF"/>
                </a:solidFill>
                <a:latin typeface="Arial"/>
              </a:rPr>
              <a:t>👁 599,663  👍 8,435  💬 39  📈+5.6%</a:t>
            </a:r>
          </a:p>
        </p:txBody>
      </p:sp>
      <p:sp>
        <p:nvSpPr>
          <p:cNvPr id="10" name="TextBox 9"/>
          <p:cNvSpPr txBox="1"/>
          <p:nvPr/>
        </p:nvSpPr>
        <p:spPr>
          <a:xfrm>
            <a:off x="3840480" y="2944368"/>
            <a:ext cx="2103120" cy="292608"/>
          </a:xfrm>
          <a:prstGeom prst="rect">
            <a:avLst/>
          </a:prstGeom>
          <a:noFill/>
        </p:spPr>
        <p:txBody>
          <a:bodyPr wrap="none">
            <a:spAutoFit/>
          </a:bodyPr>
          <a:lstStyle/>
          <a:p>
            <a:pPr algn="l"/>
            <a:r>
              <a:rPr sz="1000" b="0">
                <a:solidFill>
                  <a:srgbClr val="AAAAAA"/>
                </a:solidFill>
                <a:latin typeface="Arial"/>
              </a:rPr>
              <a:t>⏱ 5:38:53  ·  📅 公開9時間前</a:t>
            </a:r>
          </a:p>
        </p:txBody>
      </p:sp>
      <p:sp>
        <p:nvSpPr>
          <p:cNvPr id="11" name="TextBox 10"/>
          <p:cNvSpPr txBox="1"/>
          <p:nvPr/>
        </p:nvSpPr>
        <p:spPr>
          <a:xfrm>
            <a:off x="274320" y="3931920"/>
            <a:ext cx="5669280" cy="822960"/>
          </a:xfrm>
          <a:prstGeom prst="rect">
            <a:avLst/>
          </a:prstGeom>
          <a:noFill/>
        </p:spPr>
        <p:txBody>
          <a:bodyPr wrap="square">
            <a:spAutoFit/>
          </a:bodyPr>
          <a:lstStyle/>
          <a:p>
            <a:pPr algn="l"/>
            <a:r>
              <a:rPr sz="1000" b="0">
                <a:solidFill>
                  <a:srgbClr val="4EC9B0"/>
                </a:solidFill>
                <a:latin typeface="Arial"/>
              </a:rPr>
              <a:t>💡 公開9時間で急上昇入り！　50万再生の注目コンテンツ</a:t>
            </a:r>
          </a:p>
        </p:txBody>
      </p:sp>
      <p:pic>
        <p:nvPicPr>
          <p:cNvPr id="12" name="Picture 11" descr="ezgif_com-animated-gif-maker.gif"/>
          <p:cNvPicPr>
            <a:picLocks noChangeAspect="1"/>
          </p:cNvPicPr>
          <p:nvPr/>
        </p:nvPicPr>
        <p:blipFill>
          <a:blip r:embed="rId5"/>
          <a:stretch>
            <a:fillRect/>
          </a:stretch>
        </p:blipFill>
        <p:spPr>
          <a:xfrm>
            <a:off x="6035040" y="45720"/>
            <a:ext cx="3017520" cy="50520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F0F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2286000" cy="777240"/>
          </a:xfrm>
          <a:prstGeom prst="rect">
            <a:avLst/>
          </a:prstGeom>
          <a:noFill/>
        </p:spPr>
        <p:txBody>
          <a:bodyPr wrap="none">
            <a:spAutoFit/>
          </a:bodyPr>
          <a:lstStyle/>
          <a:p>
            <a:pPr algn="l"/>
            <a:r>
              <a:rPr sz="4800" b="1">
                <a:solidFill>
                  <a:srgbClr val="FFFFFF"/>
                </a:solidFill>
                <a:latin typeface="Arial Black"/>
              </a:rPr>
              <a:t>#5</a:t>
            </a:r>
          </a:p>
        </p:txBody>
      </p:sp>
      <p:pic>
        <p:nvPicPr>
          <p:cNvPr id="4" name="Picture 3" descr="image.jpg"/>
          <p:cNvPicPr>
            <a:picLocks noChangeAspect="1"/>
          </p:cNvPicPr>
          <p:nvPr/>
        </p:nvPicPr>
        <p:blipFill>
          <a:blip r:embed="rId2"/>
          <a:stretch>
            <a:fillRect/>
          </a:stretch>
        </p:blipFill>
        <p:spPr>
          <a:xfrm>
            <a:off x="274320" y="868680"/>
            <a:ext cx="3474720" cy="1956816"/>
          </a:xfrm>
          <a:prstGeom prst="rect">
            <a:avLst/>
          </a:prstGeom>
        </p:spPr>
      </p:pic>
      <p:pic>
        <p:nvPicPr>
          <p:cNvPr id="5" name="Picture 4" descr="image.png"/>
          <p:cNvPicPr>
            <a:picLocks noChangeAspect="1"/>
          </p:cNvPicPr>
          <p:nvPr/>
        </p:nvPicPr>
        <p:blipFill>
          <a:blip r:embed="rId3"/>
          <a:stretch>
            <a:fillRect/>
          </a:stretch>
        </p:blipFill>
        <p:spPr>
          <a:xfrm>
            <a:off x="274320" y="2926080"/>
            <a:ext cx="914400" cy="914400"/>
          </a:xfrm>
          <a:prstGeom prst="rect">
            <a:avLst/>
          </a:prstGeom>
        </p:spPr>
      </p:pic>
      <p:sp>
        <p:nvSpPr>
          <p:cNvPr id="6" name="TextBox 5"/>
          <p:cNvSpPr txBox="1"/>
          <p:nvPr/>
        </p:nvSpPr>
        <p:spPr>
          <a:xfrm>
            <a:off x="1280160" y="3063240"/>
            <a:ext cx="2560320" cy="320040"/>
          </a:xfrm>
          <a:prstGeom prst="rect">
            <a:avLst/>
          </a:prstGeom>
          <a:noFill/>
        </p:spPr>
        <p:txBody>
          <a:bodyPr wrap="none">
            <a:spAutoFit/>
          </a:bodyPr>
          <a:lstStyle/>
          <a:p>
            <a:pPr algn="l"/>
            <a:r>
              <a:rPr sz="700" b="0">
                <a:solidFill>
                  <a:srgbClr val="AAAAAA"/>
                </a:solidFill>
                <a:latin typeface="Arial"/>
              </a:rPr>
              <a:t>https://www.youtube.com/watch?v=2rA2K0gwjoo</a:t>
            </a:r>
          </a:p>
        </p:txBody>
      </p:sp>
      <p:sp>
        <p:nvSpPr>
          <p:cNvPr id="7" name="TextBox 6"/>
          <p:cNvSpPr txBox="1"/>
          <p:nvPr/>
        </p:nvSpPr>
        <p:spPr>
          <a:xfrm>
            <a:off x="3840480" y="777240"/>
            <a:ext cx="2103120" cy="1371600"/>
          </a:xfrm>
          <a:prstGeom prst="rect">
            <a:avLst/>
          </a:prstGeom>
          <a:noFill/>
        </p:spPr>
        <p:txBody>
          <a:bodyPr wrap="square">
            <a:spAutoFit/>
          </a:bodyPr>
          <a:lstStyle/>
          <a:p>
            <a:pPr algn="l"/>
            <a:r>
              <a:rPr sz="1300" b="1" u="sng">
                <a:solidFill>
                  <a:srgbClr val="FFFFFF"/>
                </a:solidFill>
                <a:latin typeface="Arial"/>
                <a:hlinkClick r:id="rId4"/>
              </a:rPr>
              <a:t>LE SSERAFIM (르세라핌) x ILLIT (아일릿) x KATSEYE (캣츠아이) 'ICONIC BY MISTAKE' Dance Practice</a:t>
            </a:r>
          </a:p>
        </p:txBody>
      </p:sp>
      <p:sp>
        <p:nvSpPr>
          <p:cNvPr id="8" name="TextBox 7"/>
          <p:cNvSpPr txBox="1"/>
          <p:nvPr/>
        </p:nvSpPr>
        <p:spPr>
          <a:xfrm>
            <a:off x="3840480" y="2240280"/>
            <a:ext cx="2103120" cy="292608"/>
          </a:xfrm>
          <a:prstGeom prst="rect">
            <a:avLst/>
          </a:prstGeom>
          <a:noFill/>
        </p:spPr>
        <p:txBody>
          <a:bodyPr wrap="none">
            <a:spAutoFit/>
          </a:bodyPr>
          <a:lstStyle/>
          <a:p>
            <a:pPr algn="l"/>
            <a:r>
              <a:rPr sz="1000" b="0">
                <a:solidFill>
                  <a:srgbClr val="AAAAAA"/>
                </a:solidFill>
                <a:latin typeface="Arial"/>
              </a:rPr>
              <a:t>📺  HYBE LABELS</a:t>
            </a:r>
          </a:p>
        </p:txBody>
      </p:sp>
      <p:sp>
        <p:nvSpPr>
          <p:cNvPr id="9" name="TextBox 8"/>
          <p:cNvSpPr txBox="1"/>
          <p:nvPr/>
        </p:nvSpPr>
        <p:spPr>
          <a:xfrm>
            <a:off x="3840480" y="2578608"/>
            <a:ext cx="2103120" cy="320040"/>
          </a:xfrm>
          <a:prstGeom prst="rect">
            <a:avLst/>
          </a:prstGeom>
          <a:noFill/>
        </p:spPr>
        <p:txBody>
          <a:bodyPr wrap="none">
            <a:spAutoFit/>
          </a:bodyPr>
          <a:lstStyle/>
          <a:p>
            <a:pPr algn="l"/>
            <a:r>
              <a:rPr sz="1000" b="1">
                <a:solidFill>
                  <a:srgbClr val="FFFFFF"/>
                </a:solidFill>
                <a:latin typeface="Arial"/>
              </a:rPr>
              <a:t>👁 2,260,801  👍 234,131  💬 8,524</a:t>
            </a:r>
          </a:p>
        </p:txBody>
      </p:sp>
      <p:sp>
        <p:nvSpPr>
          <p:cNvPr id="10" name="TextBox 9"/>
          <p:cNvSpPr txBox="1"/>
          <p:nvPr/>
        </p:nvSpPr>
        <p:spPr>
          <a:xfrm>
            <a:off x="3840480" y="2944368"/>
            <a:ext cx="2103120" cy="292608"/>
          </a:xfrm>
          <a:prstGeom prst="rect">
            <a:avLst/>
          </a:prstGeom>
          <a:noFill/>
        </p:spPr>
        <p:txBody>
          <a:bodyPr wrap="none">
            <a:spAutoFit/>
          </a:bodyPr>
          <a:lstStyle/>
          <a:p>
            <a:pPr algn="l"/>
            <a:r>
              <a:rPr sz="1000" b="0">
                <a:solidFill>
                  <a:srgbClr val="AAAAAA"/>
                </a:solidFill>
                <a:latin typeface="Arial"/>
              </a:rPr>
              <a:t>⏱ 3:01  ·  📅 公開6時間前</a:t>
            </a:r>
          </a:p>
        </p:txBody>
      </p:sp>
      <p:sp>
        <p:nvSpPr>
          <p:cNvPr id="11" name="TextBox 10"/>
          <p:cNvSpPr txBox="1"/>
          <p:nvPr/>
        </p:nvSpPr>
        <p:spPr>
          <a:xfrm>
            <a:off x="274320" y="3931920"/>
            <a:ext cx="5669280" cy="822960"/>
          </a:xfrm>
          <a:prstGeom prst="rect">
            <a:avLst/>
          </a:prstGeom>
          <a:noFill/>
        </p:spPr>
        <p:txBody>
          <a:bodyPr wrap="square">
            <a:spAutoFit/>
          </a:bodyPr>
          <a:lstStyle/>
          <a:p>
            <a:pPr algn="l"/>
            <a:r>
              <a:rPr sz="1000" b="0">
                <a:solidFill>
                  <a:srgbClr val="4EC9B0"/>
                </a:solidFill>
                <a:latin typeface="Arial"/>
              </a:rPr>
              <a:t>💡 公開6時間で急上昇入り！　100万再生超の大ヒット　いいね率10.4%と視聴者の支持が非常に高い</a:t>
            </a:r>
          </a:p>
        </p:txBody>
      </p:sp>
      <p:pic>
        <p:nvPicPr>
          <p:cNvPr id="12" name="Picture 11" descr="ezgif_com-animated-gif-maker.gif"/>
          <p:cNvPicPr>
            <a:picLocks noChangeAspect="1"/>
          </p:cNvPicPr>
          <p:nvPr/>
        </p:nvPicPr>
        <p:blipFill>
          <a:blip r:embed="rId5"/>
          <a:stretch>
            <a:fillRect/>
          </a:stretch>
        </p:blipFill>
        <p:spPr>
          <a:xfrm>
            <a:off x="6035040" y="45720"/>
            <a:ext cx="3017520" cy="50520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F0F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2286000" cy="777240"/>
          </a:xfrm>
          <a:prstGeom prst="rect">
            <a:avLst/>
          </a:prstGeom>
          <a:noFill/>
        </p:spPr>
        <p:txBody>
          <a:bodyPr wrap="none">
            <a:spAutoFit/>
          </a:bodyPr>
          <a:lstStyle/>
          <a:p>
            <a:pPr algn="l"/>
            <a:r>
              <a:rPr sz="4800" b="1">
                <a:solidFill>
                  <a:srgbClr val="FFFFFF"/>
                </a:solidFill>
                <a:latin typeface="Arial Black"/>
              </a:rPr>
              <a:t>#4</a:t>
            </a:r>
          </a:p>
        </p:txBody>
      </p:sp>
      <p:pic>
        <p:nvPicPr>
          <p:cNvPr id="4" name="Picture 3" descr="image.jpg"/>
          <p:cNvPicPr>
            <a:picLocks noChangeAspect="1"/>
          </p:cNvPicPr>
          <p:nvPr/>
        </p:nvPicPr>
        <p:blipFill>
          <a:blip r:embed="rId2"/>
          <a:stretch>
            <a:fillRect/>
          </a:stretch>
        </p:blipFill>
        <p:spPr>
          <a:xfrm>
            <a:off x="274320" y="868680"/>
            <a:ext cx="3474720" cy="1956816"/>
          </a:xfrm>
          <a:prstGeom prst="rect">
            <a:avLst/>
          </a:prstGeom>
        </p:spPr>
      </p:pic>
      <p:pic>
        <p:nvPicPr>
          <p:cNvPr id="5" name="Picture 4" descr="image.png"/>
          <p:cNvPicPr>
            <a:picLocks noChangeAspect="1"/>
          </p:cNvPicPr>
          <p:nvPr/>
        </p:nvPicPr>
        <p:blipFill>
          <a:blip r:embed="rId3"/>
          <a:stretch>
            <a:fillRect/>
          </a:stretch>
        </p:blipFill>
        <p:spPr>
          <a:xfrm>
            <a:off x="274320" y="2926080"/>
            <a:ext cx="914400" cy="914400"/>
          </a:xfrm>
          <a:prstGeom prst="rect">
            <a:avLst/>
          </a:prstGeom>
        </p:spPr>
      </p:pic>
      <p:sp>
        <p:nvSpPr>
          <p:cNvPr id="6" name="TextBox 5"/>
          <p:cNvSpPr txBox="1"/>
          <p:nvPr/>
        </p:nvSpPr>
        <p:spPr>
          <a:xfrm>
            <a:off x="1280160" y="3063240"/>
            <a:ext cx="2560320" cy="320040"/>
          </a:xfrm>
          <a:prstGeom prst="rect">
            <a:avLst/>
          </a:prstGeom>
          <a:noFill/>
        </p:spPr>
        <p:txBody>
          <a:bodyPr wrap="none">
            <a:spAutoFit/>
          </a:bodyPr>
          <a:lstStyle/>
          <a:p>
            <a:pPr algn="l"/>
            <a:r>
              <a:rPr sz="700" b="0">
                <a:solidFill>
                  <a:srgbClr val="AAAAAA"/>
                </a:solidFill>
                <a:latin typeface="Arial"/>
              </a:rPr>
              <a:t>https://www.youtube.com/watch?v=sOJv-0FBUsQ</a:t>
            </a:r>
          </a:p>
        </p:txBody>
      </p:sp>
      <p:sp>
        <p:nvSpPr>
          <p:cNvPr id="7" name="TextBox 6"/>
          <p:cNvSpPr txBox="1"/>
          <p:nvPr/>
        </p:nvSpPr>
        <p:spPr>
          <a:xfrm>
            <a:off x="3840480" y="777240"/>
            <a:ext cx="2103120" cy="1371600"/>
          </a:xfrm>
          <a:prstGeom prst="rect">
            <a:avLst/>
          </a:prstGeom>
          <a:noFill/>
        </p:spPr>
        <p:txBody>
          <a:bodyPr wrap="square">
            <a:spAutoFit/>
          </a:bodyPr>
          <a:lstStyle/>
          <a:p>
            <a:pPr algn="l"/>
            <a:r>
              <a:rPr sz="1300" b="1" u="sng">
                <a:solidFill>
                  <a:srgbClr val="FFFFFF"/>
                </a:solidFill>
                <a:latin typeface="Arial"/>
                <a:hlinkClick r:id="rId4"/>
              </a:rPr>
              <a:t>【貴重映像】FPSの天才Depがスプラ初プレイしたら初日からとんでもないプレイが飛び出した…</a:t>
            </a:r>
          </a:p>
        </p:txBody>
      </p:sp>
      <p:sp>
        <p:nvSpPr>
          <p:cNvPr id="8" name="TextBox 7"/>
          <p:cNvSpPr txBox="1"/>
          <p:nvPr/>
        </p:nvSpPr>
        <p:spPr>
          <a:xfrm>
            <a:off x="3840480" y="2240280"/>
            <a:ext cx="2103120" cy="292608"/>
          </a:xfrm>
          <a:prstGeom prst="rect">
            <a:avLst/>
          </a:prstGeom>
          <a:noFill/>
        </p:spPr>
        <p:txBody>
          <a:bodyPr wrap="none">
            <a:spAutoFit/>
          </a:bodyPr>
          <a:lstStyle/>
          <a:p>
            <a:pPr algn="l"/>
            <a:r>
              <a:rPr sz="1000" b="0">
                <a:solidFill>
                  <a:srgbClr val="AAAAAA"/>
                </a:solidFill>
                <a:latin typeface="Arial"/>
              </a:rPr>
              <a:t>📺  GON</a:t>
            </a:r>
          </a:p>
        </p:txBody>
      </p:sp>
      <p:sp>
        <p:nvSpPr>
          <p:cNvPr id="9" name="TextBox 8"/>
          <p:cNvSpPr txBox="1"/>
          <p:nvPr/>
        </p:nvSpPr>
        <p:spPr>
          <a:xfrm>
            <a:off x="3840480" y="2578608"/>
            <a:ext cx="2103120" cy="320040"/>
          </a:xfrm>
          <a:prstGeom prst="rect">
            <a:avLst/>
          </a:prstGeom>
          <a:noFill/>
        </p:spPr>
        <p:txBody>
          <a:bodyPr wrap="none">
            <a:spAutoFit/>
          </a:bodyPr>
          <a:lstStyle/>
          <a:p>
            <a:pPr algn="l"/>
            <a:r>
              <a:rPr sz="1000" b="1">
                <a:solidFill>
                  <a:srgbClr val="FFFFFF"/>
                </a:solidFill>
                <a:latin typeface="Arial"/>
              </a:rPr>
              <a:t>👁 73,239  👍 2,138  💬 223</a:t>
            </a:r>
          </a:p>
        </p:txBody>
      </p:sp>
      <p:sp>
        <p:nvSpPr>
          <p:cNvPr id="10" name="TextBox 9"/>
          <p:cNvSpPr txBox="1"/>
          <p:nvPr/>
        </p:nvSpPr>
        <p:spPr>
          <a:xfrm>
            <a:off x="3840480" y="2944368"/>
            <a:ext cx="2103120" cy="292608"/>
          </a:xfrm>
          <a:prstGeom prst="rect">
            <a:avLst/>
          </a:prstGeom>
          <a:noFill/>
        </p:spPr>
        <p:txBody>
          <a:bodyPr wrap="none">
            <a:spAutoFit/>
          </a:bodyPr>
          <a:lstStyle/>
          <a:p>
            <a:pPr algn="l"/>
            <a:r>
              <a:rPr sz="1000" b="0">
                <a:solidFill>
                  <a:srgbClr val="AAAAAA"/>
                </a:solidFill>
                <a:latin typeface="Arial"/>
              </a:rPr>
              <a:t>⏱ 54:05  ·  📅 公開-5時間前</a:t>
            </a:r>
          </a:p>
        </p:txBody>
      </p:sp>
      <p:sp>
        <p:nvSpPr>
          <p:cNvPr id="11" name="TextBox 10"/>
          <p:cNvSpPr txBox="1"/>
          <p:nvPr/>
        </p:nvSpPr>
        <p:spPr>
          <a:xfrm>
            <a:off x="274320" y="3931920"/>
            <a:ext cx="5669280" cy="822960"/>
          </a:xfrm>
          <a:prstGeom prst="rect">
            <a:avLst/>
          </a:prstGeom>
          <a:noFill/>
        </p:spPr>
        <p:txBody>
          <a:bodyPr wrap="square">
            <a:spAutoFit/>
          </a:bodyPr>
          <a:lstStyle/>
          <a:p>
            <a:pPr algn="l"/>
            <a:r>
              <a:rPr sz="1000" b="0">
                <a:solidFill>
                  <a:srgbClr val="4EC9B0"/>
                </a:solidFill>
                <a:latin typeface="Arial"/>
              </a:rPr>
              <a:t>💡 公開-5時間で急上昇入り！　急上昇中の新興コンテンツ　いいね率2.9%と好評価</a:t>
            </a:r>
          </a:p>
        </p:txBody>
      </p:sp>
      <p:pic>
        <p:nvPicPr>
          <p:cNvPr id="12" name="Picture 11" descr="ezgif_com-animated-gif-maker.gif"/>
          <p:cNvPicPr>
            <a:picLocks noChangeAspect="1"/>
          </p:cNvPicPr>
          <p:nvPr/>
        </p:nvPicPr>
        <p:blipFill>
          <a:blip r:embed="rId5"/>
          <a:stretch>
            <a:fillRect/>
          </a:stretch>
        </p:blipFill>
        <p:spPr>
          <a:xfrm>
            <a:off x="6035040" y="45720"/>
            <a:ext cx="3017520" cy="50520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F0F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2286000" cy="777240"/>
          </a:xfrm>
          <a:prstGeom prst="rect">
            <a:avLst/>
          </a:prstGeom>
          <a:noFill/>
        </p:spPr>
        <p:txBody>
          <a:bodyPr wrap="none">
            <a:spAutoFit/>
          </a:bodyPr>
          <a:lstStyle/>
          <a:p>
            <a:pPr algn="l"/>
            <a:r>
              <a:rPr sz="4800" b="1">
                <a:solidFill>
                  <a:srgbClr val="CD7F32"/>
                </a:solidFill>
                <a:latin typeface="Arial Black"/>
              </a:rPr>
              <a:t>#3</a:t>
            </a:r>
          </a:p>
        </p:txBody>
      </p:sp>
      <p:pic>
        <p:nvPicPr>
          <p:cNvPr id="4" name="Picture 3" descr="image.jpg"/>
          <p:cNvPicPr>
            <a:picLocks noChangeAspect="1"/>
          </p:cNvPicPr>
          <p:nvPr/>
        </p:nvPicPr>
        <p:blipFill>
          <a:blip r:embed="rId2"/>
          <a:stretch>
            <a:fillRect/>
          </a:stretch>
        </p:blipFill>
        <p:spPr>
          <a:xfrm>
            <a:off x="274320" y="868680"/>
            <a:ext cx="3474720" cy="1956816"/>
          </a:xfrm>
          <a:prstGeom prst="rect">
            <a:avLst/>
          </a:prstGeom>
        </p:spPr>
      </p:pic>
      <p:pic>
        <p:nvPicPr>
          <p:cNvPr id="5" name="Picture 4" descr="image.png"/>
          <p:cNvPicPr>
            <a:picLocks noChangeAspect="1"/>
          </p:cNvPicPr>
          <p:nvPr/>
        </p:nvPicPr>
        <p:blipFill>
          <a:blip r:embed="rId3"/>
          <a:stretch>
            <a:fillRect/>
          </a:stretch>
        </p:blipFill>
        <p:spPr>
          <a:xfrm>
            <a:off x="274320" y="2926080"/>
            <a:ext cx="914400" cy="914400"/>
          </a:xfrm>
          <a:prstGeom prst="rect">
            <a:avLst/>
          </a:prstGeom>
        </p:spPr>
      </p:pic>
      <p:sp>
        <p:nvSpPr>
          <p:cNvPr id="6" name="TextBox 5"/>
          <p:cNvSpPr txBox="1"/>
          <p:nvPr/>
        </p:nvSpPr>
        <p:spPr>
          <a:xfrm>
            <a:off x="1280160" y="3063240"/>
            <a:ext cx="2560320" cy="320040"/>
          </a:xfrm>
          <a:prstGeom prst="rect">
            <a:avLst/>
          </a:prstGeom>
          <a:noFill/>
        </p:spPr>
        <p:txBody>
          <a:bodyPr wrap="none">
            <a:spAutoFit/>
          </a:bodyPr>
          <a:lstStyle/>
          <a:p>
            <a:pPr algn="l"/>
            <a:r>
              <a:rPr sz="700" b="0">
                <a:solidFill>
                  <a:srgbClr val="AAAAAA"/>
                </a:solidFill>
                <a:latin typeface="Arial"/>
              </a:rPr>
              <a:t>https://www.youtube.com/watch?v=--n8xJ96XmU</a:t>
            </a:r>
          </a:p>
        </p:txBody>
      </p:sp>
      <p:sp>
        <p:nvSpPr>
          <p:cNvPr id="7" name="TextBox 6"/>
          <p:cNvSpPr txBox="1"/>
          <p:nvPr/>
        </p:nvSpPr>
        <p:spPr>
          <a:xfrm>
            <a:off x="3840480" y="777240"/>
            <a:ext cx="2103120" cy="1371600"/>
          </a:xfrm>
          <a:prstGeom prst="rect">
            <a:avLst/>
          </a:prstGeom>
          <a:noFill/>
        </p:spPr>
        <p:txBody>
          <a:bodyPr wrap="square">
            <a:spAutoFit/>
          </a:bodyPr>
          <a:lstStyle/>
          <a:p>
            <a:pPr algn="l"/>
            <a:r>
              <a:rPr sz="1300" b="1" u="sng">
                <a:solidFill>
                  <a:srgbClr val="FFFFFF"/>
                </a:solidFill>
                <a:latin typeface="Arial"/>
                <a:hlinkClick r:id="rId4"/>
              </a:rPr>
              <a:t>Snow Man 'Ready Go Round' Live Performance Video 〜 Dome Tour 2025-2026 ON〜</a:t>
            </a:r>
          </a:p>
        </p:txBody>
      </p:sp>
      <p:sp>
        <p:nvSpPr>
          <p:cNvPr id="8" name="TextBox 7"/>
          <p:cNvSpPr txBox="1"/>
          <p:nvPr/>
        </p:nvSpPr>
        <p:spPr>
          <a:xfrm>
            <a:off x="3840480" y="2240280"/>
            <a:ext cx="2103120" cy="292608"/>
          </a:xfrm>
          <a:prstGeom prst="rect">
            <a:avLst/>
          </a:prstGeom>
          <a:noFill/>
        </p:spPr>
        <p:txBody>
          <a:bodyPr wrap="none">
            <a:spAutoFit/>
          </a:bodyPr>
          <a:lstStyle/>
          <a:p>
            <a:pPr algn="l"/>
            <a:r>
              <a:rPr sz="1000" b="0">
                <a:solidFill>
                  <a:srgbClr val="AAAAAA"/>
                </a:solidFill>
                <a:latin typeface="Arial"/>
              </a:rPr>
              <a:t>📺  Snow Man</a:t>
            </a:r>
          </a:p>
        </p:txBody>
      </p:sp>
      <p:sp>
        <p:nvSpPr>
          <p:cNvPr id="9" name="TextBox 8"/>
          <p:cNvSpPr txBox="1"/>
          <p:nvPr/>
        </p:nvSpPr>
        <p:spPr>
          <a:xfrm>
            <a:off x="3840480" y="2578608"/>
            <a:ext cx="2103120" cy="320040"/>
          </a:xfrm>
          <a:prstGeom prst="rect">
            <a:avLst/>
          </a:prstGeom>
          <a:noFill/>
        </p:spPr>
        <p:txBody>
          <a:bodyPr wrap="none">
            <a:spAutoFit/>
          </a:bodyPr>
          <a:lstStyle/>
          <a:p>
            <a:pPr algn="l"/>
            <a:r>
              <a:rPr sz="1000" b="1">
                <a:solidFill>
                  <a:srgbClr val="CD7F32"/>
                </a:solidFill>
                <a:latin typeface="Arial"/>
              </a:rPr>
              <a:t>👁 444,136  👍 44,614  💬 1,069</a:t>
            </a:r>
          </a:p>
        </p:txBody>
      </p:sp>
      <p:sp>
        <p:nvSpPr>
          <p:cNvPr id="10" name="TextBox 9"/>
          <p:cNvSpPr txBox="1"/>
          <p:nvPr/>
        </p:nvSpPr>
        <p:spPr>
          <a:xfrm>
            <a:off x="3840480" y="2944368"/>
            <a:ext cx="2103120" cy="292608"/>
          </a:xfrm>
          <a:prstGeom prst="rect">
            <a:avLst/>
          </a:prstGeom>
          <a:noFill/>
        </p:spPr>
        <p:txBody>
          <a:bodyPr wrap="none">
            <a:spAutoFit/>
          </a:bodyPr>
          <a:lstStyle/>
          <a:p>
            <a:pPr algn="l"/>
            <a:r>
              <a:rPr sz="1000" b="0">
                <a:solidFill>
                  <a:srgbClr val="AAAAAA"/>
                </a:solidFill>
                <a:latin typeface="Arial"/>
              </a:rPr>
              <a:t>⏱ 2:39  ·  📅 公開13時間前</a:t>
            </a:r>
          </a:p>
        </p:txBody>
      </p:sp>
      <p:sp>
        <p:nvSpPr>
          <p:cNvPr id="11" name="TextBox 10"/>
          <p:cNvSpPr txBox="1"/>
          <p:nvPr/>
        </p:nvSpPr>
        <p:spPr>
          <a:xfrm>
            <a:off x="274320" y="3931920"/>
            <a:ext cx="5669280" cy="822960"/>
          </a:xfrm>
          <a:prstGeom prst="rect">
            <a:avLst/>
          </a:prstGeom>
          <a:noFill/>
        </p:spPr>
        <p:txBody>
          <a:bodyPr wrap="square">
            <a:spAutoFit/>
          </a:bodyPr>
          <a:lstStyle/>
          <a:p>
            <a:pPr algn="l"/>
            <a:r>
              <a:rPr sz="1000" b="0">
                <a:solidFill>
                  <a:srgbClr val="4EC9B0"/>
                </a:solidFill>
                <a:latin typeface="Arial"/>
              </a:rPr>
              <a:t>💡 公開13時間で急上昇入り！　10万再生突破の話題作　いいね率10.0%と視聴者の支持が非常に高い</a:t>
            </a:r>
          </a:p>
        </p:txBody>
      </p:sp>
      <p:pic>
        <p:nvPicPr>
          <p:cNvPr id="12" name="Picture 11" descr="ezgif_com-animated-gif-maker.gif"/>
          <p:cNvPicPr>
            <a:picLocks noChangeAspect="1"/>
          </p:cNvPicPr>
          <p:nvPr/>
        </p:nvPicPr>
        <p:blipFill>
          <a:blip r:embed="rId5"/>
          <a:stretch>
            <a:fillRect/>
          </a:stretch>
        </p:blipFill>
        <p:spPr>
          <a:xfrm>
            <a:off x="6035040" y="45720"/>
            <a:ext cx="3017520" cy="50520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F0F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2286000" cy="777240"/>
          </a:xfrm>
          <a:prstGeom prst="rect">
            <a:avLst/>
          </a:prstGeom>
          <a:noFill/>
        </p:spPr>
        <p:txBody>
          <a:bodyPr wrap="none">
            <a:spAutoFit/>
          </a:bodyPr>
          <a:lstStyle/>
          <a:p>
            <a:pPr algn="l"/>
            <a:r>
              <a:rPr sz="4800" b="1">
                <a:solidFill>
                  <a:srgbClr val="C0C0C0"/>
                </a:solidFill>
                <a:latin typeface="Arial Black"/>
              </a:rPr>
              <a:t>#2</a:t>
            </a:r>
          </a:p>
        </p:txBody>
      </p:sp>
      <p:pic>
        <p:nvPicPr>
          <p:cNvPr id="4" name="Picture 3" descr="image.jpg"/>
          <p:cNvPicPr>
            <a:picLocks noChangeAspect="1"/>
          </p:cNvPicPr>
          <p:nvPr/>
        </p:nvPicPr>
        <p:blipFill>
          <a:blip r:embed="rId2"/>
          <a:stretch>
            <a:fillRect/>
          </a:stretch>
        </p:blipFill>
        <p:spPr>
          <a:xfrm>
            <a:off x="274320" y="868680"/>
            <a:ext cx="3474720" cy="1956816"/>
          </a:xfrm>
          <a:prstGeom prst="rect">
            <a:avLst/>
          </a:prstGeom>
        </p:spPr>
      </p:pic>
      <p:pic>
        <p:nvPicPr>
          <p:cNvPr id="5" name="Picture 4" descr="image.png"/>
          <p:cNvPicPr>
            <a:picLocks noChangeAspect="1"/>
          </p:cNvPicPr>
          <p:nvPr/>
        </p:nvPicPr>
        <p:blipFill>
          <a:blip r:embed="rId3"/>
          <a:stretch>
            <a:fillRect/>
          </a:stretch>
        </p:blipFill>
        <p:spPr>
          <a:xfrm>
            <a:off x="274320" y="2926080"/>
            <a:ext cx="914400" cy="914400"/>
          </a:xfrm>
          <a:prstGeom prst="rect">
            <a:avLst/>
          </a:prstGeom>
        </p:spPr>
      </p:pic>
      <p:sp>
        <p:nvSpPr>
          <p:cNvPr id="6" name="TextBox 5"/>
          <p:cNvSpPr txBox="1"/>
          <p:nvPr/>
        </p:nvSpPr>
        <p:spPr>
          <a:xfrm>
            <a:off x="1280160" y="3063240"/>
            <a:ext cx="2560320" cy="320040"/>
          </a:xfrm>
          <a:prstGeom prst="rect">
            <a:avLst/>
          </a:prstGeom>
          <a:noFill/>
        </p:spPr>
        <p:txBody>
          <a:bodyPr wrap="none">
            <a:spAutoFit/>
          </a:bodyPr>
          <a:lstStyle/>
          <a:p>
            <a:pPr algn="l"/>
            <a:r>
              <a:rPr sz="700" b="0">
                <a:solidFill>
                  <a:srgbClr val="AAAAAA"/>
                </a:solidFill>
                <a:latin typeface="Arial"/>
              </a:rPr>
              <a:t>https://www.youtube.com/watch?v=vSKMyQH7msk</a:t>
            </a:r>
          </a:p>
        </p:txBody>
      </p:sp>
      <p:sp>
        <p:nvSpPr>
          <p:cNvPr id="7" name="TextBox 6"/>
          <p:cNvSpPr txBox="1"/>
          <p:nvPr/>
        </p:nvSpPr>
        <p:spPr>
          <a:xfrm>
            <a:off x="3840480" y="777240"/>
            <a:ext cx="2103120" cy="1371600"/>
          </a:xfrm>
          <a:prstGeom prst="rect">
            <a:avLst/>
          </a:prstGeom>
          <a:noFill/>
        </p:spPr>
        <p:txBody>
          <a:bodyPr wrap="square">
            <a:spAutoFit/>
          </a:bodyPr>
          <a:lstStyle/>
          <a:p>
            <a:pPr algn="l"/>
            <a:r>
              <a:rPr sz="1300" b="1" u="sng">
                <a:solidFill>
                  <a:srgbClr val="FFFFFF"/>
                </a:solidFill>
                <a:latin typeface="Arial"/>
                <a:hlinkClick r:id="rId4"/>
              </a:rPr>
              <a:t>ドズル社 VS 超巨大ビンゴ！！【マイクラ】</a:t>
            </a:r>
          </a:p>
        </p:txBody>
      </p:sp>
      <p:sp>
        <p:nvSpPr>
          <p:cNvPr id="8" name="TextBox 7"/>
          <p:cNvSpPr txBox="1"/>
          <p:nvPr/>
        </p:nvSpPr>
        <p:spPr>
          <a:xfrm>
            <a:off x="3840480" y="2240280"/>
            <a:ext cx="2103120" cy="292608"/>
          </a:xfrm>
          <a:prstGeom prst="rect">
            <a:avLst/>
          </a:prstGeom>
          <a:noFill/>
        </p:spPr>
        <p:txBody>
          <a:bodyPr wrap="none">
            <a:spAutoFit/>
          </a:bodyPr>
          <a:lstStyle/>
          <a:p>
            <a:pPr algn="l"/>
            <a:r>
              <a:rPr sz="1000" b="0">
                <a:solidFill>
                  <a:srgbClr val="AAAAAA"/>
                </a:solidFill>
                <a:latin typeface="Arial"/>
              </a:rPr>
              <a:t>📺  ドズル社</a:t>
            </a:r>
          </a:p>
        </p:txBody>
      </p:sp>
      <p:sp>
        <p:nvSpPr>
          <p:cNvPr id="9" name="TextBox 8"/>
          <p:cNvSpPr txBox="1"/>
          <p:nvPr/>
        </p:nvSpPr>
        <p:spPr>
          <a:xfrm>
            <a:off x="3840480" y="2578608"/>
            <a:ext cx="2103120" cy="320040"/>
          </a:xfrm>
          <a:prstGeom prst="rect">
            <a:avLst/>
          </a:prstGeom>
          <a:noFill/>
        </p:spPr>
        <p:txBody>
          <a:bodyPr wrap="none">
            <a:spAutoFit/>
          </a:bodyPr>
          <a:lstStyle/>
          <a:p>
            <a:pPr algn="l"/>
            <a:r>
              <a:rPr sz="1000" b="1">
                <a:solidFill>
                  <a:srgbClr val="C0C0C0"/>
                </a:solidFill>
                <a:latin typeface="Arial"/>
              </a:rPr>
              <a:t>👁 365,780  👍 11,003  💬 550  📈+161.1%</a:t>
            </a:r>
          </a:p>
        </p:txBody>
      </p:sp>
      <p:sp>
        <p:nvSpPr>
          <p:cNvPr id="10" name="TextBox 9"/>
          <p:cNvSpPr txBox="1"/>
          <p:nvPr/>
        </p:nvSpPr>
        <p:spPr>
          <a:xfrm>
            <a:off x="3840480" y="2944368"/>
            <a:ext cx="2103120" cy="292608"/>
          </a:xfrm>
          <a:prstGeom prst="rect">
            <a:avLst/>
          </a:prstGeom>
          <a:noFill/>
        </p:spPr>
        <p:txBody>
          <a:bodyPr wrap="none">
            <a:spAutoFit/>
          </a:bodyPr>
          <a:lstStyle/>
          <a:p>
            <a:pPr algn="l"/>
            <a:r>
              <a:rPr sz="1000" b="0">
                <a:solidFill>
                  <a:srgbClr val="AAAAAA"/>
                </a:solidFill>
                <a:latin typeface="Arial"/>
              </a:rPr>
              <a:t>⏱ 53:59  ·  📅 公開12時間前</a:t>
            </a:r>
          </a:p>
        </p:txBody>
      </p:sp>
      <p:sp>
        <p:nvSpPr>
          <p:cNvPr id="11" name="TextBox 10"/>
          <p:cNvSpPr txBox="1"/>
          <p:nvPr/>
        </p:nvSpPr>
        <p:spPr>
          <a:xfrm>
            <a:off x="274320" y="3931920"/>
            <a:ext cx="5669280" cy="822960"/>
          </a:xfrm>
          <a:prstGeom prst="rect">
            <a:avLst/>
          </a:prstGeom>
          <a:noFill/>
        </p:spPr>
        <p:txBody>
          <a:bodyPr wrap="square">
            <a:spAutoFit/>
          </a:bodyPr>
          <a:lstStyle/>
          <a:p>
            <a:pPr algn="l"/>
            <a:r>
              <a:rPr sz="1000" b="0">
                <a:solidFill>
                  <a:srgbClr val="4EC9B0"/>
                </a:solidFill>
                <a:latin typeface="Arial"/>
              </a:rPr>
              <a:t>💡 公開12時間で急上昇入り！　10万再生突破の話題作　前日比+161.1%と急拡散中</a:t>
            </a:r>
          </a:p>
        </p:txBody>
      </p:sp>
      <p:pic>
        <p:nvPicPr>
          <p:cNvPr id="12" name="Picture 11" descr="ezgif_com-animated-gif-maker.gif"/>
          <p:cNvPicPr>
            <a:picLocks noChangeAspect="1"/>
          </p:cNvPicPr>
          <p:nvPr/>
        </p:nvPicPr>
        <p:blipFill>
          <a:blip r:embed="rId5"/>
          <a:stretch>
            <a:fillRect/>
          </a:stretch>
        </p:blipFill>
        <p:spPr>
          <a:xfrm>
            <a:off x="6035040" y="45720"/>
            <a:ext cx="3017520" cy="50520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8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109728"/>
          </a:xfrm>
          <a:prstGeom prst="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00"/>
            <a:ext cx="9144000" cy="109728"/>
          </a:xfrm>
          <a:prstGeom prst="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109728"/>
            <a:ext cx="9144000" cy="868680"/>
          </a:xfrm>
          <a:prstGeom prst="rect">
            <a:avLst/>
          </a:prstGeom>
          <a:noFill/>
        </p:spPr>
        <p:txBody>
          <a:bodyPr wrap="none">
            <a:spAutoFit/>
          </a:bodyPr>
          <a:lstStyle/>
          <a:p>
            <a:pPr algn="ctr"/>
            <a:r>
              <a:rPr sz="3600" b="1">
                <a:solidFill>
                  <a:srgbClr val="FFD700"/>
                </a:solidFill>
                <a:latin typeface="Arial Black"/>
              </a:rPr>
              <a:t>🏆  NO. 1  🏆</a:t>
            </a:r>
          </a:p>
        </p:txBody>
      </p:sp>
      <p:pic>
        <p:nvPicPr>
          <p:cNvPr id="6" name="Picture 5" descr="image.jpg"/>
          <p:cNvPicPr>
            <a:picLocks noChangeAspect="1"/>
          </p:cNvPicPr>
          <p:nvPr/>
        </p:nvPicPr>
        <p:blipFill>
          <a:blip r:embed="rId2"/>
          <a:stretch>
            <a:fillRect/>
          </a:stretch>
        </p:blipFill>
        <p:spPr>
          <a:xfrm>
            <a:off x="2286000" y="1024128"/>
            <a:ext cx="4572000" cy="2569464"/>
          </a:xfrm>
          <a:prstGeom prst="rect">
            <a:avLst/>
          </a:prstGeom>
        </p:spPr>
      </p:pic>
      <p:pic>
        <p:nvPicPr>
          <p:cNvPr id="7" name="Picture 6" descr="image.png"/>
          <p:cNvPicPr>
            <a:picLocks noChangeAspect="1"/>
          </p:cNvPicPr>
          <p:nvPr/>
        </p:nvPicPr>
        <p:blipFill>
          <a:blip r:embed="rId3"/>
          <a:stretch>
            <a:fillRect/>
          </a:stretch>
        </p:blipFill>
        <p:spPr>
          <a:xfrm>
            <a:off x="91440" y="3639312"/>
            <a:ext cx="1005840" cy="1005840"/>
          </a:xfrm>
          <a:prstGeom prst="rect">
            <a:avLst/>
          </a:prstGeom>
        </p:spPr>
      </p:pic>
      <p:sp>
        <p:nvSpPr>
          <p:cNvPr id="8" name="TextBox 7"/>
          <p:cNvSpPr txBox="1"/>
          <p:nvPr/>
        </p:nvSpPr>
        <p:spPr>
          <a:xfrm>
            <a:off x="274320" y="3657600"/>
            <a:ext cx="7406640" cy="457200"/>
          </a:xfrm>
          <a:prstGeom prst="rect">
            <a:avLst/>
          </a:prstGeom>
          <a:noFill/>
        </p:spPr>
        <p:txBody>
          <a:bodyPr wrap="square">
            <a:spAutoFit/>
          </a:bodyPr>
          <a:lstStyle/>
          <a:p>
            <a:pPr algn="ctr"/>
            <a:r>
              <a:rPr sz="1400" b="1" u="sng">
                <a:solidFill>
                  <a:srgbClr val="FFFFFF"/>
                </a:solidFill>
                <a:latin typeface="Arial"/>
                <a:hlinkClick r:id="rId4"/>
              </a:rPr>
              <a:t>【歌ってみた】おしゃかしゃま/星導ショウ</a:t>
            </a:r>
          </a:p>
        </p:txBody>
      </p:sp>
      <p:sp>
        <p:nvSpPr>
          <p:cNvPr id="9" name="TextBox 8"/>
          <p:cNvSpPr txBox="1"/>
          <p:nvPr/>
        </p:nvSpPr>
        <p:spPr>
          <a:xfrm>
            <a:off x="274320" y="4160520"/>
            <a:ext cx="7406640" cy="292608"/>
          </a:xfrm>
          <a:prstGeom prst="rect">
            <a:avLst/>
          </a:prstGeom>
          <a:noFill/>
        </p:spPr>
        <p:txBody>
          <a:bodyPr wrap="none">
            <a:spAutoFit/>
          </a:bodyPr>
          <a:lstStyle/>
          <a:p>
            <a:pPr algn="ctr"/>
            <a:r>
              <a:rPr sz="1100" b="0">
                <a:solidFill>
                  <a:srgbClr val="FFD700"/>
                </a:solidFill>
                <a:latin typeface="Arial"/>
              </a:rPr>
              <a:t>👁 308,729  👍 46,275  💬 1,624  ⏱ 3:51  📅 公開9時間前</a:t>
            </a:r>
          </a:p>
        </p:txBody>
      </p:sp>
      <p:sp>
        <p:nvSpPr>
          <p:cNvPr id="10" name="TextBox 9"/>
          <p:cNvSpPr txBox="1"/>
          <p:nvPr/>
        </p:nvSpPr>
        <p:spPr>
          <a:xfrm>
            <a:off x="274320" y="4498848"/>
            <a:ext cx="7406640" cy="292608"/>
          </a:xfrm>
          <a:prstGeom prst="rect">
            <a:avLst/>
          </a:prstGeom>
          <a:noFill/>
        </p:spPr>
        <p:txBody>
          <a:bodyPr wrap="square">
            <a:spAutoFit/>
          </a:bodyPr>
          <a:lstStyle/>
          <a:p>
            <a:pPr algn="ctr"/>
            <a:r>
              <a:rPr sz="1000" b="0">
                <a:solidFill>
                  <a:srgbClr val="4EC9B0"/>
                </a:solidFill>
                <a:latin typeface="Arial"/>
              </a:rPr>
              <a:t>💡 公開9時間で急上昇入り！　10万再生突破の話題作　前日比+848.3%の爆発的な伸び</a:t>
            </a:r>
          </a:p>
        </p:txBody>
      </p:sp>
      <p:sp>
        <p:nvSpPr>
          <p:cNvPr id="11" name="TextBox 10"/>
          <p:cNvSpPr txBox="1"/>
          <p:nvPr/>
        </p:nvSpPr>
        <p:spPr>
          <a:xfrm>
            <a:off x="274320" y="4828032"/>
            <a:ext cx="7406640" cy="228600"/>
          </a:xfrm>
          <a:prstGeom prst="rect">
            <a:avLst/>
          </a:prstGeom>
          <a:noFill/>
        </p:spPr>
        <p:txBody>
          <a:bodyPr wrap="none">
            <a:spAutoFit/>
          </a:bodyPr>
          <a:lstStyle/>
          <a:p>
            <a:pPr algn="ctr"/>
            <a:r>
              <a:rPr sz="700" b="0">
                <a:solidFill>
                  <a:srgbClr val="AAAAAA"/>
                </a:solidFill>
                <a:latin typeface="Arial"/>
              </a:rPr>
              <a:t>https://www.youtube.com/watch?v=zDLyAvDHKD8</a:t>
            </a:r>
          </a:p>
        </p:txBody>
      </p:sp>
      <p:pic>
        <p:nvPicPr>
          <p:cNvPr id="12" name="Picture 11" descr="ezgif_com-animated-gif-maker.gif"/>
          <p:cNvPicPr>
            <a:picLocks noChangeAspect="1"/>
          </p:cNvPicPr>
          <p:nvPr/>
        </p:nvPicPr>
        <p:blipFill>
          <a:blip r:embed="rId5"/>
          <a:stretch>
            <a:fillRect/>
          </a:stretch>
        </p:blipFill>
        <p:spPr>
          <a:xfrm>
            <a:off x="6035040" y="45720"/>
            <a:ext cx="3017520" cy="50520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F0F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8229600" cy="502920"/>
          </a:xfrm>
          <a:prstGeom prst="rect">
            <a:avLst/>
          </a:prstGeom>
          <a:noFill/>
        </p:spPr>
        <p:txBody>
          <a:bodyPr wrap="none">
            <a:spAutoFit/>
          </a:bodyPr>
          <a:lstStyle/>
          <a:p>
            <a:pPr algn="l"/>
            <a:r>
              <a:rPr sz="2200" b="1">
                <a:solidFill>
                  <a:srgbClr val="FFFFFF"/>
                </a:solidFill>
                <a:latin typeface="Arial Black"/>
              </a:rPr>
              <a:t>🎬 エンタメ 人気動画 TOP 5</a:t>
            </a:r>
          </a:p>
        </p:txBody>
      </p:sp>
      <p:sp>
        <p:nvSpPr>
          <p:cNvPr id="4" name="Rectangle 3"/>
          <p:cNvSpPr/>
          <p:nvPr/>
        </p:nvSpPr>
        <p:spPr>
          <a:xfrm>
            <a:off x="274320" y="749808"/>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2"/>
          <a:stretch>
            <a:fillRect/>
          </a:stretch>
        </p:blipFill>
        <p:spPr>
          <a:xfrm>
            <a:off x="320040" y="749808"/>
            <a:ext cx="1737360" cy="978408"/>
          </a:xfrm>
          <a:prstGeom prst="rect">
            <a:avLst/>
          </a:prstGeom>
        </p:spPr>
      </p:pic>
      <p:sp>
        <p:nvSpPr>
          <p:cNvPr id="6" name="TextBox 5"/>
          <p:cNvSpPr txBox="1"/>
          <p:nvPr/>
        </p:nvSpPr>
        <p:spPr>
          <a:xfrm>
            <a:off x="2194560" y="786384"/>
            <a:ext cx="548640" cy="365760"/>
          </a:xfrm>
          <a:prstGeom prst="rect">
            <a:avLst/>
          </a:prstGeom>
          <a:noFill/>
        </p:spPr>
        <p:txBody>
          <a:bodyPr wrap="none">
            <a:spAutoFit/>
          </a:bodyPr>
          <a:lstStyle/>
          <a:p>
            <a:pPr algn="l"/>
            <a:r>
              <a:rPr sz="1500" b="1">
                <a:solidFill>
                  <a:srgbClr val="FFD700"/>
                </a:solidFill>
                <a:latin typeface="Arial Black"/>
              </a:rPr>
              <a:t>#1</a:t>
            </a:r>
          </a:p>
        </p:txBody>
      </p:sp>
      <p:sp>
        <p:nvSpPr>
          <p:cNvPr id="7" name="TextBox 6"/>
          <p:cNvSpPr txBox="1"/>
          <p:nvPr/>
        </p:nvSpPr>
        <p:spPr>
          <a:xfrm>
            <a:off x="2697480" y="786384"/>
            <a:ext cx="5212080" cy="347472"/>
          </a:xfrm>
          <a:prstGeom prst="rect">
            <a:avLst/>
          </a:prstGeom>
          <a:noFill/>
        </p:spPr>
        <p:txBody>
          <a:bodyPr wrap="square">
            <a:spAutoFit/>
          </a:bodyPr>
          <a:lstStyle/>
          <a:p>
            <a:pPr algn="l"/>
            <a:r>
              <a:rPr sz="1200" b="1" u="sng">
                <a:solidFill>
                  <a:srgbClr val="FFFFFF"/>
                </a:solidFill>
                <a:latin typeface="Arial"/>
                <a:hlinkClick r:id="rId3"/>
              </a:rPr>
              <a:t>いや勝つんかいw　 #おもしろ #エンタメ #ネタ #バズれ #shorts</a:t>
            </a:r>
          </a:p>
        </p:txBody>
      </p:sp>
      <p:pic>
        <p:nvPicPr>
          <p:cNvPr id="8" name="Picture 7" descr="image.png"/>
          <p:cNvPicPr>
            <a:picLocks noChangeAspect="1"/>
          </p:cNvPicPr>
          <p:nvPr/>
        </p:nvPicPr>
        <p:blipFill>
          <a:blip r:embed="rId4"/>
          <a:stretch>
            <a:fillRect/>
          </a:stretch>
        </p:blipFill>
        <p:spPr>
          <a:xfrm>
            <a:off x="8046720" y="804672"/>
            <a:ext cx="685800" cy="685800"/>
          </a:xfrm>
          <a:prstGeom prst="rect">
            <a:avLst/>
          </a:prstGeom>
        </p:spPr>
      </p:pic>
      <p:sp>
        <p:nvSpPr>
          <p:cNvPr id="9" name="TextBox 8"/>
          <p:cNvSpPr txBox="1"/>
          <p:nvPr/>
        </p:nvSpPr>
        <p:spPr>
          <a:xfrm>
            <a:off x="2697480" y="1207008"/>
            <a:ext cx="5212080" cy="292608"/>
          </a:xfrm>
          <a:prstGeom prst="rect">
            <a:avLst/>
          </a:prstGeom>
          <a:noFill/>
        </p:spPr>
        <p:txBody>
          <a:bodyPr wrap="none">
            <a:spAutoFit/>
          </a:bodyPr>
          <a:lstStyle/>
          <a:p>
            <a:pPr algn="l"/>
            <a:r>
              <a:rPr sz="1000" b="0">
                <a:solidFill>
                  <a:srgbClr val="AAAAAA"/>
                </a:solidFill>
                <a:latin typeface="Arial"/>
              </a:rPr>
              <a:t>📺 やっさん2  👁 19,151,805  👍 158,015  ⏱ 0:10  📅 2025-08-09</a:t>
            </a:r>
          </a:p>
        </p:txBody>
      </p:sp>
      <p:sp>
        <p:nvSpPr>
          <p:cNvPr id="10" name="TextBox 9"/>
          <p:cNvSpPr txBox="1"/>
          <p:nvPr/>
        </p:nvSpPr>
        <p:spPr>
          <a:xfrm>
            <a:off x="2697480" y="1389888"/>
            <a:ext cx="5212080" cy="201168"/>
          </a:xfrm>
          <a:prstGeom prst="rect">
            <a:avLst/>
          </a:prstGeom>
          <a:noFill/>
        </p:spPr>
        <p:txBody>
          <a:bodyPr wrap="none">
            <a:spAutoFit/>
          </a:bodyPr>
          <a:lstStyle/>
          <a:p>
            <a:pPr algn="l"/>
            <a:r>
              <a:rPr sz="700" b="0">
                <a:solidFill>
                  <a:srgbClr val="666666"/>
                </a:solidFill>
                <a:latin typeface="Arial"/>
              </a:rPr>
              <a:t>https://www.youtube.com/watch?v=fBQOV3jiST0</a:t>
            </a:r>
          </a:p>
        </p:txBody>
      </p:sp>
      <p:sp>
        <p:nvSpPr>
          <p:cNvPr id="11" name="Rectangle 10"/>
          <p:cNvSpPr/>
          <p:nvPr/>
        </p:nvSpPr>
        <p:spPr>
          <a:xfrm>
            <a:off x="274320" y="1627632"/>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jpg"/>
          <p:cNvPicPr>
            <a:picLocks noChangeAspect="1"/>
          </p:cNvPicPr>
          <p:nvPr/>
        </p:nvPicPr>
        <p:blipFill>
          <a:blip r:embed="rId5"/>
          <a:stretch>
            <a:fillRect/>
          </a:stretch>
        </p:blipFill>
        <p:spPr>
          <a:xfrm>
            <a:off x="320040" y="1627632"/>
            <a:ext cx="1737360" cy="978408"/>
          </a:xfrm>
          <a:prstGeom prst="rect">
            <a:avLst/>
          </a:prstGeom>
        </p:spPr>
      </p:pic>
      <p:sp>
        <p:nvSpPr>
          <p:cNvPr id="13" name="TextBox 12"/>
          <p:cNvSpPr txBox="1"/>
          <p:nvPr/>
        </p:nvSpPr>
        <p:spPr>
          <a:xfrm>
            <a:off x="2194560" y="1664208"/>
            <a:ext cx="548640" cy="365760"/>
          </a:xfrm>
          <a:prstGeom prst="rect">
            <a:avLst/>
          </a:prstGeom>
          <a:noFill/>
        </p:spPr>
        <p:txBody>
          <a:bodyPr wrap="none">
            <a:spAutoFit/>
          </a:bodyPr>
          <a:lstStyle/>
          <a:p>
            <a:pPr algn="l"/>
            <a:r>
              <a:rPr sz="1500" b="1">
                <a:solidFill>
                  <a:srgbClr val="C0C0C0"/>
                </a:solidFill>
                <a:latin typeface="Arial Black"/>
              </a:rPr>
              <a:t>#2</a:t>
            </a:r>
          </a:p>
        </p:txBody>
      </p:sp>
      <p:sp>
        <p:nvSpPr>
          <p:cNvPr id="14" name="TextBox 13"/>
          <p:cNvSpPr txBox="1"/>
          <p:nvPr/>
        </p:nvSpPr>
        <p:spPr>
          <a:xfrm>
            <a:off x="2697480" y="1664208"/>
            <a:ext cx="5212080" cy="347472"/>
          </a:xfrm>
          <a:prstGeom prst="rect">
            <a:avLst/>
          </a:prstGeom>
          <a:noFill/>
        </p:spPr>
        <p:txBody>
          <a:bodyPr wrap="square">
            <a:spAutoFit/>
          </a:bodyPr>
          <a:lstStyle/>
          <a:p>
            <a:pPr algn="l"/>
            <a:r>
              <a:rPr sz="1200" b="1" u="sng">
                <a:solidFill>
                  <a:srgbClr val="FFFFFF"/>
                </a:solidFill>
                <a:latin typeface="Arial"/>
                <a:hlinkClick r:id="rId6"/>
              </a:rPr>
              <a:t>無反応挑戦　w#おもしろ＃おもしろ動画＃エンタメ#お笑い#バラエティ#テレビ#バズれ…</a:t>
            </a:r>
          </a:p>
        </p:txBody>
      </p:sp>
      <p:pic>
        <p:nvPicPr>
          <p:cNvPr id="15" name="Picture 14" descr="image.png"/>
          <p:cNvPicPr>
            <a:picLocks noChangeAspect="1"/>
          </p:cNvPicPr>
          <p:nvPr/>
        </p:nvPicPr>
        <p:blipFill>
          <a:blip r:embed="rId7"/>
          <a:stretch>
            <a:fillRect/>
          </a:stretch>
        </p:blipFill>
        <p:spPr>
          <a:xfrm>
            <a:off x="8046720" y="1682496"/>
            <a:ext cx="685800" cy="685800"/>
          </a:xfrm>
          <a:prstGeom prst="rect">
            <a:avLst/>
          </a:prstGeom>
        </p:spPr>
      </p:pic>
      <p:sp>
        <p:nvSpPr>
          <p:cNvPr id="16" name="TextBox 15"/>
          <p:cNvSpPr txBox="1"/>
          <p:nvPr/>
        </p:nvSpPr>
        <p:spPr>
          <a:xfrm>
            <a:off x="2697480" y="2084832"/>
            <a:ext cx="5212080" cy="292608"/>
          </a:xfrm>
          <a:prstGeom prst="rect">
            <a:avLst/>
          </a:prstGeom>
          <a:noFill/>
        </p:spPr>
        <p:txBody>
          <a:bodyPr wrap="none">
            <a:spAutoFit/>
          </a:bodyPr>
          <a:lstStyle/>
          <a:p>
            <a:pPr algn="l"/>
            <a:r>
              <a:rPr sz="1000" b="0">
                <a:solidFill>
                  <a:srgbClr val="AAAAAA"/>
                </a:solidFill>
                <a:latin typeface="Arial"/>
              </a:rPr>
              <a:t>📺 ネタ秒  👁 14,609,723  👍 41,748  ⏱ 0:17  📅 2025-09-26</a:t>
            </a:r>
          </a:p>
        </p:txBody>
      </p:sp>
      <p:sp>
        <p:nvSpPr>
          <p:cNvPr id="17" name="TextBox 16"/>
          <p:cNvSpPr txBox="1"/>
          <p:nvPr/>
        </p:nvSpPr>
        <p:spPr>
          <a:xfrm>
            <a:off x="2697480" y="2267712"/>
            <a:ext cx="5212080" cy="201168"/>
          </a:xfrm>
          <a:prstGeom prst="rect">
            <a:avLst/>
          </a:prstGeom>
          <a:noFill/>
        </p:spPr>
        <p:txBody>
          <a:bodyPr wrap="none">
            <a:spAutoFit/>
          </a:bodyPr>
          <a:lstStyle/>
          <a:p>
            <a:pPr algn="l"/>
            <a:r>
              <a:rPr sz="700" b="0">
                <a:solidFill>
                  <a:srgbClr val="666666"/>
                </a:solidFill>
                <a:latin typeface="Arial"/>
              </a:rPr>
              <a:t>https://www.youtube.com/watch?v=9nXbYZL8V9E</a:t>
            </a:r>
          </a:p>
        </p:txBody>
      </p:sp>
      <p:sp>
        <p:nvSpPr>
          <p:cNvPr id="18" name="Rectangle 17"/>
          <p:cNvSpPr/>
          <p:nvPr/>
        </p:nvSpPr>
        <p:spPr>
          <a:xfrm>
            <a:off x="274320" y="2505456"/>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jpg"/>
          <p:cNvPicPr>
            <a:picLocks noChangeAspect="1"/>
          </p:cNvPicPr>
          <p:nvPr/>
        </p:nvPicPr>
        <p:blipFill>
          <a:blip r:embed="rId8"/>
          <a:stretch>
            <a:fillRect/>
          </a:stretch>
        </p:blipFill>
        <p:spPr>
          <a:xfrm>
            <a:off x="320040" y="2505456"/>
            <a:ext cx="1737360" cy="978408"/>
          </a:xfrm>
          <a:prstGeom prst="rect">
            <a:avLst/>
          </a:prstGeom>
        </p:spPr>
      </p:pic>
      <p:sp>
        <p:nvSpPr>
          <p:cNvPr id="20" name="TextBox 19"/>
          <p:cNvSpPr txBox="1"/>
          <p:nvPr/>
        </p:nvSpPr>
        <p:spPr>
          <a:xfrm>
            <a:off x="2194560" y="2542032"/>
            <a:ext cx="548640" cy="365760"/>
          </a:xfrm>
          <a:prstGeom prst="rect">
            <a:avLst/>
          </a:prstGeom>
          <a:noFill/>
        </p:spPr>
        <p:txBody>
          <a:bodyPr wrap="none">
            <a:spAutoFit/>
          </a:bodyPr>
          <a:lstStyle/>
          <a:p>
            <a:pPr algn="l"/>
            <a:r>
              <a:rPr sz="1500" b="1">
                <a:solidFill>
                  <a:srgbClr val="CD7F32"/>
                </a:solidFill>
                <a:latin typeface="Arial Black"/>
              </a:rPr>
              <a:t>#3</a:t>
            </a:r>
          </a:p>
        </p:txBody>
      </p:sp>
      <p:sp>
        <p:nvSpPr>
          <p:cNvPr id="21" name="TextBox 20"/>
          <p:cNvSpPr txBox="1"/>
          <p:nvPr/>
        </p:nvSpPr>
        <p:spPr>
          <a:xfrm>
            <a:off x="2697480" y="2542032"/>
            <a:ext cx="5212080" cy="347472"/>
          </a:xfrm>
          <a:prstGeom prst="rect">
            <a:avLst/>
          </a:prstGeom>
          <a:noFill/>
        </p:spPr>
        <p:txBody>
          <a:bodyPr wrap="square">
            <a:spAutoFit/>
          </a:bodyPr>
          <a:lstStyle/>
          <a:p>
            <a:pPr algn="l"/>
            <a:r>
              <a:rPr sz="1200" b="1" u="sng">
                <a:solidFill>
                  <a:srgbClr val="FFFFFF"/>
                </a:solidFill>
                <a:latin typeface="Arial"/>
                <a:hlinkClick r:id="rId9"/>
              </a:rPr>
              <a:t>クビの真相は？【GOKKO】【ごっこ倶楽部】【企業研究】【エンタメ業界】【IT業界】…</a:t>
            </a:r>
          </a:p>
        </p:txBody>
      </p:sp>
      <p:pic>
        <p:nvPicPr>
          <p:cNvPr id="22" name="Picture 21" descr="image.png"/>
          <p:cNvPicPr>
            <a:picLocks noChangeAspect="1"/>
          </p:cNvPicPr>
          <p:nvPr/>
        </p:nvPicPr>
        <p:blipFill>
          <a:blip r:embed="rId10"/>
          <a:stretch>
            <a:fillRect/>
          </a:stretch>
        </p:blipFill>
        <p:spPr>
          <a:xfrm>
            <a:off x="8046720" y="2560320"/>
            <a:ext cx="685800" cy="685800"/>
          </a:xfrm>
          <a:prstGeom prst="rect">
            <a:avLst/>
          </a:prstGeom>
        </p:spPr>
      </p:pic>
      <p:sp>
        <p:nvSpPr>
          <p:cNvPr id="23" name="TextBox 22"/>
          <p:cNvSpPr txBox="1"/>
          <p:nvPr/>
        </p:nvSpPr>
        <p:spPr>
          <a:xfrm>
            <a:off x="2697480" y="2962656"/>
            <a:ext cx="5212080" cy="292608"/>
          </a:xfrm>
          <a:prstGeom prst="rect">
            <a:avLst/>
          </a:prstGeom>
          <a:noFill/>
        </p:spPr>
        <p:txBody>
          <a:bodyPr wrap="none">
            <a:spAutoFit/>
          </a:bodyPr>
          <a:lstStyle/>
          <a:p>
            <a:pPr algn="l"/>
            <a:r>
              <a:rPr sz="1000" b="0">
                <a:solidFill>
                  <a:srgbClr val="AAAAAA"/>
                </a:solidFill>
                <a:latin typeface="Arial"/>
              </a:rPr>
              <a:t>📺 ごっこ倶楽部のウラ垢 - STUDIO GOKKO -  👁 12,781,597  👍 170,508  ⏱ 1:28  📅 2025-04-14</a:t>
            </a:r>
          </a:p>
        </p:txBody>
      </p:sp>
      <p:sp>
        <p:nvSpPr>
          <p:cNvPr id="24" name="TextBox 23"/>
          <p:cNvSpPr txBox="1"/>
          <p:nvPr/>
        </p:nvSpPr>
        <p:spPr>
          <a:xfrm>
            <a:off x="2697480" y="3145536"/>
            <a:ext cx="5212080" cy="201168"/>
          </a:xfrm>
          <a:prstGeom prst="rect">
            <a:avLst/>
          </a:prstGeom>
          <a:noFill/>
        </p:spPr>
        <p:txBody>
          <a:bodyPr wrap="none">
            <a:spAutoFit/>
          </a:bodyPr>
          <a:lstStyle/>
          <a:p>
            <a:pPr algn="l"/>
            <a:r>
              <a:rPr sz="700" b="0">
                <a:solidFill>
                  <a:srgbClr val="666666"/>
                </a:solidFill>
                <a:latin typeface="Arial"/>
              </a:rPr>
              <a:t>https://www.youtube.com/watch?v=i5TSvrhVH94</a:t>
            </a:r>
          </a:p>
        </p:txBody>
      </p:sp>
      <p:sp>
        <p:nvSpPr>
          <p:cNvPr id="25" name="Rectangle 24"/>
          <p:cNvSpPr/>
          <p:nvPr/>
        </p:nvSpPr>
        <p:spPr>
          <a:xfrm>
            <a:off x="274320" y="3383280"/>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jpg"/>
          <p:cNvPicPr>
            <a:picLocks noChangeAspect="1"/>
          </p:cNvPicPr>
          <p:nvPr/>
        </p:nvPicPr>
        <p:blipFill>
          <a:blip r:embed="rId11"/>
          <a:stretch>
            <a:fillRect/>
          </a:stretch>
        </p:blipFill>
        <p:spPr>
          <a:xfrm>
            <a:off x="320040" y="3383280"/>
            <a:ext cx="1737360" cy="978408"/>
          </a:xfrm>
          <a:prstGeom prst="rect">
            <a:avLst/>
          </a:prstGeom>
        </p:spPr>
      </p:pic>
      <p:sp>
        <p:nvSpPr>
          <p:cNvPr id="27" name="TextBox 26"/>
          <p:cNvSpPr txBox="1"/>
          <p:nvPr/>
        </p:nvSpPr>
        <p:spPr>
          <a:xfrm>
            <a:off x="2194560" y="3419856"/>
            <a:ext cx="548640" cy="365760"/>
          </a:xfrm>
          <a:prstGeom prst="rect">
            <a:avLst/>
          </a:prstGeom>
          <a:noFill/>
        </p:spPr>
        <p:txBody>
          <a:bodyPr wrap="none">
            <a:spAutoFit/>
          </a:bodyPr>
          <a:lstStyle/>
          <a:p>
            <a:pPr algn="l"/>
            <a:r>
              <a:rPr sz="1500" b="1">
                <a:solidFill>
                  <a:srgbClr val="AAAAAA"/>
                </a:solidFill>
                <a:latin typeface="Arial Black"/>
              </a:rPr>
              <a:t>#4</a:t>
            </a:r>
          </a:p>
        </p:txBody>
      </p:sp>
      <p:sp>
        <p:nvSpPr>
          <p:cNvPr id="28" name="TextBox 27"/>
          <p:cNvSpPr txBox="1"/>
          <p:nvPr/>
        </p:nvSpPr>
        <p:spPr>
          <a:xfrm>
            <a:off x="2697480" y="3419856"/>
            <a:ext cx="5212080" cy="347472"/>
          </a:xfrm>
          <a:prstGeom prst="rect">
            <a:avLst/>
          </a:prstGeom>
          <a:noFill/>
        </p:spPr>
        <p:txBody>
          <a:bodyPr wrap="square">
            <a:spAutoFit/>
          </a:bodyPr>
          <a:lstStyle/>
          <a:p>
            <a:pPr algn="l"/>
            <a:r>
              <a:rPr sz="1200" b="1" u="sng">
                <a:solidFill>
                  <a:srgbClr val="FFFFFF"/>
                </a:solidFill>
                <a:latin typeface="Arial"/>
                <a:hlinkClick r:id="rId12"/>
              </a:rPr>
              <a:t>狩野英孝のマイクラ実況が面白いwww#エンタメ #マイクラ #狩野英孝</a:t>
            </a:r>
          </a:p>
        </p:txBody>
      </p:sp>
      <p:pic>
        <p:nvPicPr>
          <p:cNvPr id="29" name="Picture 28" descr="image.png"/>
          <p:cNvPicPr>
            <a:picLocks noChangeAspect="1"/>
          </p:cNvPicPr>
          <p:nvPr/>
        </p:nvPicPr>
        <p:blipFill>
          <a:blip r:embed="rId13"/>
          <a:stretch>
            <a:fillRect/>
          </a:stretch>
        </p:blipFill>
        <p:spPr>
          <a:xfrm>
            <a:off x="8046720" y="3438144"/>
            <a:ext cx="685800" cy="685800"/>
          </a:xfrm>
          <a:prstGeom prst="rect">
            <a:avLst/>
          </a:prstGeom>
        </p:spPr>
      </p:pic>
      <p:sp>
        <p:nvSpPr>
          <p:cNvPr id="30" name="TextBox 29"/>
          <p:cNvSpPr txBox="1"/>
          <p:nvPr/>
        </p:nvSpPr>
        <p:spPr>
          <a:xfrm>
            <a:off x="2697480" y="3840480"/>
            <a:ext cx="5212080" cy="292608"/>
          </a:xfrm>
          <a:prstGeom prst="rect">
            <a:avLst/>
          </a:prstGeom>
          <a:noFill/>
        </p:spPr>
        <p:txBody>
          <a:bodyPr wrap="none">
            <a:spAutoFit/>
          </a:bodyPr>
          <a:lstStyle/>
          <a:p>
            <a:pPr algn="l"/>
            <a:r>
              <a:rPr sz="1000" b="0">
                <a:solidFill>
                  <a:srgbClr val="AAAAAA"/>
                </a:solidFill>
                <a:latin typeface="Arial"/>
              </a:rPr>
              <a:t>📺 はるえもん  👁 11,725,348  👍 185,893  ⏱ 1:33  📅 2025-07-05</a:t>
            </a:r>
          </a:p>
        </p:txBody>
      </p:sp>
      <p:sp>
        <p:nvSpPr>
          <p:cNvPr id="31" name="TextBox 30"/>
          <p:cNvSpPr txBox="1"/>
          <p:nvPr/>
        </p:nvSpPr>
        <p:spPr>
          <a:xfrm>
            <a:off x="2697480" y="4023360"/>
            <a:ext cx="5212080" cy="201168"/>
          </a:xfrm>
          <a:prstGeom prst="rect">
            <a:avLst/>
          </a:prstGeom>
          <a:noFill/>
        </p:spPr>
        <p:txBody>
          <a:bodyPr wrap="none">
            <a:spAutoFit/>
          </a:bodyPr>
          <a:lstStyle/>
          <a:p>
            <a:pPr algn="l"/>
            <a:r>
              <a:rPr sz="700" b="0">
                <a:solidFill>
                  <a:srgbClr val="666666"/>
                </a:solidFill>
                <a:latin typeface="Arial"/>
              </a:rPr>
              <a:t>https://www.youtube.com/watch?v=21eblauBPy8</a:t>
            </a:r>
          </a:p>
        </p:txBody>
      </p:sp>
      <p:sp>
        <p:nvSpPr>
          <p:cNvPr id="32" name="Rectangle 31"/>
          <p:cNvSpPr/>
          <p:nvPr/>
        </p:nvSpPr>
        <p:spPr>
          <a:xfrm>
            <a:off x="274320" y="4261104"/>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mage.jpg"/>
          <p:cNvPicPr>
            <a:picLocks noChangeAspect="1"/>
          </p:cNvPicPr>
          <p:nvPr/>
        </p:nvPicPr>
        <p:blipFill>
          <a:blip r:embed="rId14"/>
          <a:stretch>
            <a:fillRect/>
          </a:stretch>
        </p:blipFill>
        <p:spPr>
          <a:xfrm>
            <a:off x="320040" y="4261104"/>
            <a:ext cx="1737360" cy="978408"/>
          </a:xfrm>
          <a:prstGeom prst="rect">
            <a:avLst/>
          </a:prstGeom>
        </p:spPr>
      </p:pic>
      <p:sp>
        <p:nvSpPr>
          <p:cNvPr id="34" name="TextBox 33"/>
          <p:cNvSpPr txBox="1"/>
          <p:nvPr/>
        </p:nvSpPr>
        <p:spPr>
          <a:xfrm>
            <a:off x="2194560" y="4297680"/>
            <a:ext cx="548640" cy="365760"/>
          </a:xfrm>
          <a:prstGeom prst="rect">
            <a:avLst/>
          </a:prstGeom>
          <a:noFill/>
        </p:spPr>
        <p:txBody>
          <a:bodyPr wrap="none">
            <a:spAutoFit/>
          </a:bodyPr>
          <a:lstStyle/>
          <a:p>
            <a:pPr algn="l"/>
            <a:r>
              <a:rPr sz="1500" b="1">
                <a:solidFill>
                  <a:srgbClr val="AAAAAA"/>
                </a:solidFill>
                <a:latin typeface="Arial Black"/>
              </a:rPr>
              <a:t>#5</a:t>
            </a:r>
          </a:p>
        </p:txBody>
      </p:sp>
      <p:sp>
        <p:nvSpPr>
          <p:cNvPr id="35" name="TextBox 34"/>
          <p:cNvSpPr txBox="1"/>
          <p:nvPr/>
        </p:nvSpPr>
        <p:spPr>
          <a:xfrm>
            <a:off x="2697480" y="4297680"/>
            <a:ext cx="5212080" cy="347472"/>
          </a:xfrm>
          <a:prstGeom prst="rect">
            <a:avLst/>
          </a:prstGeom>
          <a:noFill/>
        </p:spPr>
        <p:txBody>
          <a:bodyPr wrap="square">
            <a:spAutoFit/>
          </a:bodyPr>
          <a:lstStyle/>
          <a:p>
            <a:pPr algn="l"/>
            <a:r>
              <a:rPr sz="1200" b="1" u="sng">
                <a:solidFill>
                  <a:srgbClr val="FFFFFF"/>
                </a:solidFill>
                <a:latin typeface="Arial"/>
                <a:hlinkClick r:id="rId15"/>
              </a:rPr>
              <a:t>ネプリーグ放送事故w #おもしろ #面白い #テレビ #エンタメ #お笑い #芸人 …</a:t>
            </a:r>
          </a:p>
        </p:txBody>
      </p:sp>
      <p:pic>
        <p:nvPicPr>
          <p:cNvPr id="36" name="Picture 35" descr="image.png"/>
          <p:cNvPicPr>
            <a:picLocks noChangeAspect="1"/>
          </p:cNvPicPr>
          <p:nvPr/>
        </p:nvPicPr>
        <p:blipFill>
          <a:blip r:embed="rId16"/>
          <a:stretch>
            <a:fillRect/>
          </a:stretch>
        </p:blipFill>
        <p:spPr>
          <a:xfrm>
            <a:off x="8046720" y="4315968"/>
            <a:ext cx="685800" cy="685800"/>
          </a:xfrm>
          <a:prstGeom prst="rect">
            <a:avLst/>
          </a:prstGeom>
        </p:spPr>
      </p:pic>
      <p:sp>
        <p:nvSpPr>
          <p:cNvPr id="37" name="TextBox 36"/>
          <p:cNvSpPr txBox="1"/>
          <p:nvPr/>
        </p:nvSpPr>
        <p:spPr>
          <a:xfrm>
            <a:off x="2697480" y="4718304"/>
            <a:ext cx="5212080" cy="292608"/>
          </a:xfrm>
          <a:prstGeom prst="rect">
            <a:avLst/>
          </a:prstGeom>
          <a:noFill/>
        </p:spPr>
        <p:txBody>
          <a:bodyPr wrap="none">
            <a:spAutoFit/>
          </a:bodyPr>
          <a:lstStyle/>
          <a:p>
            <a:pPr algn="l"/>
            <a:r>
              <a:rPr sz="1000" b="0">
                <a:solidFill>
                  <a:srgbClr val="AAAAAA"/>
                </a:solidFill>
                <a:latin typeface="Arial"/>
              </a:rPr>
              <a:t>📺 やっさん2  👁 11,507,565  👍 132,801  ⏱ 0:18  📅 2025-11-01</a:t>
            </a:r>
          </a:p>
        </p:txBody>
      </p:sp>
      <p:sp>
        <p:nvSpPr>
          <p:cNvPr id="38" name="TextBox 37"/>
          <p:cNvSpPr txBox="1"/>
          <p:nvPr/>
        </p:nvSpPr>
        <p:spPr>
          <a:xfrm>
            <a:off x="2697480" y="4901184"/>
            <a:ext cx="5212080" cy="201168"/>
          </a:xfrm>
          <a:prstGeom prst="rect">
            <a:avLst/>
          </a:prstGeom>
          <a:noFill/>
        </p:spPr>
        <p:txBody>
          <a:bodyPr wrap="none">
            <a:spAutoFit/>
          </a:bodyPr>
          <a:lstStyle/>
          <a:p>
            <a:pPr algn="l"/>
            <a:r>
              <a:rPr sz="700" b="0">
                <a:solidFill>
                  <a:srgbClr val="666666"/>
                </a:solidFill>
                <a:latin typeface="Arial"/>
              </a:rPr>
              <a:t>https://www.youtube.com/watch?v=fGaa5iluMIQ</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F0F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8229600" cy="502920"/>
          </a:xfrm>
          <a:prstGeom prst="rect">
            <a:avLst/>
          </a:prstGeom>
          <a:noFill/>
        </p:spPr>
        <p:txBody>
          <a:bodyPr wrap="none">
            <a:spAutoFit/>
          </a:bodyPr>
          <a:lstStyle/>
          <a:p>
            <a:pPr algn="l"/>
            <a:r>
              <a:rPr sz="2200" b="1">
                <a:solidFill>
                  <a:srgbClr val="FFFFFF"/>
                </a:solidFill>
                <a:latin typeface="Arial Black"/>
              </a:rPr>
              <a:t>🎮 ゲーム 人気動画 TOP 5</a:t>
            </a:r>
          </a:p>
        </p:txBody>
      </p:sp>
      <p:sp>
        <p:nvSpPr>
          <p:cNvPr id="4" name="Rectangle 3"/>
          <p:cNvSpPr/>
          <p:nvPr/>
        </p:nvSpPr>
        <p:spPr>
          <a:xfrm>
            <a:off x="274320" y="749808"/>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2"/>
          <a:stretch>
            <a:fillRect/>
          </a:stretch>
        </p:blipFill>
        <p:spPr>
          <a:xfrm>
            <a:off x="320040" y="749808"/>
            <a:ext cx="1737360" cy="978408"/>
          </a:xfrm>
          <a:prstGeom prst="rect">
            <a:avLst/>
          </a:prstGeom>
        </p:spPr>
      </p:pic>
      <p:sp>
        <p:nvSpPr>
          <p:cNvPr id="6" name="TextBox 5"/>
          <p:cNvSpPr txBox="1"/>
          <p:nvPr/>
        </p:nvSpPr>
        <p:spPr>
          <a:xfrm>
            <a:off x="2194560" y="786384"/>
            <a:ext cx="548640" cy="365760"/>
          </a:xfrm>
          <a:prstGeom prst="rect">
            <a:avLst/>
          </a:prstGeom>
          <a:noFill/>
        </p:spPr>
        <p:txBody>
          <a:bodyPr wrap="none">
            <a:spAutoFit/>
          </a:bodyPr>
          <a:lstStyle/>
          <a:p>
            <a:pPr algn="l"/>
            <a:r>
              <a:rPr sz="1500" b="1">
                <a:solidFill>
                  <a:srgbClr val="FFD700"/>
                </a:solidFill>
                <a:latin typeface="Arial Black"/>
              </a:rPr>
              <a:t>#1</a:t>
            </a:r>
          </a:p>
        </p:txBody>
      </p:sp>
      <p:sp>
        <p:nvSpPr>
          <p:cNvPr id="7" name="TextBox 6"/>
          <p:cNvSpPr txBox="1"/>
          <p:nvPr/>
        </p:nvSpPr>
        <p:spPr>
          <a:xfrm>
            <a:off x="2697480" y="786384"/>
            <a:ext cx="5212080" cy="347472"/>
          </a:xfrm>
          <a:prstGeom prst="rect">
            <a:avLst/>
          </a:prstGeom>
          <a:noFill/>
        </p:spPr>
        <p:txBody>
          <a:bodyPr wrap="square">
            <a:spAutoFit/>
          </a:bodyPr>
          <a:lstStyle/>
          <a:p>
            <a:pPr algn="l"/>
            <a:r>
              <a:rPr sz="1200" b="1" u="sng">
                <a:solidFill>
                  <a:srgbClr val="FFFFFF"/>
                </a:solidFill>
                <a:latin typeface="Arial"/>
                <a:hlinkClick r:id="rId3"/>
              </a:rPr>
              <a:t>感動のダブルスイカ‼️ #スイカゲーム #ゲーム実況 #サワヤンゲームズ</a:t>
            </a:r>
          </a:p>
        </p:txBody>
      </p:sp>
      <p:pic>
        <p:nvPicPr>
          <p:cNvPr id="8" name="Picture 7" descr="image.png"/>
          <p:cNvPicPr>
            <a:picLocks noChangeAspect="1"/>
          </p:cNvPicPr>
          <p:nvPr/>
        </p:nvPicPr>
        <p:blipFill>
          <a:blip r:embed="rId4"/>
          <a:stretch>
            <a:fillRect/>
          </a:stretch>
        </p:blipFill>
        <p:spPr>
          <a:xfrm>
            <a:off x="8046720" y="804672"/>
            <a:ext cx="685800" cy="685800"/>
          </a:xfrm>
          <a:prstGeom prst="rect">
            <a:avLst/>
          </a:prstGeom>
        </p:spPr>
      </p:pic>
      <p:sp>
        <p:nvSpPr>
          <p:cNvPr id="9" name="TextBox 8"/>
          <p:cNvSpPr txBox="1"/>
          <p:nvPr/>
        </p:nvSpPr>
        <p:spPr>
          <a:xfrm>
            <a:off x="2697480" y="1207008"/>
            <a:ext cx="5212080" cy="292608"/>
          </a:xfrm>
          <a:prstGeom prst="rect">
            <a:avLst/>
          </a:prstGeom>
          <a:noFill/>
        </p:spPr>
        <p:txBody>
          <a:bodyPr wrap="none">
            <a:spAutoFit/>
          </a:bodyPr>
          <a:lstStyle/>
          <a:p>
            <a:pPr algn="l"/>
            <a:r>
              <a:rPr sz="1000" b="0">
                <a:solidFill>
                  <a:srgbClr val="AAAAAA"/>
                </a:solidFill>
                <a:latin typeface="Arial"/>
              </a:rPr>
              <a:t>📺 にこみチャンネル  👁 20,449,683  👍 362,404  ⏱ 0:59  📅 2023-12-22</a:t>
            </a:r>
          </a:p>
        </p:txBody>
      </p:sp>
      <p:sp>
        <p:nvSpPr>
          <p:cNvPr id="10" name="TextBox 9"/>
          <p:cNvSpPr txBox="1"/>
          <p:nvPr/>
        </p:nvSpPr>
        <p:spPr>
          <a:xfrm>
            <a:off x="2697480" y="1389888"/>
            <a:ext cx="5212080" cy="201168"/>
          </a:xfrm>
          <a:prstGeom prst="rect">
            <a:avLst/>
          </a:prstGeom>
          <a:noFill/>
        </p:spPr>
        <p:txBody>
          <a:bodyPr wrap="none">
            <a:spAutoFit/>
          </a:bodyPr>
          <a:lstStyle/>
          <a:p>
            <a:pPr algn="l"/>
            <a:r>
              <a:rPr sz="700" b="0">
                <a:solidFill>
                  <a:srgbClr val="666666"/>
                </a:solidFill>
                <a:latin typeface="Arial"/>
              </a:rPr>
              <a:t>https://www.youtube.com/watch?v=mhCy0IgobIw</a:t>
            </a:r>
          </a:p>
        </p:txBody>
      </p:sp>
      <p:sp>
        <p:nvSpPr>
          <p:cNvPr id="11" name="Rectangle 10"/>
          <p:cNvSpPr/>
          <p:nvPr/>
        </p:nvSpPr>
        <p:spPr>
          <a:xfrm>
            <a:off x="274320" y="1627632"/>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jpg"/>
          <p:cNvPicPr>
            <a:picLocks noChangeAspect="1"/>
          </p:cNvPicPr>
          <p:nvPr/>
        </p:nvPicPr>
        <p:blipFill>
          <a:blip r:embed="rId5"/>
          <a:stretch>
            <a:fillRect/>
          </a:stretch>
        </p:blipFill>
        <p:spPr>
          <a:xfrm>
            <a:off x="320040" y="1627632"/>
            <a:ext cx="1737360" cy="978408"/>
          </a:xfrm>
          <a:prstGeom prst="rect">
            <a:avLst/>
          </a:prstGeom>
        </p:spPr>
      </p:pic>
      <p:sp>
        <p:nvSpPr>
          <p:cNvPr id="13" name="TextBox 12"/>
          <p:cNvSpPr txBox="1"/>
          <p:nvPr/>
        </p:nvSpPr>
        <p:spPr>
          <a:xfrm>
            <a:off x="2194560" y="1664208"/>
            <a:ext cx="548640" cy="365760"/>
          </a:xfrm>
          <a:prstGeom prst="rect">
            <a:avLst/>
          </a:prstGeom>
          <a:noFill/>
        </p:spPr>
        <p:txBody>
          <a:bodyPr wrap="none">
            <a:spAutoFit/>
          </a:bodyPr>
          <a:lstStyle/>
          <a:p>
            <a:pPr algn="l"/>
            <a:r>
              <a:rPr sz="1500" b="1">
                <a:solidFill>
                  <a:srgbClr val="C0C0C0"/>
                </a:solidFill>
                <a:latin typeface="Arial Black"/>
              </a:rPr>
              <a:t>#2</a:t>
            </a:r>
          </a:p>
        </p:txBody>
      </p:sp>
      <p:sp>
        <p:nvSpPr>
          <p:cNvPr id="14" name="TextBox 13"/>
          <p:cNvSpPr txBox="1"/>
          <p:nvPr/>
        </p:nvSpPr>
        <p:spPr>
          <a:xfrm>
            <a:off x="2697480" y="1664208"/>
            <a:ext cx="5212080" cy="347472"/>
          </a:xfrm>
          <a:prstGeom prst="rect">
            <a:avLst/>
          </a:prstGeom>
          <a:noFill/>
        </p:spPr>
        <p:txBody>
          <a:bodyPr wrap="square">
            <a:spAutoFit/>
          </a:bodyPr>
          <a:lstStyle/>
          <a:p>
            <a:pPr algn="l"/>
            <a:r>
              <a:rPr sz="1200" b="1" u="sng">
                <a:solidFill>
                  <a:srgbClr val="FFFFFF"/>
                </a:solidFill>
                <a:latin typeface="Arial"/>
                <a:hlinkClick r:id="rId6"/>
              </a:rPr>
              <a:t>見たことの無い落ち方をする配信者#葉 #ゲーム実況 #切り抜き #onlyup</a:t>
            </a:r>
          </a:p>
        </p:txBody>
      </p:sp>
      <p:pic>
        <p:nvPicPr>
          <p:cNvPr id="15" name="Picture 14" descr="image.png"/>
          <p:cNvPicPr>
            <a:picLocks noChangeAspect="1"/>
          </p:cNvPicPr>
          <p:nvPr/>
        </p:nvPicPr>
        <p:blipFill>
          <a:blip r:embed="rId7"/>
          <a:stretch>
            <a:fillRect/>
          </a:stretch>
        </p:blipFill>
        <p:spPr>
          <a:xfrm>
            <a:off x="8046720" y="1682496"/>
            <a:ext cx="685800" cy="685800"/>
          </a:xfrm>
          <a:prstGeom prst="rect">
            <a:avLst/>
          </a:prstGeom>
        </p:spPr>
      </p:pic>
      <p:sp>
        <p:nvSpPr>
          <p:cNvPr id="16" name="TextBox 15"/>
          <p:cNvSpPr txBox="1"/>
          <p:nvPr/>
        </p:nvSpPr>
        <p:spPr>
          <a:xfrm>
            <a:off x="2697480" y="2084832"/>
            <a:ext cx="5212080" cy="292608"/>
          </a:xfrm>
          <a:prstGeom prst="rect">
            <a:avLst/>
          </a:prstGeom>
          <a:noFill/>
        </p:spPr>
        <p:txBody>
          <a:bodyPr wrap="none">
            <a:spAutoFit/>
          </a:bodyPr>
          <a:lstStyle/>
          <a:p>
            <a:pPr algn="l"/>
            <a:r>
              <a:rPr sz="1000" b="0">
                <a:solidFill>
                  <a:srgbClr val="AAAAAA"/>
                </a:solidFill>
                <a:latin typeface="Arial"/>
              </a:rPr>
              <a:t>📺 葉ちゅべ  👁 20,075,172  👍 370,090  ⏱ 0:38  📅 2023-07-07</a:t>
            </a:r>
          </a:p>
        </p:txBody>
      </p:sp>
      <p:sp>
        <p:nvSpPr>
          <p:cNvPr id="17" name="TextBox 16"/>
          <p:cNvSpPr txBox="1"/>
          <p:nvPr/>
        </p:nvSpPr>
        <p:spPr>
          <a:xfrm>
            <a:off x="2697480" y="2267712"/>
            <a:ext cx="5212080" cy="201168"/>
          </a:xfrm>
          <a:prstGeom prst="rect">
            <a:avLst/>
          </a:prstGeom>
          <a:noFill/>
        </p:spPr>
        <p:txBody>
          <a:bodyPr wrap="none">
            <a:spAutoFit/>
          </a:bodyPr>
          <a:lstStyle/>
          <a:p>
            <a:pPr algn="l"/>
            <a:r>
              <a:rPr sz="700" b="0">
                <a:solidFill>
                  <a:srgbClr val="666666"/>
                </a:solidFill>
                <a:latin typeface="Arial"/>
              </a:rPr>
              <a:t>https://www.youtube.com/watch?v=0cjKg-Z3xak</a:t>
            </a:r>
          </a:p>
        </p:txBody>
      </p:sp>
      <p:sp>
        <p:nvSpPr>
          <p:cNvPr id="18" name="Rectangle 17"/>
          <p:cNvSpPr/>
          <p:nvPr/>
        </p:nvSpPr>
        <p:spPr>
          <a:xfrm>
            <a:off x="274320" y="2505456"/>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jpg"/>
          <p:cNvPicPr>
            <a:picLocks noChangeAspect="1"/>
          </p:cNvPicPr>
          <p:nvPr/>
        </p:nvPicPr>
        <p:blipFill>
          <a:blip r:embed="rId8"/>
          <a:stretch>
            <a:fillRect/>
          </a:stretch>
        </p:blipFill>
        <p:spPr>
          <a:xfrm>
            <a:off x="320040" y="2505456"/>
            <a:ext cx="1737360" cy="978408"/>
          </a:xfrm>
          <a:prstGeom prst="rect">
            <a:avLst/>
          </a:prstGeom>
        </p:spPr>
      </p:pic>
      <p:sp>
        <p:nvSpPr>
          <p:cNvPr id="20" name="TextBox 19"/>
          <p:cNvSpPr txBox="1"/>
          <p:nvPr/>
        </p:nvSpPr>
        <p:spPr>
          <a:xfrm>
            <a:off x="2194560" y="2542032"/>
            <a:ext cx="548640" cy="365760"/>
          </a:xfrm>
          <a:prstGeom prst="rect">
            <a:avLst/>
          </a:prstGeom>
          <a:noFill/>
        </p:spPr>
        <p:txBody>
          <a:bodyPr wrap="none">
            <a:spAutoFit/>
          </a:bodyPr>
          <a:lstStyle/>
          <a:p>
            <a:pPr algn="l"/>
            <a:r>
              <a:rPr sz="1500" b="1">
                <a:solidFill>
                  <a:srgbClr val="CD7F32"/>
                </a:solidFill>
                <a:latin typeface="Arial Black"/>
              </a:rPr>
              <a:t>#3</a:t>
            </a:r>
          </a:p>
        </p:txBody>
      </p:sp>
      <p:sp>
        <p:nvSpPr>
          <p:cNvPr id="21" name="TextBox 20"/>
          <p:cNvSpPr txBox="1"/>
          <p:nvPr/>
        </p:nvSpPr>
        <p:spPr>
          <a:xfrm>
            <a:off x="2697480" y="2542032"/>
            <a:ext cx="5212080" cy="347472"/>
          </a:xfrm>
          <a:prstGeom prst="rect">
            <a:avLst/>
          </a:prstGeom>
          <a:noFill/>
        </p:spPr>
        <p:txBody>
          <a:bodyPr wrap="square">
            <a:spAutoFit/>
          </a:bodyPr>
          <a:lstStyle/>
          <a:p>
            <a:pPr algn="l"/>
            <a:r>
              <a:rPr sz="1200" b="1" u="sng">
                <a:solidFill>
                  <a:srgbClr val="FFFFFF"/>
                </a:solidFill>
                <a:latin typeface="Arial"/>
                <a:hlinkClick r:id="rId9"/>
              </a:rPr>
              <a:t>全部ひっかかる人【しょぼんのアクション3D】 #ゲーム実況</a:t>
            </a:r>
          </a:p>
        </p:txBody>
      </p:sp>
      <p:pic>
        <p:nvPicPr>
          <p:cNvPr id="22" name="Picture 21" descr="image.png"/>
          <p:cNvPicPr>
            <a:picLocks noChangeAspect="1"/>
          </p:cNvPicPr>
          <p:nvPr/>
        </p:nvPicPr>
        <p:blipFill>
          <a:blip r:embed="rId10"/>
          <a:stretch>
            <a:fillRect/>
          </a:stretch>
        </p:blipFill>
        <p:spPr>
          <a:xfrm>
            <a:off x="8046720" y="2560320"/>
            <a:ext cx="685800" cy="685800"/>
          </a:xfrm>
          <a:prstGeom prst="rect">
            <a:avLst/>
          </a:prstGeom>
        </p:spPr>
      </p:pic>
      <p:sp>
        <p:nvSpPr>
          <p:cNvPr id="23" name="TextBox 22"/>
          <p:cNvSpPr txBox="1"/>
          <p:nvPr/>
        </p:nvSpPr>
        <p:spPr>
          <a:xfrm>
            <a:off x="2697480" y="2962656"/>
            <a:ext cx="5212080" cy="292608"/>
          </a:xfrm>
          <a:prstGeom prst="rect">
            <a:avLst/>
          </a:prstGeom>
          <a:noFill/>
        </p:spPr>
        <p:txBody>
          <a:bodyPr wrap="none">
            <a:spAutoFit/>
          </a:bodyPr>
          <a:lstStyle/>
          <a:p>
            <a:pPr algn="l"/>
            <a:r>
              <a:rPr sz="1000" b="0">
                <a:solidFill>
                  <a:srgbClr val="AAAAAA"/>
                </a:solidFill>
                <a:latin typeface="Arial"/>
              </a:rPr>
              <a:t>📺 タン  👁 19,801,582  👍 389,688  ⏱ 1:00  📅 2023-09-28</a:t>
            </a:r>
          </a:p>
        </p:txBody>
      </p:sp>
      <p:sp>
        <p:nvSpPr>
          <p:cNvPr id="24" name="TextBox 23"/>
          <p:cNvSpPr txBox="1"/>
          <p:nvPr/>
        </p:nvSpPr>
        <p:spPr>
          <a:xfrm>
            <a:off x="2697480" y="3145536"/>
            <a:ext cx="5212080" cy="201168"/>
          </a:xfrm>
          <a:prstGeom prst="rect">
            <a:avLst/>
          </a:prstGeom>
          <a:noFill/>
        </p:spPr>
        <p:txBody>
          <a:bodyPr wrap="none">
            <a:spAutoFit/>
          </a:bodyPr>
          <a:lstStyle/>
          <a:p>
            <a:pPr algn="l"/>
            <a:r>
              <a:rPr sz="700" b="0">
                <a:solidFill>
                  <a:srgbClr val="666666"/>
                </a:solidFill>
                <a:latin typeface="Arial"/>
              </a:rPr>
              <a:t>https://www.youtube.com/watch?v=XGbduoPa_-0</a:t>
            </a:r>
          </a:p>
        </p:txBody>
      </p:sp>
      <p:sp>
        <p:nvSpPr>
          <p:cNvPr id="25" name="Rectangle 24"/>
          <p:cNvSpPr/>
          <p:nvPr/>
        </p:nvSpPr>
        <p:spPr>
          <a:xfrm>
            <a:off x="274320" y="3383280"/>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jpg"/>
          <p:cNvPicPr>
            <a:picLocks noChangeAspect="1"/>
          </p:cNvPicPr>
          <p:nvPr/>
        </p:nvPicPr>
        <p:blipFill>
          <a:blip r:embed="rId11"/>
          <a:stretch>
            <a:fillRect/>
          </a:stretch>
        </p:blipFill>
        <p:spPr>
          <a:xfrm>
            <a:off x="320040" y="3383280"/>
            <a:ext cx="1737360" cy="978408"/>
          </a:xfrm>
          <a:prstGeom prst="rect">
            <a:avLst/>
          </a:prstGeom>
        </p:spPr>
      </p:pic>
      <p:sp>
        <p:nvSpPr>
          <p:cNvPr id="27" name="TextBox 26"/>
          <p:cNvSpPr txBox="1"/>
          <p:nvPr/>
        </p:nvSpPr>
        <p:spPr>
          <a:xfrm>
            <a:off x="2194560" y="3419856"/>
            <a:ext cx="548640" cy="365760"/>
          </a:xfrm>
          <a:prstGeom prst="rect">
            <a:avLst/>
          </a:prstGeom>
          <a:noFill/>
        </p:spPr>
        <p:txBody>
          <a:bodyPr wrap="none">
            <a:spAutoFit/>
          </a:bodyPr>
          <a:lstStyle/>
          <a:p>
            <a:pPr algn="l"/>
            <a:r>
              <a:rPr sz="1500" b="1">
                <a:solidFill>
                  <a:srgbClr val="AAAAAA"/>
                </a:solidFill>
                <a:latin typeface="Arial Black"/>
              </a:rPr>
              <a:t>#4</a:t>
            </a:r>
          </a:p>
        </p:txBody>
      </p:sp>
      <p:sp>
        <p:nvSpPr>
          <p:cNvPr id="28" name="TextBox 27"/>
          <p:cNvSpPr txBox="1"/>
          <p:nvPr/>
        </p:nvSpPr>
        <p:spPr>
          <a:xfrm>
            <a:off x="2697480" y="3419856"/>
            <a:ext cx="5212080" cy="347472"/>
          </a:xfrm>
          <a:prstGeom prst="rect">
            <a:avLst/>
          </a:prstGeom>
          <a:noFill/>
        </p:spPr>
        <p:txBody>
          <a:bodyPr wrap="square">
            <a:spAutoFit/>
          </a:bodyPr>
          <a:lstStyle/>
          <a:p>
            <a:pPr algn="l"/>
            <a:r>
              <a:rPr sz="1200" b="1" u="sng">
                <a:solidFill>
                  <a:srgbClr val="FFFFFF"/>
                </a:solidFill>
                <a:latin typeface="Arial"/>
                <a:hlinkClick r:id="rId12"/>
              </a:rPr>
              <a:t>自然に隠れた末路がww #shorts  #prophunt #かくれんぼ #cod</a:t>
            </a:r>
          </a:p>
        </p:txBody>
      </p:sp>
      <p:pic>
        <p:nvPicPr>
          <p:cNvPr id="29" name="Picture 28" descr="image.png"/>
          <p:cNvPicPr>
            <a:picLocks noChangeAspect="1"/>
          </p:cNvPicPr>
          <p:nvPr/>
        </p:nvPicPr>
        <p:blipFill>
          <a:blip r:embed="rId13"/>
          <a:stretch>
            <a:fillRect/>
          </a:stretch>
        </p:blipFill>
        <p:spPr>
          <a:xfrm>
            <a:off x="8046720" y="3438144"/>
            <a:ext cx="685800" cy="685800"/>
          </a:xfrm>
          <a:prstGeom prst="rect">
            <a:avLst/>
          </a:prstGeom>
        </p:spPr>
      </p:pic>
      <p:sp>
        <p:nvSpPr>
          <p:cNvPr id="30" name="TextBox 29"/>
          <p:cNvSpPr txBox="1"/>
          <p:nvPr/>
        </p:nvSpPr>
        <p:spPr>
          <a:xfrm>
            <a:off x="2697480" y="3840480"/>
            <a:ext cx="5212080" cy="292608"/>
          </a:xfrm>
          <a:prstGeom prst="rect">
            <a:avLst/>
          </a:prstGeom>
          <a:noFill/>
        </p:spPr>
        <p:txBody>
          <a:bodyPr wrap="none">
            <a:spAutoFit/>
          </a:bodyPr>
          <a:lstStyle/>
          <a:p>
            <a:pPr algn="l"/>
            <a:r>
              <a:rPr sz="1000" b="0">
                <a:solidFill>
                  <a:srgbClr val="AAAAAA"/>
                </a:solidFill>
                <a:latin typeface="Arial"/>
              </a:rPr>
              <a:t>📺 プン  👁 11,839,305  👍 157,739  ⏱ 1:00  📅 2024-10-30</a:t>
            </a:r>
          </a:p>
        </p:txBody>
      </p:sp>
      <p:sp>
        <p:nvSpPr>
          <p:cNvPr id="31" name="TextBox 30"/>
          <p:cNvSpPr txBox="1"/>
          <p:nvPr/>
        </p:nvSpPr>
        <p:spPr>
          <a:xfrm>
            <a:off x="2697480" y="4023360"/>
            <a:ext cx="5212080" cy="201168"/>
          </a:xfrm>
          <a:prstGeom prst="rect">
            <a:avLst/>
          </a:prstGeom>
          <a:noFill/>
        </p:spPr>
        <p:txBody>
          <a:bodyPr wrap="none">
            <a:spAutoFit/>
          </a:bodyPr>
          <a:lstStyle/>
          <a:p>
            <a:pPr algn="l"/>
            <a:r>
              <a:rPr sz="700" b="0">
                <a:solidFill>
                  <a:srgbClr val="666666"/>
                </a:solidFill>
                <a:latin typeface="Arial"/>
              </a:rPr>
              <a:t>https://www.youtube.com/watch?v=d9MAnruE_-c</a:t>
            </a:r>
          </a:p>
        </p:txBody>
      </p:sp>
      <p:sp>
        <p:nvSpPr>
          <p:cNvPr id="32" name="Rectangle 31"/>
          <p:cNvSpPr/>
          <p:nvPr/>
        </p:nvSpPr>
        <p:spPr>
          <a:xfrm>
            <a:off x="274320" y="4261104"/>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mage.jpg"/>
          <p:cNvPicPr>
            <a:picLocks noChangeAspect="1"/>
          </p:cNvPicPr>
          <p:nvPr/>
        </p:nvPicPr>
        <p:blipFill>
          <a:blip r:embed="rId14"/>
          <a:stretch>
            <a:fillRect/>
          </a:stretch>
        </p:blipFill>
        <p:spPr>
          <a:xfrm>
            <a:off x="320040" y="4261104"/>
            <a:ext cx="1737360" cy="978408"/>
          </a:xfrm>
          <a:prstGeom prst="rect">
            <a:avLst/>
          </a:prstGeom>
        </p:spPr>
      </p:pic>
      <p:sp>
        <p:nvSpPr>
          <p:cNvPr id="34" name="TextBox 33"/>
          <p:cNvSpPr txBox="1"/>
          <p:nvPr/>
        </p:nvSpPr>
        <p:spPr>
          <a:xfrm>
            <a:off x="2194560" y="4297680"/>
            <a:ext cx="548640" cy="365760"/>
          </a:xfrm>
          <a:prstGeom prst="rect">
            <a:avLst/>
          </a:prstGeom>
          <a:noFill/>
        </p:spPr>
        <p:txBody>
          <a:bodyPr wrap="none">
            <a:spAutoFit/>
          </a:bodyPr>
          <a:lstStyle/>
          <a:p>
            <a:pPr algn="l"/>
            <a:r>
              <a:rPr sz="1500" b="1">
                <a:solidFill>
                  <a:srgbClr val="AAAAAA"/>
                </a:solidFill>
                <a:latin typeface="Arial Black"/>
              </a:rPr>
              <a:t>#5</a:t>
            </a:r>
          </a:p>
        </p:txBody>
      </p:sp>
      <p:sp>
        <p:nvSpPr>
          <p:cNvPr id="35" name="TextBox 34"/>
          <p:cNvSpPr txBox="1"/>
          <p:nvPr/>
        </p:nvSpPr>
        <p:spPr>
          <a:xfrm>
            <a:off x="2697480" y="4297680"/>
            <a:ext cx="5212080" cy="347472"/>
          </a:xfrm>
          <a:prstGeom prst="rect">
            <a:avLst/>
          </a:prstGeom>
          <a:noFill/>
        </p:spPr>
        <p:txBody>
          <a:bodyPr wrap="square">
            <a:spAutoFit/>
          </a:bodyPr>
          <a:lstStyle/>
          <a:p>
            <a:pPr algn="l"/>
            <a:r>
              <a:rPr sz="1200" b="1" u="sng">
                <a:solidFill>
                  <a:srgbClr val="FFFFFF"/>
                </a:solidFill>
                <a:latin typeface="Arial"/>
                <a:hlinkClick r:id="rId15"/>
              </a:rPr>
              <a:t>絶対に風邪を引きたいマッチョ #shorts</a:t>
            </a:r>
          </a:p>
        </p:txBody>
      </p:sp>
      <p:pic>
        <p:nvPicPr>
          <p:cNvPr id="36" name="Picture 35" descr="image.png"/>
          <p:cNvPicPr>
            <a:picLocks noChangeAspect="1"/>
          </p:cNvPicPr>
          <p:nvPr/>
        </p:nvPicPr>
        <p:blipFill>
          <a:blip r:embed="rId16"/>
          <a:stretch>
            <a:fillRect/>
          </a:stretch>
        </p:blipFill>
        <p:spPr>
          <a:xfrm>
            <a:off x="8046720" y="4315968"/>
            <a:ext cx="685800" cy="685800"/>
          </a:xfrm>
          <a:prstGeom prst="rect">
            <a:avLst/>
          </a:prstGeom>
        </p:spPr>
      </p:pic>
      <p:sp>
        <p:nvSpPr>
          <p:cNvPr id="37" name="TextBox 36"/>
          <p:cNvSpPr txBox="1"/>
          <p:nvPr/>
        </p:nvSpPr>
        <p:spPr>
          <a:xfrm>
            <a:off x="2697480" y="4718304"/>
            <a:ext cx="5212080" cy="292608"/>
          </a:xfrm>
          <a:prstGeom prst="rect">
            <a:avLst/>
          </a:prstGeom>
          <a:noFill/>
        </p:spPr>
        <p:txBody>
          <a:bodyPr wrap="none">
            <a:spAutoFit/>
          </a:bodyPr>
          <a:lstStyle/>
          <a:p>
            <a:pPr algn="l"/>
            <a:r>
              <a:rPr sz="1000" b="0">
                <a:solidFill>
                  <a:srgbClr val="AAAAAA"/>
                </a:solidFill>
                <a:latin typeface="Arial"/>
              </a:rPr>
              <a:t>📺 ドズル社  👁 11,783,465  👍 150,639  ⏱ 0:24  📅 2024-03-30</a:t>
            </a:r>
          </a:p>
        </p:txBody>
      </p:sp>
      <p:sp>
        <p:nvSpPr>
          <p:cNvPr id="38" name="TextBox 37"/>
          <p:cNvSpPr txBox="1"/>
          <p:nvPr/>
        </p:nvSpPr>
        <p:spPr>
          <a:xfrm>
            <a:off x="2697480" y="4901184"/>
            <a:ext cx="5212080" cy="201168"/>
          </a:xfrm>
          <a:prstGeom prst="rect">
            <a:avLst/>
          </a:prstGeom>
          <a:noFill/>
        </p:spPr>
        <p:txBody>
          <a:bodyPr wrap="none">
            <a:spAutoFit/>
          </a:bodyPr>
          <a:lstStyle/>
          <a:p>
            <a:pPr algn="l"/>
            <a:r>
              <a:rPr sz="700" b="0">
                <a:solidFill>
                  <a:srgbClr val="666666"/>
                </a:solidFill>
                <a:latin typeface="Arial"/>
              </a:rPr>
              <a:t>https://www.youtube.com/watch?v=CraZ3Q-I44g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F0F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8229600" cy="502920"/>
          </a:xfrm>
          <a:prstGeom prst="rect">
            <a:avLst/>
          </a:prstGeom>
          <a:noFill/>
        </p:spPr>
        <p:txBody>
          <a:bodyPr wrap="none">
            <a:spAutoFit/>
          </a:bodyPr>
          <a:lstStyle/>
          <a:p>
            <a:pPr algn="l"/>
            <a:r>
              <a:rPr sz="2200" b="1">
                <a:solidFill>
                  <a:srgbClr val="FFFFFF"/>
                </a:solidFill>
                <a:latin typeface="Arial Black"/>
              </a:rPr>
              <a:t>✨ アニメ 人気動画 TOP 5</a:t>
            </a:r>
          </a:p>
        </p:txBody>
      </p:sp>
      <p:sp>
        <p:nvSpPr>
          <p:cNvPr id="4" name="Rectangle 3"/>
          <p:cNvSpPr/>
          <p:nvPr/>
        </p:nvSpPr>
        <p:spPr>
          <a:xfrm>
            <a:off x="274320" y="749808"/>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2"/>
          <a:stretch>
            <a:fillRect/>
          </a:stretch>
        </p:blipFill>
        <p:spPr>
          <a:xfrm>
            <a:off x="320040" y="749808"/>
            <a:ext cx="1737360" cy="978408"/>
          </a:xfrm>
          <a:prstGeom prst="rect">
            <a:avLst/>
          </a:prstGeom>
        </p:spPr>
      </p:pic>
      <p:sp>
        <p:nvSpPr>
          <p:cNvPr id="6" name="TextBox 5"/>
          <p:cNvSpPr txBox="1"/>
          <p:nvPr/>
        </p:nvSpPr>
        <p:spPr>
          <a:xfrm>
            <a:off x="2194560" y="786384"/>
            <a:ext cx="548640" cy="365760"/>
          </a:xfrm>
          <a:prstGeom prst="rect">
            <a:avLst/>
          </a:prstGeom>
          <a:noFill/>
        </p:spPr>
        <p:txBody>
          <a:bodyPr wrap="none">
            <a:spAutoFit/>
          </a:bodyPr>
          <a:lstStyle/>
          <a:p>
            <a:pPr algn="l"/>
            <a:r>
              <a:rPr sz="1500" b="1">
                <a:solidFill>
                  <a:srgbClr val="FFD700"/>
                </a:solidFill>
                <a:latin typeface="Arial Black"/>
              </a:rPr>
              <a:t>#1</a:t>
            </a:r>
          </a:p>
        </p:txBody>
      </p:sp>
      <p:sp>
        <p:nvSpPr>
          <p:cNvPr id="7" name="TextBox 6"/>
          <p:cNvSpPr txBox="1"/>
          <p:nvPr/>
        </p:nvSpPr>
        <p:spPr>
          <a:xfrm>
            <a:off x="2697480" y="786384"/>
            <a:ext cx="5212080" cy="347472"/>
          </a:xfrm>
          <a:prstGeom prst="rect">
            <a:avLst/>
          </a:prstGeom>
          <a:noFill/>
        </p:spPr>
        <p:txBody>
          <a:bodyPr wrap="square">
            <a:spAutoFit/>
          </a:bodyPr>
          <a:lstStyle/>
          <a:p>
            <a:pPr algn="l"/>
            <a:r>
              <a:rPr sz="1200" b="1" u="sng">
                <a:solidFill>
                  <a:srgbClr val="FFFFFF"/>
                </a:solidFill>
                <a:latin typeface="Arial"/>
                <a:hlinkClick r:id="rId3"/>
              </a:rPr>
              <a:t>赤ちゃん・子供向け 知育アニメ★数字をおぼえよう・アイスクリーム★Learn To …</a:t>
            </a:r>
          </a:p>
        </p:txBody>
      </p:sp>
      <p:pic>
        <p:nvPicPr>
          <p:cNvPr id="8" name="Picture 7" descr="image.png"/>
          <p:cNvPicPr>
            <a:picLocks noChangeAspect="1"/>
          </p:cNvPicPr>
          <p:nvPr/>
        </p:nvPicPr>
        <p:blipFill>
          <a:blip r:embed="rId4"/>
          <a:stretch>
            <a:fillRect/>
          </a:stretch>
        </p:blipFill>
        <p:spPr>
          <a:xfrm>
            <a:off x="8046720" y="804672"/>
            <a:ext cx="685800" cy="685800"/>
          </a:xfrm>
          <a:prstGeom prst="rect">
            <a:avLst/>
          </a:prstGeom>
        </p:spPr>
      </p:pic>
      <p:sp>
        <p:nvSpPr>
          <p:cNvPr id="9" name="TextBox 8"/>
          <p:cNvSpPr txBox="1"/>
          <p:nvPr/>
        </p:nvSpPr>
        <p:spPr>
          <a:xfrm>
            <a:off x="2697480" y="1207008"/>
            <a:ext cx="5212080" cy="292608"/>
          </a:xfrm>
          <a:prstGeom prst="rect">
            <a:avLst/>
          </a:prstGeom>
          <a:noFill/>
        </p:spPr>
        <p:txBody>
          <a:bodyPr wrap="none">
            <a:spAutoFit/>
          </a:bodyPr>
          <a:lstStyle/>
          <a:p>
            <a:pPr algn="l"/>
            <a:r>
              <a:rPr sz="1000" b="0">
                <a:solidFill>
                  <a:srgbClr val="AAAAAA"/>
                </a:solidFill>
                <a:latin typeface="Arial"/>
              </a:rPr>
              <a:t>📺 ノッカーナアニメーション nokkana animation  👁 254,703,992  👍 543,519  ⏱ 3:23  📅 2018-05-11</a:t>
            </a:r>
          </a:p>
        </p:txBody>
      </p:sp>
      <p:sp>
        <p:nvSpPr>
          <p:cNvPr id="10" name="TextBox 9"/>
          <p:cNvSpPr txBox="1"/>
          <p:nvPr/>
        </p:nvSpPr>
        <p:spPr>
          <a:xfrm>
            <a:off x="2697480" y="1389888"/>
            <a:ext cx="5212080" cy="201168"/>
          </a:xfrm>
          <a:prstGeom prst="rect">
            <a:avLst/>
          </a:prstGeom>
          <a:noFill/>
        </p:spPr>
        <p:txBody>
          <a:bodyPr wrap="none">
            <a:spAutoFit/>
          </a:bodyPr>
          <a:lstStyle/>
          <a:p>
            <a:pPr algn="l"/>
            <a:r>
              <a:rPr sz="700" b="0">
                <a:solidFill>
                  <a:srgbClr val="666666"/>
                </a:solidFill>
                <a:latin typeface="Arial"/>
              </a:rPr>
              <a:t>https://www.youtube.com/watch?v=88uap7ImJ88</a:t>
            </a:r>
          </a:p>
        </p:txBody>
      </p:sp>
      <p:sp>
        <p:nvSpPr>
          <p:cNvPr id="11" name="Rectangle 10"/>
          <p:cNvSpPr/>
          <p:nvPr/>
        </p:nvSpPr>
        <p:spPr>
          <a:xfrm>
            <a:off x="274320" y="1627632"/>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jpg"/>
          <p:cNvPicPr>
            <a:picLocks noChangeAspect="1"/>
          </p:cNvPicPr>
          <p:nvPr/>
        </p:nvPicPr>
        <p:blipFill>
          <a:blip r:embed="rId5"/>
          <a:stretch>
            <a:fillRect/>
          </a:stretch>
        </p:blipFill>
        <p:spPr>
          <a:xfrm>
            <a:off x="320040" y="1627632"/>
            <a:ext cx="1737360" cy="978408"/>
          </a:xfrm>
          <a:prstGeom prst="rect">
            <a:avLst/>
          </a:prstGeom>
        </p:spPr>
      </p:pic>
      <p:sp>
        <p:nvSpPr>
          <p:cNvPr id="13" name="TextBox 12"/>
          <p:cNvSpPr txBox="1"/>
          <p:nvPr/>
        </p:nvSpPr>
        <p:spPr>
          <a:xfrm>
            <a:off x="2194560" y="1664208"/>
            <a:ext cx="548640" cy="365760"/>
          </a:xfrm>
          <a:prstGeom prst="rect">
            <a:avLst/>
          </a:prstGeom>
          <a:noFill/>
        </p:spPr>
        <p:txBody>
          <a:bodyPr wrap="none">
            <a:spAutoFit/>
          </a:bodyPr>
          <a:lstStyle/>
          <a:p>
            <a:pPr algn="l"/>
            <a:r>
              <a:rPr sz="1500" b="1">
                <a:solidFill>
                  <a:srgbClr val="C0C0C0"/>
                </a:solidFill>
                <a:latin typeface="Arial Black"/>
              </a:rPr>
              <a:t>#2</a:t>
            </a:r>
          </a:p>
        </p:txBody>
      </p:sp>
      <p:sp>
        <p:nvSpPr>
          <p:cNvPr id="14" name="TextBox 13"/>
          <p:cNvSpPr txBox="1"/>
          <p:nvPr/>
        </p:nvSpPr>
        <p:spPr>
          <a:xfrm>
            <a:off x="2697480" y="1664208"/>
            <a:ext cx="5212080" cy="347472"/>
          </a:xfrm>
          <a:prstGeom prst="rect">
            <a:avLst/>
          </a:prstGeom>
          <a:noFill/>
        </p:spPr>
        <p:txBody>
          <a:bodyPr wrap="square">
            <a:spAutoFit/>
          </a:bodyPr>
          <a:lstStyle/>
          <a:p>
            <a:pPr algn="l"/>
            <a:r>
              <a:rPr sz="1200" b="1" u="sng">
                <a:solidFill>
                  <a:srgbClr val="FFFFFF"/>
                </a:solidFill>
                <a:latin typeface="Arial"/>
                <a:hlinkClick r:id="rId6"/>
              </a:rPr>
              <a:t>TVアニメ『呪術廻戦』第2期「懐玉・玉折」ノンクレジットOPムービー／OPテーマ：キ…</a:t>
            </a:r>
          </a:p>
        </p:txBody>
      </p:sp>
      <p:pic>
        <p:nvPicPr>
          <p:cNvPr id="15" name="Picture 14" descr="image.png"/>
          <p:cNvPicPr>
            <a:picLocks noChangeAspect="1"/>
          </p:cNvPicPr>
          <p:nvPr/>
        </p:nvPicPr>
        <p:blipFill>
          <a:blip r:embed="rId7"/>
          <a:stretch>
            <a:fillRect/>
          </a:stretch>
        </p:blipFill>
        <p:spPr>
          <a:xfrm>
            <a:off x="8046720" y="1682496"/>
            <a:ext cx="685800" cy="685800"/>
          </a:xfrm>
          <a:prstGeom prst="rect">
            <a:avLst/>
          </a:prstGeom>
        </p:spPr>
      </p:pic>
      <p:sp>
        <p:nvSpPr>
          <p:cNvPr id="16" name="TextBox 15"/>
          <p:cNvSpPr txBox="1"/>
          <p:nvPr/>
        </p:nvSpPr>
        <p:spPr>
          <a:xfrm>
            <a:off x="2697480" y="2084832"/>
            <a:ext cx="5212080" cy="292608"/>
          </a:xfrm>
          <a:prstGeom prst="rect">
            <a:avLst/>
          </a:prstGeom>
          <a:noFill/>
        </p:spPr>
        <p:txBody>
          <a:bodyPr wrap="none">
            <a:spAutoFit/>
          </a:bodyPr>
          <a:lstStyle/>
          <a:p>
            <a:pPr algn="l"/>
            <a:r>
              <a:rPr sz="1000" b="0">
                <a:solidFill>
                  <a:srgbClr val="AAAAAA"/>
                </a:solidFill>
                <a:latin typeface="Arial"/>
              </a:rPr>
              <a:t>📺 TOHO animation チャンネル  👁 143,083,613  👍 0  ⏱ 1:31  📅 2023-07-07</a:t>
            </a:r>
          </a:p>
        </p:txBody>
      </p:sp>
      <p:sp>
        <p:nvSpPr>
          <p:cNvPr id="17" name="TextBox 16"/>
          <p:cNvSpPr txBox="1"/>
          <p:nvPr/>
        </p:nvSpPr>
        <p:spPr>
          <a:xfrm>
            <a:off x="2697480" y="2267712"/>
            <a:ext cx="5212080" cy="201168"/>
          </a:xfrm>
          <a:prstGeom prst="rect">
            <a:avLst/>
          </a:prstGeom>
          <a:noFill/>
        </p:spPr>
        <p:txBody>
          <a:bodyPr wrap="none">
            <a:spAutoFit/>
          </a:bodyPr>
          <a:lstStyle/>
          <a:p>
            <a:pPr algn="l"/>
            <a:r>
              <a:rPr sz="700" b="0">
                <a:solidFill>
                  <a:srgbClr val="666666"/>
                </a:solidFill>
                <a:latin typeface="Arial"/>
              </a:rPr>
              <a:t>https://www.youtube.com/watch?v=gcgKUcJKxIs</a:t>
            </a:r>
          </a:p>
        </p:txBody>
      </p:sp>
      <p:sp>
        <p:nvSpPr>
          <p:cNvPr id="18" name="Rectangle 17"/>
          <p:cNvSpPr/>
          <p:nvPr/>
        </p:nvSpPr>
        <p:spPr>
          <a:xfrm>
            <a:off x="274320" y="2505456"/>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jpg"/>
          <p:cNvPicPr>
            <a:picLocks noChangeAspect="1"/>
          </p:cNvPicPr>
          <p:nvPr/>
        </p:nvPicPr>
        <p:blipFill>
          <a:blip r:embed="rId8"/>
          <a:stretch>
            <a:fillRect/>
          </a:stretch>
        </p:blipFill>
        <p:spPr>
          <a:xfrm>
            <a:off x="320040" y="2505456"/>
            <a:ext cx="1737360" cy="978408"/>
          </a:xfrm>
          <a:prstGeom prst="rect">
            <a:avLst/>
          </a:prstGeom>
        </p:spPr>
      </p:pic>
      <p:sp>
        <p:nvSpPr>
          <p:cNvPr id="20" name="TextBox 19"/>
          <p:cNvSpPr txBox="1"/>
          <p:nvPr/>
        </p:nvSpPr>
        <p:spPr>
          <a:xfrm>
            <a:off x="2194560" y="2542032"/>
            <a:ext cx="548640" cy="365760"/>
          </a:xfrm>
          <a:prstGeom prst="rect">
            <a:avLst/>
          </a:prstGeom>
          <a:noFill/>
        </p:spPr>
        <p:txBody>
          <a:bodyPr wrap="none">
            <a:spAutoFit/>
          </a:bodyPr>
          <a:lstStyle/>
          <a:p>
            <a:pPr algn="l"/>
            <a:r>
              <a:rPr sz="1500" b="1">
                <a:solidFill>
                  <a:srgbClr val="CD7F32"/>
                </a:solidFill>
                <a:latin typeface="Arial Black"/>
              </a:rPr>
              <a:t>#3</a:t>
            </a:r>
          </a:p>
        </p:txBody>
      </p:sp>
      <p:sp>
        <p:nvSpPr>
          <p:cNvPr id="21" name="TextBox 20"/>
          <p:cNvSpPr txBox="1"/>
          <p:nvPr/>
        </p:nvSpPr>
        <p:spPr>
          <a:xfrm>
            <a:off x="2697480" y="2542032"/>
            <a:ext cx="5212080" cy="347472"/>
          </a:xfrm>
          <a:prstGeom prst="rect">
            <a:avLst/>
          </a:prstGeom>
          <a:noFill/>
        </p:spPr>
        <p:txBody>
          <a:bodyPr wrap="square">
            <a:spAutoFit/>
          </a:bodyPr>
          <a:lstStyle/>
          <a:p>
            <a:pPr algn="l"/>
            <a:r>
              <a:rPr sz="1200" b="1" u="sng">
                <a:solidFill>
                  <a:srgbClr val="FFFFFF"/>
                </a:solidFill>
                <a:latin typeface="Arial"/>
                <a:hlinkClick r:id="rId9"/>
              </a:rPr>
              <a:t>Mrs. GREEN APPLE「ライラック」MV - TVアニメ『忘却バッテリー』…</a:t>
            </a:r>
          </a:p>
        </p:txBody>
      </p:sp>
      <p:pic>
        <p:nvPicPr>
          <p:cNvPr id="22" name="Picture 21" descr="image.png"/>
          <p:cNvPicPr>
            <a:picLocks noChangeAspect="1"/>
          </p:cNvPicPr>
          <p:nvPr/>
        </p:nvPicPr>
        <p:blipFill>
          <a:blip r:embed="rId10"/>
          <a:stretch>
            <a:fillRect/>
          </a:stretch>
        </p:blipFill>
        <p:spPr>
          <a:xfrm>
            <a:off x="8046720" y="2560320"/>
            <a:ext cx="685800" cy="685800"/>
          </a:xfrm>
          <a:prstGeom prst="rect">
            <a:avLst/>
          </a:prstGeom>
        </p:spPr>
      </p:pic>
      <p:sp>
        <p:nvSpPr>
          <p:cNvPr id="23" name="TextBox 22"/>
          <p:cNvSpPr txBox="1"/>
          <p:nvPr/>
        </p:nvSpPr>
        <p:spPr>
          <a:xfrm>
            <a:off x="2697480" y="2962656"/>
            <a:ext cx="5212080" cy="292608"/>
          </a:xfrm>
          <a:prstGeom prst="rect">
            <a:avLst/>
          </a:prstGeom>
          <a:noFill/>
        </p:spPr>
        <p:txBody>
          <a:bodyPr wrap="none">
            <a:spAutoFit/>
          </a:bodyPr>
          <a:lstStyle/>
          <a:p>
            <a:pPr algn="l"/>
            <a:r>
              <a:rPr sz="1000" b="0">
                <a:solidFill>
                  <a:srgbClr val="AAAAAA"/>
                </a:solidFill>
                <a:latin typeface="Arial"/>
              </a:rPr>
              <a:t>📺 Mrs. GREEN APPLE  👁 53,658,075  👍 180,899  ⏱ 4:53  📅 2024-07-04</a:t>
            </a:r>
          </a:p>
        </p:txBody>
      </p:sp>
      <p:sp>
        <p:nvSpPr>
          <p:cNvPr id="24" name="TextBox 23"/>
          <p:cNvSpPr txBox="1"/>
          <p:nvPr/>
        </p:nvSpPr>
        <p:spPr>
          <a:xfrm>
            <a:off x="2697480" y="3145536"/>
            <a:ext cx="5212080" cy="201168"/>
          </a:xfrm>
          <a:prstGeom prst="rect">
            <a:avLst/>
          </a:prstGeom>
          <a:noFill/>
        </p:spPr>
        <p:txBody>
          <a:bodyPr wrap="none">
            <a:spAutoFit/>
          </a:bodyPr>
          <a:lstStyle/>
          <a:p>
            <a:pPr algn="l"/>
            <a:r>
              <a:rPr sz="700" b="0">
                <a:solidFill>
                  <a:srgbClr val="666666"/>
                </a:solidFill>
                <a:latin typeface="Arial"/>
              </a:rPr>
              <a:t>https://www.youtube.com/watch?v=-NFhRWhkp7I</a:t>
            </a:r>
          </a:p>
        </p:txBody>
      </p:sp>
      <p:sp>
        <p:nvSpPr>
          <p:cNvPr id="25" name="Rectangle 24"/>
          <p:cNvSpPr/>
          <p:nvPr/>
        </p:nvSpPr>
        <p:spPr>
          <a:xfrm>
            <a:off x="274320" y="3383280"/>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jpg"/>
          <p:cNvPicPr>
            <a:picLocks noChangeAspect="1"/>
          </p:cNvPicPr>
          <p:nvPr/>
        </p:nvPicPr>
        <p:blipFill>
          <a:blip r:embed="rId11"/>
          <a:stretch>
            <a:fillRect/>
          </a:stretch>
        </p:blipFill>
        <p:spPr>
          <a:xfrm>
            <a:off x="320040" y="3383280"/>
            <a:ext cx="1737360" cy="978408"/>
          </a:xfrm>
          <a:prstGeom prst="rect">
            <a:avLst/>
          </a:prstGeom>
        </p:spPr>
      </p:pic>
      <p:sp>
        <p:nvSpPr>
          <p:cNvPr id="27" name="TextBox 26"/>
          <p:cNvSpPr txBox="1"/>
          <p:nvPr/>
        </p:nvSpPr>
        <p:spPr>
          <a:xfrm>
            <a:off x="2194560" y="3419856"/>
            <a:ext cx="548640" cy="365760"/>
          </a:xfrm>
          <a:prstGeom prst="rect">
            <a:avLst/>
          </a:prstGeom>
          <a:noFill/>
        </p:spPr>
        <p:txBody>
          <a:bodyPr wrap="none">
            <a:spAutoFit/>
          </a:bodyPr>
          <a:lstStyle/>
          <a:p>
            <a:pPr algn="l"/>
            <a:r>
              <a:rPr sz="1500" b="1">
                <a:solidFill>
                  <a:srgbClr val="AAAAAA"/>
                </a:solidFill>
                <a:latin typeface="Arial Black"/>
              </a:rPr>
              <a:t>#4</a:t>
            </a:r>
          </a:p>
        </p:txBody>
      </p:sp>
      <p:sp>
        <p:nvSpPr>
          <p:cNvPr id="28" name="TextBox 27"/>
          <p:cNvSpPr txBox="1"/>
          <p:nvPr/>
        </p:nvSpPr>
        <p:spPr>
          <a:xfrm>
            <a:off x="2697480" y="3419856"/>
            <a:ext cx="5212080" cy="347472"/>
          </a:xfrm>
          <a:prstGeom prst="rect">
            <a:avLst/>
          </a:prstGeom>
          <a:noFill/>
        </p:spPr>
        <p:txBody>
          <a:bodyPr wrap="square">
            <a:spAutoFit/>
          </a:bodyPr>
          <a:lstStyle/>
          <a:p>
            <a:pPr algn="l"/>
            <a:r>
              <a:rPr sz="1200" b="1" u="sng">
                <a:solidFill>
                  <a:srgbClr val="FFFFFF"/>
                </a:solidFill>
                <a:latin typeface="Arial"/>
                <a:hlinkClick r:id="rId12"/>
              </a:rPr>
              <a:t>ライオン</a:t>
            </a:r>
          </a:p>
        </p:txBody>
      </p:sp>
      <p:pic>
        <p:nvPicPr>
          <p:cNvPr id="29" name="Picture 28" descr="image.png"/>
          <p:cNvPicPr>
            <a:picLocks noChangeAspect="1"/>
          </p:cNvPicPr>
          <p:nvPr/>
        </p:nvPicPr>
        <p:blipFill>
          <a:blip r:embed="rId13"/>
          <a:stretch>
            <a:fillRect/>
          </a:stretch>
        </p:blipFill>
        <p:spPr>
          <a:xfrm>
            <a:off x="8046720" y="3438144"/>
            <a:ext cx="685800" cy="685800"/>
          </a:xfrm>
          <a:prstGeom prst="rect">
            <a:avLst/>
          </a:prstGeom>
        </p:spPr>
      </p:pic>
      <p:sp>
        <p:nvSpPr>
          <p:cNvPr id="30" name="TextBox 29"/>
          <p:cNvSpPr txBox="1"/>
          <p:nvPr/>
        </p:nvSpPr>
        <p:spPr>
          <a:xfrm>
            <a:off x="2697480" y="3840480"/>
            <a:ext cx="5212080" cy="292608"/>
          </a:xfrm>
          <a:prstGeom prst="rect">
            <a:avLst/>
          </a:prstGeom>
          <a:noFill/>
        </p:spPr>
        <p:txBody>
          <a:bodyPr wrap="none">
            <a:spAutoFit/>
          </a:bodyPr>
          <a:lstStyle/>
          <a:p>
            <a:pPr algn="l"/>
            <a:r>
              <a:rPr sz="1000" b="0">
                <a:solidFill>
                  <a:srgbClr val="AAAAAA"/>
                </a:solidFill>
                <a:latin typeface="Arial"/>
              </a:rPr>
              <a:t>📺 May'n - Topic  👁 40,579,765  👍 138,308  ⏱ 5:04  📅 2020-10-01</a:t>
            </a:r>
          </a:p>
        </p:txBody>
      </p:sp>
      <p:sp>
        <p:nvSpPr>
          <p:cNvPr id="31" name="TextBox 30"/>
          <p:cNvSpPr txBox="1"/>
          <p:nvPr/>
        </p:nvSpPr>
        <p:spPr>
          <a:xfrm>
            <a:off x="2697480" y="4023360"/>
            <a:ext cx="5212080" cy="201168"/>
          </a:xfrm>
          <a:prstGeom prst="rect">
            <a:avLst/>
          </a:prstGeom>
          <a:noFill/>
        </p:spPr>
        <p:txBody>
          <a:bodyPr wrap="none">
            <a:spAutoFit/>
          </a:bodyPr>
          <a:lstStyle/>
          <a:p>
            <a:pPr algn="l"/>
            <a:r>
              <a:rPr sz="700" b="0">
                <a:solidFill>
                  <a:srgbClr val="666666"/>
                </a:solidFill>
                <a:latin typeface="Arial"/>
              </a:rPr>
              <a:t>https://www.youtube.com/watch?v=fGGTf044UPI</a:t>
            </a:r>
          </a:p>
        </p:txBody>
      </p:sp>
      <p:sp>
        <p:nvSpPr>
          <p:cNvPr id="32" name="Rectangle 31"/>
          <p:cNvSpPr/>
          <p:nvPr/>
        </p:nvSpPr>
        <p:spPr>
          <a:xfrm>
            <a:off x="274320" y="4261104"/>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mage.jpg"/>
          <p:cNvPicPr>
            <a:picLocks noChangeAspect="1"/>
          </p:cNvPicPr>
          <p:nvPr/>
        </p:nvPicPr>
        <p:blipFill>
          <a:blip r:embed="rId14"/>
          <a:stretch>
            <a:fillRect/>
          </a:stretch>
        </p:blipFill>
        <p:spPr>
          <a:xfrm>
            <a:off x="320040" y="4261104"/>
            <a:ext cx="1737360" cy="978408"/>
          </a:xfrm>
          <a:prstGeom prst="rect">
            <a:avLst/>
          </a:prstGeom>
        </p:spPr>
      </p:pic>
      <p:sp>
        <p:nvSpPr>
          <p:cNvPr id="34" name="TextBox 33"/>
          <p:cNvSpPr txBox="1"/>
          <p:nvPr/>
        </p:nvSpPr>
        <p:spPr>
          <a:xfrm>
            <a:off x="2194560" y="4297680"/>
            <a:ext cx="548640" cy="365760"/>
          </a:xfrm>
          <a:prstGeom prst="rect">
            <a:avLst/>
          </a:prstGeom>
          <a:noFill/>
        </p:spPr>
        <p:txBody>
          <a:bodyPr wrap="none">
            <a:spAutoFit/>
          </a:bodyPr>
          <a:lstStyle/>
          <a:p>
            <a:pPr algn="l"/>
            <a:r>
              <a:rPr sz="1500" b="1">
                <a:solidFill>
                  <a:srgbClr val="AAAAAA"/>
                </a:solidFill>
                <a:latin typeface="Arial Black"/>
              </a:rPr>
              <a:t>#5</a:t>
            </a:r>
          </a:p>
        </p:txBody>
      </p:sp>
      <p:sp>
        <p:nvSpPr>
          <p:cNvPr id="35" name="TextBox 34"/>
          <p:cNvSpPr txBox="1"/>
          <p:nvPr/>
        </p:nvSpPr>
        <p:spPr>
          <a:xfrm>
            <a:off x="2697480" y="4297680"/>
            <a:ext cx="5212080" cy="347472"/>
          </a:xfrm>
          <a:prstGeom prst="rect">
            <a:avLst/>
          </a:prstGeom>
          <a:noFill/>
        </p:spPr>
        <p:txBody>
          <a:bodyPr wrap="square">
            <a:spAutoFit/>
          </a:bodyPr>
          <a:lstStyle/>
          <a:p>
            <a:pPr algn="l"/>
            <a:r>
              <a:rPr sz="1200" b="1" u="sng">
                <a:solidFill>
                  <a:srgbClr val="FFFFFF"/>
                </a:solidFill>
                <a:latin typeface="Arial"/>
                <a:hlinkClick r:id="rId15"/>
              </a:rPr>
              <a:t>TVアニメ『呪術廻戦』第3期「死滅回游 前編」ノンクレジットOPムービー／OPテーマ…</a:t>
            </a:r>
          </a:p>
        </p:txBody>
      </p:sp>
      <p:pic>
        <p:nvPicPr>
          <p:cNvPr id="36" name="Picture 35" descr="image.png"/>
          <p:cNvPicPr>
            <a:picLocks noChangeAspect="1"/>
          </p:cNvPicPr>
          <p:nvPr/>
        </p:nvPicPr>
        <p:blipFill>
          <a:blip r:embed="rId16"/>
          <a:stretch>
            <a:fillRect/>
          </a:stretch>
        </p:blipFill>
        <p:spPr>
          <a:xfrm>
            <a:off x="8046720" y="4315968"/>
            <a:ext cx="685800" cy="685800"/>
          </a:xfrm>
          <a:prstGeom prst="rect">
            <a:avLst/>
          </a:prstGeom>
        </p:spPr>
      </p:pic>
      <p:sp>
        <p:nvSpPr>
          <p:cNvPr id="37" name="TextBox 36"/>
          <p:cNvSpPr txBox="1"/>
          <p:nvPr/>
        </p:nvSpPr>
        <p:spPr>
          <a:xfrm>
            <a:off x="2697480" y="4718304"/>
            <a:ext cx="5212080" cy="292608"/>
          </a:xfrm>
          <a:prstGeom prst="rect">
            <a:avLst/>
          </a:prstGeom>
          <a:noFill/>
        </p:spPr>
        <p:txBody>
          <a:bodyPr wrap="none">
            <a:spAutoFit/>
          </a:bodyPr>
          <a:lstStyle/>
          <a:p>
            <a:pPr algn="l"/>
            <a:r>
              <a:rPr sz="1000" b="0">
                <a:solidFill>
                  <a:srgbClr val="AAAAAA"/>
                </a:solidFill>
                <a:latin typeface="Arial"/>
              </a:rPr>
              <a:t>📺 TOHO animation チャンネル  👁 36,615,113  👍 525,915  ⏱ 1:31  📅 2026-01-09</a:t>
            </a:r>
          </a:p>
        </p:txBody>
      </p:sp>
      <p:sp>
        <p:nvSpPr>
          <p:cNvPr id="38" name="TextBox 37"/>
          <p:cNvSpPr txBox="1"/>
          <p:nvPr/>
        </p:nvSpPr>
        <p:spPr>
          <a:xfrm>
            <a:off x="2697480" y="4901184"/>
            <a:ext cx="5212080" cy="201168"/>
          </a:xfrm>
          <a:prstGeom prst="rect">
            <a:avLst/>
          </a:prstGeom>
          <a:noFill/>
        </p:spPr>
        <p:txBody>
          <a:bodyPr wrap="none">
            <a:spAutoFit/>
          </a:bodyPr>
          <a:lstStyle/>
          <a:p>
            <a:pPr algn="l"/>
            <a:r>
              <a:rPr sz="700" b="0">
                <a:solidFill>
                  <a:srgbClr val="666666"/>
                </a:solidFill>
                <a:latin typeface="Arial"/>
              </a:rPr>
              <a:t>https://www.youtube.com/watch?v=Xr032EhUDPw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F0F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8229600" cy="502920"/>
          </a:xfrm>
          <a:prstGeom prst="rect">
            <a:avLst/>
          </a:prstGeom>
          <a:noFill/>
        </p:spPr>
        <p:txBody>
          <a:bodyPr wrap="none">
            <a:spAutoFit/>
          </a:bodyPr>
          <a:lstStyle/>
          <a:p>
            <a:pPr algn="l"/>
            <a:r>
              <a:rPr sz="2200" b="1">
                <a:solidFill>
                  <a:srgbClr val="FFFFFF"/>
                </a:solidFill>
                <a:latin typeface="Arial Black"/>
              </a:rPr>
              <a:t>🍿 映画 人気動画 TOP 5</a:t>
            </a:r>
          </a:p>
        </p:txBody>
      </p:sp>
      <p:sp>
        <p:nvSpPr>
          <p:cNvPr id="4" name="Rectangle 3"/>
          <p:cNvSpPr/>
          <p:nvPr/>
        </p:nvSpPr>
        <p:spPr>
          <a:xfrm>
            <a:off x="274320" y="749808"/>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2"/>
          <a:stretch>
            <a:fillRect/>
          </a:stretch>
        </p:blipFill>
        <p:spPr>
          <a:xfrm>
            <a:off x="320040" y="749808"/>
            <a:ext cx="1737360" cy="978408"/>
          </a:xfrm>
          <a:prstGeom prst="rect">
            <a:avLst/>
          </a:prstGeom>
        </p:spPr>
      </p:pic>
      <p:sp>
        <p:nvSpPr>
          <p:cNvPr id="6" name="TextBox 5"/>
          <p:cNvSpPr txBox="1"/>
          <p:nvPr/>
        </p:nvSpPr>
        <p:spPr>
          <a:xfrm>
            <a:off x="2194560" y="786384"/>
            <a:ext cx="548640" cy="365760"/>
          </a:xfrm>
          <a:prstGeom prst="rect">
            <a:avLst/>
          </a:prstGeom>
          <a:noFill/>
        </p:spPr>
        <p:txBody>
          <a:bodyPr wrap="none">
            <a:spAutoFit/>
          </a:bodyPr>
          <a:lstStyle/>
          <a:p>
            <a:pPr algn="l"/>
            <a:r>
              <a:rPr sz="1500" b="1">
                <a:solidFill>
                  <a:srgbClr val="FFD700"/>
                </a:solidFill>
                <a:latin typeface="Arial Black"/>
              </a:rPr>
              <a:t>#1</a:t>
            </a:r>
          </a:p>
        </p:txBody>
      </p:sp>
      <p:sp>
        <p:nvSpPr>
          <p:cNvPr id="7" name="TextBox 6"/>
          <p:cNvSpPr txBox="1"/>
          <p:nvPr/>
        </p:nvSpPr>
        <p:spPr>
          <a:xfrm>
            <a:off x="2697480" y="786384"/>
            <a:ext cx="5212080" cy="347472"/>
          </a:xfrm>
          <a:prstGeom prst="rect">
            <a:avLst/>
          </a:prstGeom>
          <a:noFill/>
        </p:spPr>
        <p:txBody>
          <a:bodyPr wrap="square">
            <a:spAutoFit/>
          </a:bodyPr>
          <a:lstStyle/>
          <a:p>
            <a:pPr algn="l"/>
            <a:r>
              <a:rPr sz="1200" b="1" u="sng">
                <a:solidFill>
                  <a:srgbClr val="FFFFFF"/>
                </a:solidFill>
                <a:latin typeface="Arial"/>
                <a:hlinkClick r:id="rId3"/>
              </a:rPr>
              <a:t>歌舞伎町タワーの日本一高い映画館「109シネマズプレミアム新宿」を正直レビュー！</a:t>
            </a:r>
          </a:p>
        </p:txBody>
      </p:sp>
      <p:pic>
        <p:nvPicPr>
          <p:cNvPr id="8" name="Picture 7" descr="image.png"/>
          <p:cNvPicPr>
            <a:picLocks noChangeAspect="1"/>
          </p:cNvPicPr>
          <p:nvPr/>
        </p:nvPicPr>
        <p:blipFill>
          <a:blip r:embed="rId4"/>
          <a:stretch>
            <a:fillRect/>
          </a:stretch>
        </p:blipFill>
        <p:spPr>
          <a:xfrm>
            <a:off x="8046720" y="804672"/>
            <a:ext cx="685800" cy="685800"/>
          </a:xfrm>
          <a:prstGeom prst="rect">
            <a:avLst/>
          </a:prstGeom>
        </p:spPr>
      </p:pic>
      <p:sp>
        <p:nvSpPr>
          <p:cNvPr id="9" name="TextBox 8"/>
          <p:cNvSpPr txBox="1"/>
          <p:nvPr/>
        </p:nvSpPr>
        <p:spPr>
          <a:xfrm>
            <a:off x="2697480" y="1207008"/>
            <a:ext cx="5212080" cy="292608"/>
          </a:xfrm>
          <a:prstGeom prst="rect">
            <a:avLst/>
          </a:prstGeom>
          <a:noFill/>
        </p:spPr>
        <p:txBody>
          <a:bodyPr wrap="none">
            <a:spAutoFit/>
          </a:bodyPr>
          <a:lstStyle/>
          <a:p>
            <a:pPr algn="l"/>
            <a:r>
              <a:rPr sz="1000" b="0">
                <a:solidFill>
                  <a:srgbClr val="AAAAAA"/>
                </a:solidFill>
                <a:latin typeface="Arial"/>
              </a:rPr>
              <a:t>📺 正直レビュー 🍰🍛  👁 6,812,037  👍 119,559  ⏱ 1:00  📅 2025-03-15</a:t>
            </a:r>
          </a:p>
        </p:txBody>
      </p:sp>
      <p:sp>
        <p:nvSpPr>
          <p:cNvPr id="10" name="TextBox 9"/>
          <p:cNvSpPr txBox="1"/>
          <p:nvPr/>
        </p:nvSpPr>
        <p:spPr>
          <a:xfrm>
            <a:off x="2697480" y="1389888"/>
            <a:ext cx="5212080" cy="201168"/>
          </a:xfrm>
          <a:prstGeom prst="rect">
            <a:avLst/>
          </a:prstGeom>
          <a:noFill/>
        </p:spPr>
        <p:txBody>
          <a:bodyPr wrap="none">
            <a:spAutoFit/>
          </a:bodyPr>
          <a:lstStyle/>
          <a:p>
            <a:pPr algn="l"/>
            <a:r>
              <a:rPr sz="700" b="0">
                <a:solidFill>
                  <a:srgbClr val="666666"/>
                </a:solidFill>
                <a:latin typeface="Arial"/>
              </a:rPr>
              <a:t>https://www.youtube.com/watch?v=2a1YM7MCXng</a:t>
            </a:r>
          </a:p>
        </p:txBody>
      </p:sp>
      <p:sp>
        <p:nvSpPr>
          <p:cNvPr id="11" name="Rectangle 10"/>
          <p:cNvSpPr/>
          <p:nvPr/>
        </p:nvSpPr>
        <p:spPr>
          <a:xfrm>
            <a:off x="274320" y="1627632"/>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jpg"/>
          <p:cNvPicPr>
            <a:picLocks noChangeAspect="1"/>
          </p:cNvPicPr>
          <p:nvPr/>
        </p:nvPicPr>
        <p:blipFill>
          <a:blip r:embed="rId5"/>
          <a:stretch>
            <a:fillRect/>
          </a:stretch>
        </p:blipFill>
        <p:spPr>
          <a:xfrm>
            <a:off x="320040" y="1627632"/>
            <a:ext cx="1737360" cy="978408"/>
          </a:xfrm>
          <a:prstGeom prst="rect">
            <a:avLst/>
          </a:prstGeom>
        </p:spPr>
      </p:pic>
      <p:sp>
        <p:nvSpPr>
          <p:cNvPr id="13" name="TextBox 12"/>
          <p:cNvSpPr txBox="1"/>
          <p:nvPr/>
        </p:nvSpPr>
        <p:spPr>
          <a:xfrm>
            <a:off x="2194560" y="1664208"/>
            <a:ext cx="548640" cy="365760"/>
          </a:xfrm>
          <a:prstGeom prst="rect">
            <a:avLst/>
          </a:prstGeom>
          <a:noFill/>
        </p:spPr>
        <p:txBody>
          <a:bodyPr wrap="none">
            <a:spAutoFit/>
          </a:bodyPr>
          <a:lstStyle/>
          <a:p>
            <a:pPr algn="l"/>
            <a:r>
              <a:rPr sz="1500" b="1">
                <a:solidFill>
                  <a:srgbClr val="C0C0C0"/>
                </a:solidFill>
                <a:latin typeface="Arial Black"/>
              </a:rPr>
              <a:t>#2</a:t>
            </a:r>
          </a:p>
        </p:txBody>
      </p:sp>
      <p:sp>
        <p:nvSpPr>
          <p:cNvPr id="14" name="TextBox 13"/>
          <p:cNvSpPr txBox="1"/>
          <p:nvPr/>
        </p:nvSpPr>
        <p:spPr>
          <a:xfrm>
            <a:off x="2697480" y="1664208"/>
            <a:ext cx="5212080" cy="347472"/>
          </a:xfrm>
          <a:prstGeom prst="rect">
            <a:avLst/>
          </a:prstGeom>
          <a:noFill/>
        </p:spPr>
        <p:txBody>
          <a:bodyPr wrap="square">
            <a:spAutoFit/>
          </a:bodyPr>
          <a:lstStyle/>
          <a:p>
            <a:pPr algn="l"/>
            <a:r>
              <a:rPr sz="1200" b="1" u="sng">
                <a:solidFill>
                  <a:srgbClr val="FFFFFF"/>
                </a:solidFill>
                <a:latin typeface="Arial"/>
                <a:hlinkClick r:id="rId6"/>
              </a:rPr>
              <a:t>【コメ欄有益】まだ見てない人がガチで羨ましい神映画挙げてけw #shorts</a:t>
            </a:r>
          </a:p>
        </p:txBody>
      </p:sp>
      <p:pic>
        <p:nvPicPr>
          <p:cNvPr id="15" name="Picture 14" descr="image.png"/>
          <p:cNvPicPr>
            <a:picLocks noChangeAspect="1"/>
          </p:cNvPicPr>
          <p:nvPr/>
        </p:nvPicPr>
        <p:blipFill>
          <a:blip r:embed="rId7"/>
          <a:stretch>
            <a:fillRect/>
          </a:stretch>
        </p:blipFill>
        <p:spPr>
          <a:xfrm>
            <a:off x="8046720" y="1682496"/>
            <a:ext cx="685800" cy="685800"/>
          </a:xfrm>
          <a:prstGeom prst="rect">
            <a:avLst/>
          </a:prstGeom>
        </p:spPr>
      </p:pic>
      <p:sp>
        <p:nvSpPr>
          <p:cNvPr id="16" name="TextBox 15"/>
          <p:cNvSpPr txBox="1"/>
          <p:nvPr/>
        </p:nvSpPr>
        <p:spPr>
          <a:xfrm>
            <a:off x="2697480" y="2084832"/>
            <a:ext cx="5212080" cy="292608"/>
          </a:xfrm>
          <a:prstGeom prst="rect">
            <a:avLst/>
          </a:prstGeom>
          <a:noFill/>
        </p:spPr>
        <p:txBody>
          <a:bodyPr wrap="none">
            <a:spAutoFit/>
          </a:bodyPr>
          <a:lstStyle/>
          <a:p>
            <a:pPr algn="l"/>
            <a:r>
              <a:rPr sz="1000" b="0">
                <a:solidFill>
                  <a:srgbClr val="AAAAAA"/>
                </a:solidFill>
                <a:latin typeface="Arial"/>
              </a:rPr>
              <a:t>📺 2ch映画通信  👁 4,376,280  👍 148,331  ⏱ 2:05  📅 2025-07-12</a:t>
            </a:r>
          </a:p>
        </p:txBody>
      </p:sp>
      <p:sp>
        <p:nvSpPr>
          <p:cNvPr id="17" name="TextBox 16"/>
          <p:cNvSpPr txBox="1"/>
          <p:nvPr/>
        </p:nvSpPr>
        <p:spPr>
          <a:xfrm>
            <a:off x="2697480" y="2267712"/>
            <a:ext cx="5212080" cy="201168"/>
          </a:xfrm>
          <a:prstGeom prst="rect">
            <a:avLst/>
          </a:prstGeom>
          <a:noFill/>
        </p:spPr>
        <p:txBody>
          <a:bodyPr wrap="none">
            <a:spAutoFit/>
          </a:bodyPr>
          <a:lstStyle/>
          <a:p>
            <a:pPr algn="l"/>
            <a:r>
              <a:rPr sz="700" b="0">
                <a:solidFill>
                  <a:srgbClr val="666666"/>
                </a:solidFill>
                <a:latin typeface="Arial"/>
              </a:rPr>
              <a:t>https://www.youtube.com/watch?v=TYHa-sSFa_s</a:t>
            </a:r>
          </a:p>
        </p:txBody>
      </p:sp>
      <p:sp>
        <p:nvSpPr>
          <p:cNvPr id="18" name="Rectangle 17"/>
          <p:cNvSpPr/>
          <p:nvPr/>
        </p:nvSpPr>
        <p:spPr>
          <a:xfrm>
            <a:off x="274320" y="2505456"/>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jpg"/>
          <p:cNvPicPr>
            <a:picLocks noChangeAspect="1"/>
          </p:cNvPicPr>
          <p:nvPr/>
        </p:nvPicPr>
        <p:blipFill>
          <a:blip r:embed="rId8"/>
          <a:stretch>
            <a:fillRect/>
          </a:stretch>
        </p:blipFill>
        <p:spPr>
          <a:xfrm>
            <a:off x="320040" y="2505456"/>
            <a:ext cx="1737360" cy="978408"/>
          </a:xfrm>
          <a:prstGeom prst="rect">
            <a:avLst/>
          </a:prstGeom>
        </p:spPr>
      </p:pic>
      <p:sp>
        <p:nvSpPr>
          <p:cNvPr id="20" name="TextBox 19"/>
          <p:cNvSpPr txBox="1"/>
          <p:nvPr/>
        </p:nvSpPr>
        <p:spPr>
          <a:xfrm>
            <a:off x="2194560" y="2542032"/>
            <a:ext cx="548640" cy="365760"/>
          </a:xfrm>
          <a:prstGeom prst="rect">
            <a:avLst/>
          </a:prstGeom>
          <a:noFill/>
        </p:spPr>
        <p:txBody>
          <a:bodyPr wrap="none">
            <a:spAutoFit/>
          </a:bodyPr>
          <a:lstStyle/>
          <a:p>
            <a:pPr algn="l"/>
            <a:r>
              <a:rPr sz="1500" b="1">
                <a:solidFill>
                  <a:srgbClr val="CD7F32"/>
                </a:solidFill>
                <a:latin typeface="Arial Black"/>
              </a:rPr>
              <a:t>#3</a:t>
            </a:r>
          </a:p>
        </p:txBody>
      </p:sp>
      <p:sp>
        <p:nvSpPr>
          <p:cNvPr id="21" name="TextBox 20"/>
          <p:cNvSpPr txBox="1"/>
          <p:nvPr/>
        </p:nvSpPr>
        <p:spPr>
          <a:xfrm>
            <a:off x="2697480" y="2542032"/>
            <a:ext cx="5212080" cy="347472"/>
          </a:xfrm>
          <a:prstGeom prst="rect">
            <a:avLst/>
          </a:prstGeom>
          <a:noFill/>
        </p:spPr>
        <p:txBody>
          <a:bodyPr wrap="square">
            <a:spAutoFit/>
          </a:bodyPr>
          <a:lstStyle/>
          <a:p>
            <a:pPr algn="l"/>
            <a:r>
              <a:rPr sz="1200" b="1" u="sng">
                <a:solidFill>
                  <a:srgbClr val="FFFFFF"/>
                </a:solidFill>
                <a:latin typeface="Arial"/>
                <a:hlinkClick r:id="rId9"/>
              </a:rPr>
              <a:t>市川團十郎が語る映画「国宝」の率直な感想と歌舞伎への想い</a:t>
            </a:r>
          </a:p>
        </p:txBody>
      </p:sp>
      <p:pic>
        <p:nvPicPr>
          <p:cNvPr id="22" name="Picture 21" descr="image.png"/>
          <p:cNvPicPr>
            <a:picLocks noChangeAspect="1"/>
          </p:cNvPicPr>
          <p:nvPr/>
        </p:nvPicPr>
        <p:blipFill>
          <a:blip r:embed="rId10"/>
          <a:stretch>
            <a:fillRect/>
          </a:stretch>
        </p:blipFill>
        <p:spPr>
          <a:xfrm>
            <a:off x="8046720" y="2560320"/>
            <a:ext cx="685800" cy="685800"/>
          </a:xfrm>
          <a:prstGeom prst="rect">
            <a:avLst/>
          </a:prstGeom>
        </p:spPr>
      </p:pic>
      <p:sp>
        <p:nvSpPr>
          <p:cNvPr id="23" name="TextBox 22"/>
          <p:cNvSpPr txBox="1"/>
          <p:nvPr/>
        </p:nvSpPr>
        <p:spPr>
          <a:xfrm>
            <a:off x="2697480" y="2962656"/>
            <a:ext cx="5212080" cy="292608"/>
          </a:xfrm>
          <a:prstGeom prst="rect">
            <a:avLst/>
          </a:prstGeom>
          <a:noFill/>
        </p:spPr>
        <p:txBody>
          <a:bodyPr wrap="none">
            <a:spAutoFit/>
          </a:bodyPr>
          <a:lstStyle/>
          <a:p>
            <a:pPr algn="l"/>
            <a:r>
              <a:rPr sz="1000" b="0">
                <a:solidFill>
                  <a:srgbClr val="AAAAAA"/>
                </a:solidFill>
                <a:latin typeface="Arial"/>
              </a:rPr>
              <a:t>📺 KABUKU. / 市川團十郎。  👁 3,594,290  👍 45,943  ⏱ 17:48  📅 2025-07-12</a:t>
            </a:r>
          </a:p>
        </p:txBody>
      </p:sp>
      <p:sp>
        <p:nvSpPr>
          <p:cNvPr id="24" name="TextBox 23"/>
          <p:cNvSpPr txBox="1"/>
          <p:nvPr/>
        </p:nvSpPr>
        <p:spPr>
          <a:xfrm>
            <a:off x="2697480" y="3145536"/>
            <a:ext cx="5212080" cy="201168"/>
          </a:xfrm>
          <a:prstGeom prst="rect">
            <a:avLst/>
          </a:prstGeom>
          <a:noFill/>
        </p:spPr>
        <p:txBody>
          <a:bodyPr wrap="none">
            <a:spAutoFit/>
          </a:bodyPr>
          <a:lstStyle/>
          <a:p>
            <a:pPr algn="l"/>
            <a:r>
              <a:rPr sz="700" b="0">
                <a:solidFill>
                  <a:srgbClr val="666666"/>
                </a:solidFill>
                <a:latin typeface="Arial"/>
              </a:rPr>
              <a:t>https://www.youtube.com/watch?v=OhHzzl4Z6qU</a:t>
            </a:r>
          </a:p>
        </p:txBody>
      </p:sp>
      <p:sp>
        <p:nvSpPr>
          <p:cNvPr id="25" name="Rectangle 24"/>
          <p:cNvSpPr/>
          <p:nvPr/>
        </p:nvSpPr>
        <p:spPr>
          <a:xfrm>
            <a:off x="274320" y="3383280"/>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jpg"/>
          <p:cNvPicPr>
            <a:picLocks noChangeAspect="1"/>
          </p:cNvPicPr>
          <p:nvPr/>
        </p:nvPicPr>
        <p:blipFill>
          <a:blip r:embed="rId11"/>
          <a:stretch>
            <a:fillRect/>
          </a:stretch>
        </p:blipFill>
        <p:spPr>
          <a:xfrm>
            <a:off x="320040" y="3383280"/>
            <a:ext cx="1737360" cy="978408"/>
          </a:xfrm>
          <a:prstGeom prst="rect">
            <a:avLst/>
          </a:prstGeom>
        </p:spPr>
      </p:pic>
      <p:sp>
        <p:nvSpPr>
          <p:cNvPr id="27" name="TextBox 26"/>
          <p:cNvSpPr txBox="1"/>
          <p:nvPr/>
        </p:nvSpPr>
        <p:spPr>
          <a:xfrm>
            <a:off x="2194560" y="3419856"/>
            <a:ext cx="548640" cy="365760"/>
          </a:xfrm>
          <a:prstGeom prst="rect">
            <a:avLst/>
          </a:prstGeom>
          <a:noFill/>
        </p:spPr>
        <p:txBody>
          <a:bodyPr wrap="none">
            <a:spAutoFit/>
          </a:bodyPr>
          <a:lstStyle/>
          <a:p>
            <a:pPr algn="l"/>
            <a:r>
              <a:rPr sz="1500" b="1">
                <a:solidFill>
                  <a:srgbClr val="AAAAAA"/>
                </a:solidFill>
                <a:latin typeface="Arial Black"/>
              </a:rPr>
              <a:t>#4</a:t>
            </a:r>
          </a:p>
        </p:txBody>
      </p:sp>
      <p:sp>
        <p:nvSpPr>
          <p:cNvPr id="28" name="TextBox 27"/>
          <p:cNvSpPr txBox="1"/>
          <p:nvPr/>
        </p:nvSpPr>
        <p:spPr>
          <a:xfrm>
            <a:off x="2697480" y="3419856"/>
            <a:ext cx="5212080" cy="347472"/>
          </a:xfrm>
          <a:prstGeom prst="rect">
            <a:avLst/>
          </a:prstGeom>
          <a:noFill/>
        </p:spPr>
        <p:txBody>
          <a:bodyPr wrap="square">
            <a:spAutoFit/>
          </a:bodyPr>
          <a:lstStyle/>
          <a:p>
            <a:pPr algn="l"/>
            <a:r>
              <a:rPr sz="1200" b="1" u="sng">
                <a:solidFill>
                  <a:srgbClr val="FFFFFF"/>
                </a:solidFill>
                <a:latin typeface="Arial"/>
                <a:hlinkClick r:id="rId12"/>
              </a:rPr>
              <a:t>シンクロ率100％だった映画『Michael』の裏側</a:t>
            </a:r>
          </a:p>
        </p:txBody>
      </p:sp>
      <p:pic>
        <p:nvPicPr>
          <p:cNvPr id="29" name="Picture 28" descr="image.png"/>
          <p:cNvPicPr>
            <a:picLocks noChangeAspect="1"/>
          </p:cNvPicPr>
          <p:nvPr/>
        </p:nvPicPr>
        <p:blipFill>
          <a:blip r:embed="rId13"/>
          <a:stretch>
            <a:fillRect/>
          </a:stretch>
        </p:blipFill>
        <p:spPr>
          <a:xfrm>
            <a:off x="8046720" y="3438144"/>
            <a:ext cx="685800" cy="685800"/>
          </a:xfrm>
          <a:prstGeom prst="rect">
            <a:avLst/>
          </a:prstGeom>
        </p:spPr>
      </p:pic>
      <p:sp>
        <p:nvSpPr>
          <p:cNvPr id="30" name="TextBox 29"/>
          <p:cNvSpPr txBox="1"/>
          <p:nvPr/>
        </p:nvSpPr>
        <p:spPr>
          <a:xfrm>
            <a:off x="2697480" y="3840480"/>
            <a:ext cx="5212080" cy="292608"/>
          </a:xfrm>
          <a:prstGeom prst="rect">
            <a:avLst/>
          </a:prstGeom>
          <a:noFill/>
        </p:spPr>
        <p:txBody>
          <a:bodyPr wrap="none">
            <a:spAutoFit/>
          </a:bodyPr>
          <a:lstStyle/>
          <a:p>
            <a:pPr algn="l"/>
            <a:r>
              <a:rPr sz="1000" b="0">
                <a:solidFill>
                  <a:srgbClr val="AAAAAA"/>
                </a:solidFill>
                <a:latin typeface="Arial"/>
              </a:rPr>
              <a:t>📺 フィルムチェーン  👁 3,405,747  👍 57,655  ⏱ 0:56  📅 2026-05-18</a:t>
            </a:r>
          </a:p>
        </p:txBody>
      </p:sp>
      <p:sp>
        <p:nvSpPr>
          <p:cNvPr id="31" name="TextBox 30"/>
          <p:cNvSpPr txBox="1"/>
          <p:nvPr/>
        </p:nvSpPr>
        <p:spPr>
          <a:xfrm>
            <a:off x="2697480" y="4023360"/>
            <a:ext cx="5212080" cy="201168"/>
          </a:xfrm>
          <a:prstGeom prst="rect">
            <a:avLst/>
          </a:prstGeom>
          <a:noFill/>
        </p:spPr>
        <p:txBody>
          <a:bodyPr wrap="none">
            <a:spAutoFit/>
          </a:bodyPr>
          <a:lstStyle/>
          <a:p>
            <a:pPr algn="l"/>
            <a:r>
              <a:rPr sz="700" b="0">
                <a:solidFill>
                  <a:srgbClr val="666666"/>
                </a:solidFill>
                <a:latin typeface="Arial"/>
              </a:rPr>
              <a:t>https://www.youtube.com/watch?v=lyZZdUUM_GM</a:t>
            </a:r>
          </a:p>
        </p:txBody>
      </p:sp>
      <p:sp>
        <p:nvSpPr>
          <p:cNvPr id="32" name="Rectangle 31"/>
          <p:cNvSpPr/>
          <p:nvPr/>
        </p:nvSpPr>
        <p:spPr>
          <a:xfrm>
            <a:off x="274320" y="4261104"/>
            <a:ext cx="8595360" cy="804672"/>
          </a:xfrm>
          <a:prstGeom prst="rect">
            <a:avLst/>
          </a:prstGeom>
          <a:solidFill>
            <a:srgbClr val="1E1E1E"/>
          </a:solidFill>
          <a:ln w="63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mage.jpg"/>
          <p:cNvPicPr>
            <a:picLocks noChangeAspect="1"/>
          </p:cNvPicPr>
          <p:nvPr/>
        </p:nvPicPr>
        <p:blipFill>
          <a:blip r:embed="rId14"/>
          <a:stretch>
            <a:fillRect/>
          </a:stretch>
        </p:blipFill>
        <p:spPr>
          <a:xfrm>
            <a:off x="320040" y="4261104"/>
            <a:ext cx="1737360" cy="978408"/>
          </a:xfrm>
          <a:prstGeom prst="rect">
            <a:avLst/>
          </a:prstGeom>
        </p:spPr>
      </p:pic>
      <p:sp>
        <p:nvSpPr>
          <p:cNvPr id="34" name="TextBox 33"/>
          <p:cNvSpPr txBox="1"/>
          <p:nvPr/>
        </p:nvSpPr>
        <p:spPr>
          <a:xfrm>
            <a:off x="2194560" y="4297680"/>
            <a:ext cx="548640" cy="365760"/>
          </a:xfrm>
          <a:prstGeom prst="rect">
            <a:avLst/>
          </a:prstGeom>
          <a:noFill/>
        </p:spPr>
        <p:txBody>
          <a:bodyPr wrap="none">
            <a:spAutoFit/>
          </a:bodyPr>
          <a:lstStyle/>
          <a:p>
            <a:pPr algn="l"/>
            <a:r>
              <a:rPr sz="1500" b="1">
                <a:solidFill>
                  <a:srgbClr val="AAAAAA"/>
                </a:solidFill>
                <a:latin typeface="Arial Black"/>
              </a:rPr>
              <a:t>#5</a:t>
            </a:r>
          </a:p>
        </p:txBody>
      </p:sp>
      <p:sp>
        <p:nvSpPr>
          <p:cNvPr id="35" name="TextBox 34"/>
          <p:cNvSpPr txBox="1"/>
          <p:nvPr/>
        </p:nvSpPr>
        <p:spPr>
          <a:xfrm>
            <a:off x="2697480" y="4297680"/>
            <a:ext cx="5212080" cy="347472"/>
          </a:xfrm>
          <a:prstGeom prst="rect">
            <a:avLst/>
          </a:prstGeom>
          <a:noFill/>
        </p:spPr>
        <p:txBody>
          <a:bodyPr wrap="square">
            <a:spAutoFit/>
          </a:bodyPr>
          <a:lstStyle/>
          <a:p>
            <a:pPr algn="l"/>
            <a:r>
              <a:rPr sz="1200" b="1" u="sng">
                <a:solidFill>
                  <a:srgbClr val="FFFFFF"/>
                </a:solidFill>
                <a:latin typeface="Arial"/>
                <a:hlinkClick r:id="rId15"/>
              </a:rPr>
              <a:t>名作映画を見た感想を嘘ついてる奴は誰だ！映画人狼バトル開始！</a:t>
            </a:r>
          </a:p>
        </p:txBody>
      </p:sp>
      <p:pic>
        <p:nvPicPr>
          <p:cNvPr id="36" name="Picture 35" descr="image.png"/>
          <p:cNvPicPr>
            <a:picLocks noChangeAspect="1"/>
          </p:cNvPicPr>
          <p:nvPr/>
        </p:nvPicPr>
        <p:blipFill>
          <a:blip r:embed="rId16"/>
          <a:stretch>
            <a:fillRect/>
          </a:stretch>
        </p:blipFill>
        <p:spPr>
          <a:xfrm>
            <a:off x="8046720" y="4315968"/>
            <a:ext cx="685800" cy="685800"/>
          </a:xfrm>
          <a:prstGeom prst="rect">
            <a:avLst/>
          </a:prstGeom>
        </p:spPr>
      </p:pic>
      <p:sp>
        <p:nvSpPr>
          <p:cNvPr id="37" name="TextBox 36"/>
          <p:cNvSpPr txBox="1"/>
          <p:nvPr/>
        </p:nvSpPr>
        <p:spPr>
          <a:xfrm>
            <a:off x="2697480" y="4718304"/>
            <a:ext cx="5212080" cy="292608"/>
          </a:xfrm>
          <a:prstGeom prst="rect">
            <a:avLst/>
          </a:prstGeom>
          <a:noFill/>
        </p:spPr>
        <p:txBody>
          <a:bodyPr wrap="none">
            <a:spAutoFit/>
          </a:bodyPr>
          <a:lstStyle/>
          <a:p>
            <a:pPr algn="l"/>
            <a:r>
              <a:rPr sz="1000" b="0">
                <a:solidFill>
                  <a:srgbClr val="AAAAAA"/>
                </a:solidFill>
                <a:latin typeface="Arial"/>
              </a:rPr>
              <a:t>📺 東海オンエア  👁 3,393,768  👍 30,082  ⏱ 34:45  📅 2024-09-26</a:t>
            </a:r>
          </a:p>
        </p:txBody>
      </p:sp>
      <p:sp>
        <p:nvSpPr>
          <p:cNvPr id="38" name="TextBox 37"/>
          <p:cNvSpPr txBox="1"/>
          <p:nvPr/>
        </p:nvSpPr>
        <p:spPr>
          <a:xfrm>
            <a:off x="2697480" y="4901184"/>
            <a:ext cx="5212080" cy="201168"/>
          </a:xfrm>
          <a:prstGeom prst="rect">
            <a:avLst/>
          </a:prstGeom>
          <a:noFill/>
        </p:spPr>
        <p:txBody>
          <a:bodyPr wrap="none">
            <a:spAutoFit/>
          </a:bodyPr>
          <a:lstStyle/>
          <a:p>
            <a:pPr algn="l"/>
            <a:r>
              <a:rPr sz="700" b="0">
                <a:solidFill>
                  <a:srgbClr val="666666"/>
                </a:solidFill>
                <a:latin typeface="Arial"/>
              </a:rPr>
              <a:t>https://www.youtube.com/watch?v=KWYewgdSAOI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